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FF4"/>
    <a:srgbClr val="10151F"/>
    <a:srgbClr val="10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347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70ABE14-2745-51A7-4D18-C86637E947E1}"/>
              </a:ext>
            </a:extLst>
          </p:cNvPr>
          <p:cNvGrpSpPr/>
          <p:nvPr/>
        </p:nvGrpSpPr>
        <p:grpSpPr>
          <a:xfrm>
            <a:off x="496118" y="1144377"/>
            <a:ext cx="8608964" cy="2854746"/>
            <a:chOff x="496118" y="976983"/>
            <a:chExt cx="8608964" cy="2854746"/>
          </a:xfrm>
        </p:grpSpPr>
        <p:sp>
          <p:nvSpPr>
            <p:cNvPr id="2" name="Text 0"/>
            <p:cNvSpPr/>
            <p:nvPr/>
          </p:nvSpPr>
          <p:spPr>
            <a:xfrm>
              <a:off x="496118" y="976983"/>
              <a:ext cx="8151763" cy="4606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4800" b="1" dirty="0">
                  <a:solidFill>
                    <a:srgbClr val="F2F5FA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Proposal Presentation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96119" y="1915378"/>
              <a:ext cx="3311872" cy="215354"/>
            </a:xfrm>
            <a:prstGeom prst="roundRect">
              <a:avLst>
                <a:gd name="adj" fmla="val 22119"/>
              </a:avLst>
            </a:prstGeom>
            <a:noFill/>
            <a:ln w="9525">
              <a:solidFill>
                <a:srgbClr val="6296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620360" y="1970931"/>
              <a:ext cx="3598962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850" dirty="0">
                  <a:solidFill>
                    <a:srgbClr val="6296FF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IT2011 · ARTIFICIAL INTELLIGENCE AND MACHINE LEARNING</a:t>
              </a:r>
              <a:endParaRPr lang="en-US" sz="8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96119" y="2303264"/>
              <a:ext cx="8608963" cy="1842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100" i="1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Predicting NASDAQ Stock Price Trends with Machine Learning</a:t>
              </a:r>
              <a:endParaRPr lang="en-US" sz="11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96119" y="2682404"/>
              <a:ext cx="8151763" cy="19050"/>
            </a:xfrm>
            <a:prstGeom prst="roundRect">
              <a:avLst>
                <a:gd name="adj" fmla="val 50000"/>
              </a:avLst>
            </a:prstGeom>
            <a:solidFill>
              <a:srgbClr val="EBEDF0">
                <a:alpha val="5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96119" y="3023890"/>
              <a:ext cx="3902943" cy="8078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US" sz="11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Group Code:</a:t>
              </a:r>
              <a:r>
                <a:rPr lang="en-US" sz="110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 2026-Y2-S1-MLB-B10G1-02</a:t>
              </a:r>
              <a:endParaRPr lang="en-US" sz="1100" dirty="0"/>
            </a:p>
            <a:p>
              <a:pPr marL="0" indent="0" algn="l">
                <a:lnSpc>
                  <a:spcPct val="108000"/>
                </a:lnSpc>
                <a:spcAft>
                  <a:spcPts val="1000"/>
                </a:spcAft>
                <a:buNone/>
              </a:pPr>
              <a:r>
                <a:rPr lang="en-US" sz="11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Dataset:</a:t>
              </a:r>
              <a:r>
                <a:rPr lang="en-US" sz="110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 Kaggle Stock Market Dataset (NASDAQ)</a:t>
              </a:r>
              <a:endParaRPr lang="en-US" sz="1100" dirty="0"/>
            </a:p>
            <a:p>
              <a:pPr marL="0" indent="0" algn="l">
                <a:lnSpc>
                  <a:spcPct val="108000"/>
                </a:lnSpc>
                <a:buNone/>
              </a:pPr>
              <a:r>
                <a:rPr lang="en-US" sz="11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Module:</a:t>
              </a:r>
              <a:r>
                <a:rPr lang="en-US" sz="110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 IT2011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749701" y="3023890"/>
              <a:ext cx="3902943" cy="368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8000"/>
                </a:lnSpc>
                <a:buNone/>
              </a:pPr>
              <a:r>
                <a:rPr lang="en-US" sz="110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Year 2, Semester 1 (2026)</a:t>
              </a:r>
              <a:endParaRPr lang="en-US" sz="1100" dirty="0"/>
            </a:p>
            <a:p>
              <a:pPr marL="0" indent="0" algn="l">
                <a:lnSpc>
                  <a:spcPct val="108000"/>
                </a:lnSpc>
                <a:buNone/>
              </a:pPr>
              <a:r>
                <a:rPr lang="en-US" sz="110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Faculty of Computing, SLIIT</a:t>
              </a:r>
              <a:endParaRPr lang="en-US" sz="110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FEDD16A-9B1D-D551-9380-31738BE14E76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0284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5E8FF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Members</a:t>
            </a:r>
            <a:endParaRPr lang="en-US" sz="2750" dirty="0">
              <a:solidFill>
                <a:srgbClr val="5E8FF4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584499"/>
            <a:ext cx="4004965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52165" y="1740545"/>
            <a:ext cx="36928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Wickramasinghage C.P.W.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2165" y="2055912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IT25100220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642842" y="1584499"/>
            <a:ext cx="4005039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98888" y="1740545"/>
            <a:ext cx="369294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Gunasekara N.B.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98888" y="2055912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IT25102923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96119" y="2537966"/>
            <a:ext cx="4004965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2165" y="2694012"/>
            <a:ext cx="36928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Chathuranga B.G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52165" y="3009379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IT25101514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42842" y="2537966"/>
            <a:ext cx="4005039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98888" y="2694012"/>
            <a:ext cx="369294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Wickramarathna W.L.S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98888" y="3009379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IT25102322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3491433"/>
            <a:ext cx="4004965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2165" y="3647480"/>
            <a:ext cx="36928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Keshavan M.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2165" y="3962846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IT25103301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42842" y="3491433"/>
            <a:ext cx="4005039" cy="811709"/>
          </a:xfrm>
          <a:prstGeom prst="roundRect">
            <a:avLst>
              <a:gd name="adj" fmla="val 7335"/>
            </a:avLst>
          </a:prstGeom>
          <a:noFill/>
          <a:ln w="14288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8888" y="3647480"/>
            <a:ext cx="369294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Suriyage O.W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98888" y="3962846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IT25100916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4830DB-6313-32D6-3834-59B37313536B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1062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66119"/>
            <a:ext cx="39029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5E8FF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Background</a:t>
            </a:r>
            <a:endParaRPr lang="en-US" sz="1350" dirty="0">
              <a:solidFill>
                <a:srgbClr val="5E8FF4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538189"/>
            <a:ext cx="3902943" cy="1204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Stock market generates large volumes of historical price data daily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Predicting future price movements is a challenging time-series ML problem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Machine learning can identify patterns to support investment decisions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166119"/>
            <a:ext cx="39029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38189"/>
            <a:ext cx="3902943" cy="1020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assigned NASDAQ Stock Market Dataset from Kaggle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dataset and justify suitability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proposal for predicting short-term stock price trends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6490A-B414-2AEF-174E-F74636AC2ADB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E61A575-77F2-60AE-0023-BA4866885F5B}"/>
              </a:ext>
            </a:extLst>
          </p:cNvPr>
          <p:cNvGrpSpPr/>
          <p:nvPr/>
        </p:nvGrpSpPr>
        <p:grpSpPr>
          <a:xfrm>
            <a:off x="483057" y="406095"/>
            <a:ext cx="1318171" cy="215354"/>
            <a:chOff x="483057" y="406095"/>
            <a:chExt cx="1318171" cy="215354"/>
          </a:xfrm>
        </p:grpSpPr>
        <p:sp>
          <p:nvSpPr>
            <p:cNvPr id="2" name="Shape 0"/>
            <p:cNvSpPr/>
            <p:nvPr/>
          </p:nvSpPr>
          <p:spPr>
            <a:xfrm>
              <a:off x="483057" y="406095"/>
              <a:ext cx="1318171" cy="215354"/>
            </a:xfrm>
            <a:prstGeom prst="roundRect">
              <a:avLst>
                <a:gd name="adj" fmla="val 22119"/>
              </a:avLst>
            </a:prstGeom>
            <a:solidFill>
              <a:srgbClr val="0019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581174" y="455116"/>
              <a:ext cx="1162717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8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1. ASSIGNED DATASET</a:t>
              </a:r>
              <a:endParaRPr lang="en-US" sz="8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96119" y="684684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NASDAQ Stock Market Dataset - Kaggle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17452"/>
            <a:ext cx="1772915" cy="1458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1678260"/>
            <a:ext cx="137509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Source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030422"/>
            <a:ext cx="137509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Kaggle (Oleh Onyshchak)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0792" y="1517452"/>
            <a:ext cx="1772989" cy="1458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47801" y="1678260"/>
            <a:ext cx="137517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Origin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647801" y="2032658"/>
            <a:ext cx="1375172" cy="926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Yahoo Finance, collected with the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yfinance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Python package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5541" y="1517452"/>
            <a:ext cx="1772915" cy="1458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62549" y="1678260"/>
            <a:ext cx="137509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Coverage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562549" y="2034454"/>
            <a:ext cx="137509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prices for all NASDAQ tickers, up to 01 April 2020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12517"/>
            <a:ext cx="1772915" cy="14588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3126" y="3277882"/>
            <a:ext cx="137509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License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33125" y="3640480"/>
            <a:ext cx="137509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CC0 – Public Domain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0792" y="3137148"/>
            <a:ext cx="1772989" cy="14342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647801" y="3277882"/>
            <a:ext cx="1375172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Update Frequency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647801" y="3865567"/>
            <a:ext cx="13751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Quarterly (source dataset)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5541" y="3137148"/>
            <a:ext cx="1772915" cy="14342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62548" y="3282067"/>
            <a:ext cx="137509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Direct Link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4562549" y="3637952"/>
            <a:ext cx="137509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u="sng" dirty="0">
                <a:solidFill>
                  <a:schemeClr val="tx2">
                    <a:lumMod val="40000"/>
                    <a:lumOff val="60000"/>
                  </a:scheme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kaggle.com/datasets/jacksoncrow/stock-market-dataset</a:t>
            </a:r>
            <a:endParaRPr lang="en-US" sz="1100" u="sng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Text 15"/>
          <p:cNvSpPr/>
          <p:nvPr/>
        </p:nvSpPr>
        <p:spPr>
          <a:xfrm>
            <a:off x="6449169" y="1499741"/>
            <a:ext cx="2203400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449169" y="1871811"/>
            <a:ext cx="2203400" cy="163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≈ 8,049 individual ticker CSV files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 folders: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stocks/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etfs/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split by type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 index file: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symbols_valid_meta.csv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granularity with multi-year history per ticker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4E9BF5-1B65-2865-FDB2-596C169C6E57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BFF2AE5-749B-6168-E794-F913A47887F6}"/>
              </a:ext>
            </a:extLst>
          </p:cNvPr>
          <p:cNvGrpSpPr/>
          <p:nvPr/>
        </p:nvGrpSpPr>
        <p:grpSpPr>
          <a:xfrm>
            <a:off x="476526" y="491001"/>
            <a:ext cx="1694207" cy="215354"/>
            <a:chOff x="476526" y="491001"/>
            <a:chExt cx="1694207" cy="215354"/>
          </a:xfrm>
        </p:grpSpPr>
        <p:sp>
          <p:nvSpPr>
            <p:cNvPr id="2" name="Shape 0"/>
            <p:cNvSpPr/>
            <p:nvPr/>
          </p:nvSpPr>
          <p:spPr>
            <a:xfrm>
              <a:off x="476526" y="491001"/>
              <a:ext cx="1302469" cy="215354"/>
            </a:xfrm>
            <a:prstGeom prst="roundRect">
              <a:avLst>
                <a:gd name="adj" fmla="val 22119"/>
              </a:avLst>
            </a:prstGeom>
            <a:solidFill>
              <a:srgbClr val="0019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581174" y="540023"/>
              <a:ext cx="1589559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8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2. PROBLEM DOMAIN</a:t>
              </a:r>
              <a:endParaRPr lang="en-US" sz="8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96119" y="769590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Finance: Short-Term Stock Trend Prediction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84647"/>
            <a:ext cx="432777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Real-World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56718"/>
            <a:ext cx="4327773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Retail investors and analysts struggle to interpret large volumes of daily price data quickly. We will predict a stock's short-term price direction (up/down) and estimate its next-day closing price, helping demonstrate how ML can support faster, data-driven investment decisions.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019723"/>
            <a:ext cx="432777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This Dataset Fits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391793"/>
            <a:ext cx="4327773" cy="1204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OHLCV history provides exactly the time-series input trend prediction needs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Thousands of tickers enable testing generalization across stocks and ETFs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clean, consistent CSV schema keeps preprocessing manageable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74531" y="1584647"/>
            <a:ext cx="3478039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Who Benefits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4531" y="1974428"/>
            <a:ext cx="354360" cy="35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06070" y="1974428"/>
            <a:ext cx="2946499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Retail Investors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06070" y="2346499"/>
            <a:ext cx="2946499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Screening many tickers at once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4531" y="2814265"/>
            <a:ext cx="354360" cy="35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06070" y="2814265"/>
            <a:ext cx="2946499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Analysts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706070" y="3186336"/>
            <a:ext cx="2946499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Building quick, data-backed trend signals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4531" y="3654103"/>
            <a:ext cx="354360" cy="35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06070" y="3654103"/>
            <a:ext cx="2946499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 Teams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706070" y="4026173"/>
            <a:ext cx="2946499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Flagging unusual short-term volatility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FF811-7263-3AB5-AE7C-DF2A0FF5706A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056" y="425758"/>
            <a:ext cx="1561281" cy="219456"/>
          </a:xfrm>
          <a:prstGeom prst="roundRect">
            <a:avLst>
              <a:gd name="adj" fmla="val 22122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7155" y="479301"/>
            <a:ext cx="180513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3. DATASET JUSTIFICATION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00386"/>
            <a:ext cx="3911054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6116" y="1265598"/>
            <a:ext cx="4727297" cy="51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CSV contains Date, Open, High, Low, Close, Adj Close, and Volume—the standard OHLCV structure used across financial ML.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1992028"/>
            <a:ext cx="3911054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7" y="2257240"/>
            <a:ext cx="4727296" cy="343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pre-set label. We derive it ourselves: next-day Close/Adj Close </a:t>
            </a:r>
            <a:r>
              <a:rPr lang="en-US" sz="10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(regression)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Up/Down movement </a:t>
            </a:r>
            <a:r>
              <a:rPr lang="en-US" sz="10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(classification)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6119" y="2812145"/>
            <a:ext cx="3911054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6" y="3074714"/>
            <a:ext cx="4727296" cy="51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~8,049 tickers (stocks + ETFs), most with several years of daily rows — thousands of records per ticker, well suited for model training.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3803787"/>
            <a:ext cx="3911054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6" y="4066616"/>
            <a:ext cx="4727295" cy="519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Sourced directly from Yahoo Finance via </a:t>
            </a:r>
            <a:r>
              <a:rPr lang="en-US" sz="10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yfinance</a:t>
            </a: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consistent schema across tickers and CC0-licensed for unrestricted academic use.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17699" y="613916"/>
            <a:ext cx="2647032" cy="3915668"/>
          </a:xfrm>
          <a:prstGeom prst="roundRect">
            <a:avLst>
              <a:gd name="adj" fmla="val 2485"/>
            </a:avLst>
          </a:prstGeom>
          <a:solidFill>
            <a:srgbClr val="5E8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23416" y="837158"/>
            <a:ext cx="3835598" cy="21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Limitations &amp; Mitigation</a:t>
            </a:r>
            <a:endParaRPr lang="en-US" sz="13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BF8549-E9FB-3544-724F-3EDA933F01E6}"/>
              </a:ext>
            </a:extLst>
          </p:cNvPr>
          <p:cNvGrpSpPr/>
          <p:nvPr/>
        </p:nvGrpSpPr>
        <p:grpSpPr>
          <a:xfrm>
            <a:off x="6214500" y="1258528"/>
            <a:ext cx="1853431" cy="1390724"/>
            <a:chOff x="4779318" y="1282154"/>
            <a:chExt cx="1853431" cy="1390724"/>
          </a:xfrm>
          <a:solidFill>
            <a:schemeClr val="bg1">
              <a:lumMod val="95000"/>
            </a:schemeClr>
          </a:solidFill>
        </p:grpSpPr>
        <p:sp>
          <p:nvSpPr>
            <p:cNvPr id="14" name="Shape 12"/>
            <p:cNvSpPr/>
            <p:nvPr/>
          </p:nvSpPr>
          <p:spPr>
            <a:xfrm>
              <a:off x="4779318" y="1282154"/>
              <a:ext cx="1853431" cy="1390724"/>
            </a:xfrm>
            <a:prstGeom prst="roundRect">
              <a:avLst>
                <a:gd name="adj" fmla="val 4081"/>
              </a:avLst>
            </a:prstGeom>
            <a:grpFill/>
            <a:ln w="19050">
              <a:solidFill>
                <a:srgbClr val="002A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933429" y="1436266"/>
              <a:ext cx="1545208" cy="43919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Data cutoff: 01 Apr 2020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933429" y="2004194"/>
              <a:ext cx="1545208" cy="51457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1050" dirty="0">
                  <a:solidFill>
                    <a:srgbClr val="00000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Scope to price-pattern prediction—no recent trends required</a:t>
              </a:r>
              <a:endParaRPr lang="en-US" sz="10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6F8E6F-55A9-322C-EAB1-F18D0E91829D}"/>
              </a:ext>
            </a:extLst>
          </p:cNvPr>
          <p:cNvGrpSpPr/>
          <p:nvPr/>
        </p:nvGrpSpPr>
        <p:grpSpPr>
          <a:xfrm>
            <a:off x="6214500" y="2807071"/>
            <a:ext cx="1853431" cy="1390724"/>
            <a:chOff x="6761485" y="1282154"/>
            <a:chExt cx="1853431" cy="1390724"/>
          </a:xfrm>
          <a:solidFill>
            <a:schemeClr val="bg1">
              <a:lumMod val="95000"/>
            </a:schemeClr>
          </a:solidFill>
        </p:grpSpPr>
        <p:sp>
          <p:nvSpPr>
            <p:cNvPr id="17" name="Shape 15"/>
            <p:cNvSpPr/>
            <p:nvPr/>
          </p:nvSpPr>
          <p:spPr>
            <a:xfrm>
              <a:off x="6761485" y="1282154"/>
              <a:ext cx="1853431" cy="1390724"/>
            </a:xfrm>
            <a:prstGeom prst="roundRect">
              <a:avLst>
                <a:gd name="adj" fmla="val 4081"/>
              </a:avLst>
            </a:prstGeom>
            <a:grpFill/>
            <a:ln w="19050">
              <a:solidFill>
                <a:srgbClr val="002A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915596" y="1436266"/>
              <a:ext cx="1545208" cy="43919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No fundamentals or sentiment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915596" y="2004194"/>
              <a:ext cx="1545208" cy="51457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1050" dirty="0">
                  <a:solidFill>
                    <a:srgbClr val="00000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Clearly state this boundary in the final report</a:t>
              </a:r>
              <a:endParaRPr lang="en-US" sz="105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2854A9C-98B8-7018-DBD8-CA4975E15864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82BD826-2AD9-2B4E-2800-6B5E88DCAE9F}"/>
              </a:ext>
            </a:extLst>
          </p:cNvPr>
          <p:cNvGrpSpPr/>
          <p:nvPr/>
        </p:nvGrpSpPr>
        <p:grpSpPr>
          <a:xfrm>
            <a:off x="489588" y="390442"/>
            <a:ext cx="1863905" cy="219456"/>
            <a:chOff x="489588" y="423301"/>
            <a:chExt cx="1863905" cy="219456"/>
          </a:xfrm>
        </p:grpSpPr>
        <p:sp>
          <p:nvSpPr>
            <p:cNvPr id="2" name="Shape 0"/>
            <p:cNvSpPr/>
            <p:nvPr/>
          </p:nvSpPr>
          <p:spPr>
            <a:xfrm>
              <a:off x="489588" y="423301"/>
              <a:ext cx="1602436" cy="219456"/>
            </a:xfrm>
            <a:prstGeom prst="roundRect">
              <a:avLst>
                <a:gd name="adj" fmla="val 22114"/>
              </a:avLst>
            </a:prstGeom>
            <a:solidFill>
              <a:srgbClr val="00194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571872" y="474241"/>
              <a:ext cx="1781621" cy="1160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850" dirty="0">
                  <a:solidFill>
                    <a:srgbClr val="EBEDF0"/>
                  </a:solidFill>
                  <a:latin typeface="Geist" pitchFamily="34" charset="0"/>
                  <a:ea typeface="Geist" pitchFamily="34" charset="-122"/>
                  <a:cs typeface="Geist" pitchFamily="34" charset="-120"/>
                </a:rPr>
                <a:t>4. PLANNED AI TOOL USAGE</a:t>
              </a:r>
              <a:endParaRPr lang="en-US" sz="8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496119" y="673150"/>
            <a:ext cx="8151763" cy="41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We Plan to Use Generative AI Tools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52091"/>
            <a:ext cx="4019624" cy="13920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1239" y="1353889"/>
            <a:ext cx="189384" cy="1893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6612" y="1757586"/>
            <a:ext cx="373863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Debugging &amp; Explaining Errors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36612" y="2030164"/>
            <a:ext cx="373863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Moderate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during preprocessing and model implementation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36612" y="2311822"/>
            <a:ext cx="1036290" cy="191839"/>
          </a:xfrm>
          <a:prstGeom prst="roundRect">
            <a:avLst>
              <a:gd name="adj" fmla="val 22114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12366" y="2349698"/>
            <a:ext cx="8847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CLAUDE/CHATGPT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1252091"/>
            <a:ext cx="4019699" cy="139206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3303" y="1353889"/>
            <a:ext cx="189384" cy="1893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8676" y="1757586"/>
            <a:ext cx="3738711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EDA &amp; Visualization Ideas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8676" y="2030164"/>
            <a:ext cx="373871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Moderate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chart types and pattern identification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768676" y="2311822"/>
            <a:ext cx="546869" cy="191839"/>
          </a:xfrm>
          <a:prstGeom prst="roundRect">
            <a:avLst>
              <a:gd name="adj" fmla="val 22114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4844430" y="2349698"/>
            <a:ext cx="3953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</a:t>
            </a:r>
            <a:endParaRPr lang="en-US" sz="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56595"/>
            <a:ext cx="4019624" cy="139206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11239" y="2858393"/>
            <a:ext cx="189384" cy="1893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6612" y="3262089"/>
            <a:ext cx="373863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Drafting &amp; Editing Report Sections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36612" y="3534668"/>
            <a:ext cx="373863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Minimal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for clarity only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636612" y="3816325"/>
            <a:ext cx="1435819" cy="191839"/>
          </a:xfrm>
          <a:prstGeom prst="roundRect">
            <a:avLst>
              <a:gd name="adj" fmla="val 22114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712366" y="3854202"/>
            <a:ext cx="12843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CHATGPT/GEMINI/COPILOT</a:t>
            </a:r>
            <a:endParaRPr lang="en-US" sz="7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83" y="2756595"/>
            <a:ext cx="4019699" cy="1392064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3303" y="2858393"/>
            <a:ext cx="189384" cy="18938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768676" y="3262089"/>
            <a:ext cx="3738711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Brainstorming Problem Framing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4768676" y="3534668"/>
            <a:ext cx="373871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Minimal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hyperparameter search direction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4768676" y="3816325"/>
            <a:ext cx="546869" cy="191839"/>
          </a:xfrm>
          <a:prstGeom prst="roundRect">
            <a:avLst>
              <a:gd name="adj" fmla="val 22114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/>
          <p:cNvSpPr/>
          <p:nvPr/>
        </p:nvSpPr>
        <p:spPr>
          <a:xfrm>
            <a:off x="4844430" y="3854202"/>
            <a:ext cx="3953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CLAUDE</a:t>
            </a:r>
            <a:endParaRPr lang="en-US" sz="750" dirty="0"/>
          </a:p>
        </p:txBody>
      </p:sp>
      <p:sp>
        <p:nvSpPr>
          <p:cNvPr id="29" name="Shape 19"/>
          <p:cNvSpPr/>
          <p:nvPr/>
        </p:nvSpPr>
        <p:spPr>
          <a:xfrm>
            <a:off x="496119" y="4275162"/>
            <a:ext cx="8151763" cy="431899"/>
          </a:xfrm>
          <a:prstGeom prst="roundRect">
            <a:avLst>
              <a:gd name="adj" fmla="val 12278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25" y="4432920"/>
            <a:ext cx="157758" cy="12620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06289" y="4419154"/>
            <a:ext cx="8072586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AI-assisted snippet will be tested and cross-checked by the group. Final report will disclose what was actually used.</a:t>
            </a:r>
            <a:endParaRPr lang="en-US" sz="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A6CACF-4CC9-520D-D003-F43EEB87CDC1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588" y="394189"/>
            <a:ext cx="926678" cy="219456"/>
          </a:xfrm>
          <a:prstGeom prst="roundRect">
            <a:avLst>
              <a:gd name="adj" fmla="val 22117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9834" y="442540"/>
            <a:ext cx="121644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5. 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7643"/>
            <a:ext cx="8151763" cy="45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We'll Do Next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17861"/>
            <a:ext cx="6339185" cy="290125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5B9AA4C-BD87-09DF-70E2-EB35DCDF9DDD}"/>
              </a:ext>
            </a:extLst>
          </p:cNvPr>
          <p:cNvGrpSpPr/>
          <p:nvPr/>
        </p:nvGrpSpPr>
        <p:grpSpPr>
          <a:xfrm>
            <a:off x="1718918" y="3091139"/>
            <a:ext cx="5706162" cy="476872"/>
            <a:chOff x="1740341" y="3415670"/>
            <a:chExt cx="5706162" cy="476872"/>
          </a:xfrm>
        </p:grpSpPr>
        <p:sp>
          <p:nvSpPr>
            <p:cNvPr id="6" name="Text 3"/>
            <p:cNvSpPr/>
            <p:nvPr/>
          </p:nvSpPr>
          <p:spPr>
            <a:xfrm>
              <a:off x="6256361" y="3534888"/>
              <a:ext cx="1190142" cy="2384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4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Evaluation</a:t>
              </a:r>
              <a:endParaRPr lang="en-US" sz="14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4756456" y="3415670"/>
              <a:ext cx="1190143" cy="476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4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Model Selection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264702" y="3534888"/>
              <a:ext cx="1190142" cy="2384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4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EDA</a:t>
              </a:r>
              <a:endParaRPr lang="en-US" sz="1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740341" y="3415670"/>
              <a:ext cx="1190142" cy="476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8000"/>
                </a:lnSpc>
                <a:buNone/>
              </a:pPr>
              <a:r>
                <a:rPr lang="en-US" sz="1400" b="1" dirty="0">
                  <a:solidFill>
                    <a:srgbClr val="EBEDF0"/>
                  </a:solidFill>
                  <a:latin typeface="Geist Bold" pitchFamily="34" charset="0"/>
                  <a:ea typeface="Geist Bold" pitchFamily="34" charset="-122"/>
                  <a:cs typeface="Geist Bold" pitchFamily="34" charset="-120"/>
                </a:rPr>
                <a:t>Data Cleaning</a:t>
              </a:r>
              <a:endParaRPr lang="en-US" sz="1400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377B5-83C2-32C1-C06D-C44BCBC4D27D}"/>
              </a:ext>
            </a:extLst>
          </p:cNvPr>
          <p:cNvSpPr/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6ABB55-B340-DCDA-B105-A5AFD2AAADD5}"/>
              </a:ext>
            </a:extLst>
          </p:cNvPr>
          <p:cNvGrpSpPr/>
          <p:nvPr/>
        </p:nvGrpSpPr>
        <p:grpSpPr>
          <a:xfrm>
            <a:off x="1591387" y="3738096"/>
            <a:ext cx="6061133" cy="962864"/>
            <a:chOff x="1591387" y="3868540"/>
            <a:chExt cx="6061133" cy="9628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A2A1B27-B5C2-546D-E8DB-E8327243D360}"/>
                </a:ext>
              </a:extLst>
            </p:cNvPr>
            <p:cNvSpPr/>
            <p:nvPr/>
          </p:nvSpPr>
          <p:spPr>
            <a:xfrm>
              <a:off x="1591387" y="3868540"/>
              <a:ext cx="1488050" cy="96286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0" dirty="0">
                  <a:solidFill>
                    <a:schemeClr val="bg1"/>
                  </a:solidFill>
                  <a:latin typeface="Geist" panose="020B0604020202020204" charset="0"/>
                  <a:ea typeface="Geist" panose="020B0604020202020204" charset="0"/>
                  <a:cs typeface="Geist" panose="020B0604020202020204" charset="0"/>
                </a:rPr>
                <a:t>Handle missing values, outliers, and encoding across the assigned NASDAQ dataset.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CF4219A-CCDE-2439-21E1-713E6526696F}"/>
                </a:ext>
              </a:extLst>
            </p:cNvPr>
            <p:cNvSpPr/>
            <p:nvPr/>
          </p:nvSpPr>
          <p:spPr>
            <a:xfrm>
              <a:off x="3115748" y="3868540"/>
              <a:ext cx="1488050" cy="96286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0" dirty="0">
                  <a:solidFill>
                    <a:schemeClr val="bg1"/>
                  </a:solidFill>
                  <a:latin typeface="Geist" panose="020B0604020202020204" charset="0"/>
                  <a:ea typeface="Geist" panose="020B0604020202020204" charset="0"/>
                  <a:cs typeface="Geist" panose="020B0604020202020204" charset="0"/>
                </a:rPr>
                <a:t>Explore price trends, volume patterns, and correlations; visualize key insights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BF8781D-8F5A-207D-A326-B00D48983C8F}"/>
                </a:ext>
              </a:extLst>
            </p:cNvPr>
            <p:cNvSpPr/>
            <p:nvPr/>
          </p:nvSpPr>
          <p:spPr>
            <a:xfrm>
              <a:off x="4640109" y="3868540"/>
              <a:ext cx="1488050" cy="96286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0" dirty="0">
                  <a:solidFill>
                    <a:schemeClr val="bg1"/>
                  </a:solidFill>
                  <a:latin typeface="Geist" panose="020B0604020202020204" charset="0"/>
                  <a:ea typeface="Geist" panose="020B0604020202020204" charset="0"/>
                  <a:cs typeface="Geist" panose="020B0604020202020204" charset="0"/>
                </a:rPr>
                <a:t>Choose and justify at least two ML algorithms suited to the prediction task.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D09FC7C-297D-79D3-C391-E74C2140FC81}"/>
                </a:ext>
              </a:extLst>
            </p:cNvPr>
            <p:cNvSpPr/>
            <p:nvPr/>
          </p:nvSpPr>
          <p:spPr>
            <a:xfrm>
              <a:off x="6164470" y="3868540"/>
              <a:ext cx="1488050" cy="96286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0" dirty="0">
                  <a:solidFill>
                    <a:schemeClr val="bg1"/>
                  </a:solidFill>
                  <a:latin typeface="Geist" panose="020B0604020202020204" charset="0"/>
                  <a:ea typeface="Geist" panose="020B0604020202020204" charset="0"/>
                  <a:cs typeface="Geist" panose="020B0604020202020204" charset="0"/>
                </a:rPr>
                <a:t>Apply metrics, cross-validation, and compare models to justify the best performer.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0180"/>
            <a:ext cx="8151763" cy="9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496119" y="2560588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EBEDF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2827660"/>
            <a:ext cx="815176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270572"/>
            <a:ext cx="81517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Group 2026-Y2-S1-MLB-B10G1-02</a:t>
            </a:r>
            <a:endParaRPr lang="en-US" sz="11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IT2011 · Artificial Intelligence and Machine Learning</a:t>
            </a:r>
            <a:endParaRPr lang="en-US" sz="11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Faculty of Computing, SLIIT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73D31-717B-47A9-91DA-0F8B24FB0F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83166" y="4831404"/>
            <a:ext cx="1108953" cy="273996"/>
          </a:xfrm>
          <a:prstGeom prst="rect">
            <a:avLst/>
          </a:prstGeom>
          <a:solidFill>
            <a:srgbClr val="101621"/>
          </a:solidFill>
          <a:ln>
            <a:solidFill>
              <a:srgbClr val="101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672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Consolas</vt:lpstr>
      <vt:lpstr>Geist Bold</vt:lpstr>
      <vt:lpstr>Arial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LENOVO</cp:lastModifiedBy>
  <cp:revision>5</cp:revision>
  <dcterms:created xsi:type="dcterms:W3CDTF">2026-08-03T15:40:35Z</dcterms:created>
  <dcterms:modified xsi:type="dcterms:W3CDTF">2026-08-04T03:25:45Z</dcterms:modified>
</cp:coreProperties>
</file>