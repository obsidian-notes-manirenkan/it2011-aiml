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7" r:id="rId12"/>
    <p:sldId id="278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49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deck builds intuition for SVM from the ground up — no prior ML knowledge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fruit analogy. Students immediately grasp "draw a line to separate classes." Then generalise: in 3D it is a plane, in N-D it is a hyperplane.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maths light — focus on what w and b MEAN visually rather than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walking between two walls — you want to walk down the MIDDLE to avoid bumping into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support vectors matter — all other points can move without changing the hyperplane. This is a key SVM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is almost never perfectly separable. Soft margin lets us build a practical classifier by tolerating a controlled number of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cases:
ξ=0 → student scoring well above pass mark (safe)
0&lt;ξ&lt;1 → borderline student still passing
ξ&gt;1 → student who failed (misclassified)
Σξᵢ is the total damage budget — C controls the penalty per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CORRECTIONS from common textbook errors:
1. "C &gt; 0 means no more than C observations on the wrong side" is WRONG. C bounds the SUM of slack variables (Σξᵢ), not the count of misclassified points.
2. Bias/variance is commonly swapped. Small C = narrow margin = fits closely = HIGH variance / overfit. Large C = wide margin = relaxed = HIGH bias / underfit.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is the most important hyperparameter in SVM. Small C = strict, narrow margin. Large C = forgiving, wide margin. Cross-validation finds the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example: XOR problem. Not linearly separable in 2D, perfectly separable once lifted to 3D. The kernel trick does this IMPLICITLY — no actual computation in high dimensions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start with RBF kernel. If the data is large and high-dimensional (e.g. text), try linear first. Polynomial is useful for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slowly. Ask students to predict what happens when C is too small (overfitting) and too large (underfitting).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feature scaling (StandardScaler in sklearn). SVM is sensitive to unscaled features. Also mention that sklearn.svm.SVC uses one-vs-one for multiclass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load iris dataset, apply SVC, show confusion matrix. Change kernel and C to show impact. Refer students to Google Colab link from original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Suggested discussion: "Can you think of a real-life problem where SVM would be useful?" — e.g. spam detection, cancer vs benign tumour classification, image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3200400" cy="93726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1371600" cy="1371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457200"/>
            <a:ext cx="731520" cy="73152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(SVM)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introduction for students new to AI &amp; ML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94360" cy="100584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Hyperplane?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94360" cy="1005840"/>
          </a:xfrm>
          <a:prstGeom prst="rect">
            <a:avLst/>
          </a:prstGeom>
          <a:solidFill>
            <a:srgbClr val="3B6E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Margin Classifier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94360" cy="1005840"/>
          </a:xfrm>
          <a:prstGeom prst="rect">
            <a:avLst/>
          </a:prstGeom>
          <a:solidFill>
            <a:srgbClr val="5B4D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Classifier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1143000"/>
            <a:ext cx="594360" cy="1005840"/>
          </a:xfrm>
          <a:prstGeom prst="rect">
            <a:avLst/>
          </a:prstGeom>
          <a:solidFill>
            <a:srgbClr val="E05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1430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Soft Margin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2377440"/>
            <a:ext cx="594360" cy="100584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7784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Data &amp; Kernel Trick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611880"/>
            <a:ext cx="594360" cy="10058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Functions Explained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02336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Hyperplane?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Intuition: Drawing a Boundary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" y="161848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red apples and green grapes mixed on a 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2368296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3225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draw a LINE that perfectly separates apples from grapes.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" y="3118104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0723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this is a line. In 3D it becomes a flat plane.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" y="3867912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8221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higher dimensions (many features), it is called a HYPERPLANE.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1051560"/>
            <a:ext cx="3474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2D: Line as Boundary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256032" cy="256032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1920240"/>
            <a:ext cx="256032" cy="256032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256032" cy="256032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148840"/>
            <a:ext cx="256032" cy="256032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2194560"/>
            <a:ext cx="256032" cy="256032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3291840"/>
            <a:ext cx="246888" cy="24688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3566160"/>
            <a:ext cx="246888" cy="24688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246888" cy="24688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46888" cy="24688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52160" y="3657600"/>
            <a:ext cx="246888" cy="24688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23560" y="1828800"/>
            <a:ext cx="2926080" cy="2286000"/>
          </a:xfrm>
          <a:prstGeom prst="line">
            <a:avLst/>
          </a:prstGeom>
          <a:noFill/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9244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(boundary)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Class 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🍇 Class 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Hyperplane Equation (Simplified)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2D, a hyperplane is simply a LINE defined by: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1B2B5E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w₁x₁  +  w₂x₂  +  b  =  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w₁, w₂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— how steep/flat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5146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2651760" cy="4572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x₁, x₂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values of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5146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514600"/>
            <a:ext cx="2651760" cy="4572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shifts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up or 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point sits on one SIDE of this line based on the sign of  w·x + 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02336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Maximal Margin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Many Lines Exist!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is separable, infinitely many hyperplanes can divide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should we choose?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Hyperplanes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228600" cy="228600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28600" cy="228600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228600" cy="228600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0" y="2377440"/>
            <a:ext cx="228600" cy="228600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3474720"/>
            <a:ext cx="219456" cy="219456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219456" cy="219456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75120" y="3291840"/>
            <a:ext cx="219456" cy="219456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219456" cy="219456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386584"/>
            <a:ext cx="3438144" cy="1531620"/>
          </a:xfrm>
          <a:prstGeom prst="line">
            <a:avLst/>
          </a:prstGeom>
          <a:noFill/>
          <a:ln w="12700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0" y="2240280"/>
            <a:ext cx="3200400" cy="1577340"/>
          </a:xfrm>
          <a:prstGeom prst="line">
            <a:avLst/>
          </a:prstGeom>
          <a:noFill/>
          <a:ln w="12700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0096" y="2514600"/>
            <a:ext cx="3108960" cy="118872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392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6176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1993392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" y="2011680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too close to one class fails when new data arrives.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2953512"/>
            <a:ext cx="502920" cy="502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" y="2971800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43000" y="2926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hyperplane is the one that is as far as possible from both classes.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4389120" cy="822960"/>
          </a:xfrm>
          <a:prstGeom prst="rect">
            <a:avLst/>
          </a:prstGeom>
          <a:solidFill>
            <a:srgbClr val="00879E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" y="3931920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★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43000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maximum distance is called the MARGIN.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Margin &amp; Support Vectors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0" y="100584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Visualisation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691640"/>
            <a:ext cx="237744" cy="237744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237744" cy="237744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75120" y="1600200"/>
            <a:ext cx="237744" cy="237744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37744" cy="237744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0" y="3566160"/>
            <a:ext cx="228600" cy="228600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28600" cy="228600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3566160"/>
            <a:ext cx="228600" cy="228600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228600" cy="228600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2148840"/>
            <a:ext cx="292608" cy="29260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3520440"/>
            <a:ext cx="292608" cy="292608"/>
          </a:xfrm>
          <a:prstGeom prst="rect">
            <a:avLst/>
          </a:prstGeom>
          <a:solidFill>
            <a:srgbClr val="3B6EA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441448"/>
            <a:ext cx="3566160" cy="1177290"/>
          </a:xfrm>
          <a:prstGeom prst="line">
            <a:avLst/>
          </a:prstGeom>
          <a:noFill/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03520" y="1920240"/>
            <a:ext cx="3291840" cy="1051560"/>
          </a:xfrm>
          <a:prstGeom prst="line">
            <a:avLst/>
          </a:prstGeom>
          <a:noFill/>
          <a:ln w="12700">
            <a:solidFill>
              <a:srgbClr val="E05757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92624" y="3209544"/>
            <a:ext cx="3291840" cy="914400"/>
          </a:xfrm>
          <a:prstGeom prst="line">
            <a:avLst/>
          </a:prstGeom>
          <a:noFill/>
          <a:ln w="12700">
            <a:solidFill>
              <a:srgbClr val="E05757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76260" y="2868930"/>
            <a:ext cx="0" cy="1177290"/>
          </a:xfrm>
          <a:prstGeom prst="line">
            <a:avLst/>
          </a:prstGeom>
          <a:noFill/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63128" y="30861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05156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Margin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14630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hyperplane and the nearest data points on each side.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37744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441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Support Vectors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2788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points sitting exactly ON the margin boundary. They DEFINE the hyperplane.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7673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 margin — wider margin means a more confident, generalisable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02336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Margin vs Soft Margin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 Margin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 allowed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margin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when data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linearly separable.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Soft Margin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1536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points may 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(with a cost)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4069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messy, real-world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data.</a:t>
            </a:r>
            <a:endParaRPr lang="en-US" sz="1100" dirty="0"/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E0A82B01-3B23-0B08-EB53-A8C4F06E0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83" b="21221"/>
          <a:stretch>
            <a:fillRect/>
          </a:stretch>
        </p:blipFill>
        <p:spPr bwMode="auto">
          <a:xfrm>
            <a:off x="985266" y="2084833"/>
            <a:ext cx="2519934" cy="209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3D685058-8E9F-241A-F1F6-69017C4EB6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7" r="-434" b="21221"/>
          <a:stretch>
            <a:fillRect/>
          </a:stretch>
        </p:blipFill>
        <p:spPr bwMode="auto">
          <a:xfrm>
            <a:off x="5424678" y="2134363"/>
            <a:ext cx="2515362" cy="208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7038C5D0-26C6-52F5-374D-F3C0EC913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79249" r="24609" b="1422"/>
          <a:stretch>
            <a:fillRect/>
          </a:stretch>
        </p:blipFill>
        <p:spPr bwMode="auto">
          <a:xfrm>
            <a:off x="91440" y="1963125"/>
            <a:ext cx="153486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D7D5BCEC-62F2-50AF-C2B0-F0D5D189D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79249" r="24609" b="1422"/>
          <a:stretch>
            <a:fillRect/>
          </a:stretch>
        </p:blipFill>
        <p:spPr bwMode="auto">
          <a:xfrm>
            <a:off x="4632960" y="2134363"/>
            <a:ext cx="1787652" cy="3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 Variables (ξᵢ) — What Are They?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allow soft margins, we need a way to MEASURE how much each point violates the boundary.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  ½‖w‖²  +  C · Σ ξᵢ     subject to:   yᵢ(w·xᵢ + b) ≥ 1 − ξᵢ   and   ξᵢ ≥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5212080" cy="758952"/>
          </a:xfrm>
          <a:prstGeom prst="rect">
            <a:avLst/>
          </a:prstGeom>
          <a:solidFill>
            <a:srgbClr val="EDFAF3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1371600" cy="75895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371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ξᵢ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24048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side of margin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safely beyond the margin. No violation.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27832"/>
            <a:ext cx="5212080" cy="758952"/>
          </a:xfrm>
          <a:prstGeom prst="rect">
            <a:avLst/>
          </a:prstGeom>
          <a:solidFill>
            <a:srgbClr val="FFFBEA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227832"/>
            <a:ext cx="1371600" cy="758952"/>
          </a:xfrm>
          <a:prstGeom prst="rect">
            <a:avLst/>
          </a:prstGeom>
          <a:solidFill>
            <a:srgbClr val="C0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27832"/>
            <a:ext cx="1371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&lt; ξᵢ &lt;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32735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Inside the margin (correct side)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36118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into the margin zone but still on the right side of the hyperplane.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5212080" cy="758952"/>
          </a:xfrm>
          <a:prstGeom prst="rect">
            <a:avLst/>
          </a:prstGeom>
          <a:solidFill>
            <a:srgbClr val="FFF0F0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1371600" cy="758952"/>
          </a:xfrm>
          <a:prstGeom prst="rect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1371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ξᵢ &gt;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41422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side of hyperplane (misclassified)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44805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the hyperplane — classified into the wrong class.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331720"/>
            <a:ext cx="3017520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644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values on a diagram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3154680"/>
            <a:ext cx="2651760" cy="0"/>
          </a:xfrm>
          <a:prstGeom prst="line">
            <a:avLst/>
          </a:prstGeom>
          <a:noFill/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2724912"/>
            <a:ext cx="2651760" cy="0"/>
          </a:xfrm>
          <a:prstGeom prst="line">
            <a:avLst/>
          </a:prstGeom>
          <a:noFill/>
          <a:ln w="12700">
            <a:solidFill>
              <a:srgbClr val="E05757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3584448"/>
            <a:ext cx="2651760" cy="0"/>
          </a:xfrm>
          <a:prstGeom prst="line">
            <a:avLst/>
          </a:prstGeom>
          <a:noFill/>
          <a:ln w="12700">
            <a:solidFill>
              <a:srgbClr val="E05757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2423160"/>
            <a:ext cx="237744" cy="23774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ξ=0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2834640"/>
            <a:ext cx="237744" cy="237744"/>
          </a:xfrm>
          <a:prstGeom prst="ellipse">
            <a:avLst/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8620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0&lt;ξ&lt;1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3364992"/>
            <a:ext cx="237744" cy="237744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3383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ξ&gt;1 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2907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3127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H-plane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 controls how heavily we PENALISE large ξᵢ values — larger C = less tolerance for violations.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Tuning Parameter 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solidFill>
            <a:srgbClr val="162244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2344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6766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non-negative tuning parameter that bounds Σξᵢ — the total sum of slack variables. It is the "budget" for how much the margin can be violated by the observations.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   ½‖w‖²   +   C · Σ ξᵢ     subject to   yᵢ(w·xᵢ + b) ≥ 1 − ξᵢ,   ξᵢ ≥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160520" cy="365760"/>
          </a:xfrm>
          <a:prstGeom prst="rect">
            <a:avLst/>
          </a:prstGeom>
          <a:solidFill>
            <a:srgbClr val="E05757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066544"/>
            <a:ext cx="416052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Small C  (C → 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0665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  (C → ∞)  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4160520" cy="420624"/>
          </a:xfrm>
          <a:prstGeom prst="rect">
            <a:avLst/>
          </a:prstGeom>
          <a:solidFill>
            <a:srgbClr val="FFF5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52374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54203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Σξᵢ is tightly bounded → few violations allowed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80944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0175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NARROW — rarely crossed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4160520" cy="420624"/>
          </a:xfrm>
          <a:prstGeom prst="rect">
            <a:avLst/>
          </a:prstGeom>
          <a:solidFill>
            <a:srgbClr val="FFF5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49300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fits training data closely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4160520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96849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bias, HIGH variance (risk of overfitting)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07408"/>
            <a:ext cx="4160520" cy="420624"/>
          </a:xfrm>
          <a:prstGeom prst="rect">
            <a:avLst/>
          </a:prstGeom>
          <a:solidFill>
            <a:srgbClr val="FFF5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42569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" y="44439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0: no budget at all → hard margin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505456"/>
            <a:ext cx="4160520" cy="420624"/>
          </a:xfrm>
          <a:prstGeom prst="rect">
            <a:avLst/>
          </a:prstGeom>
          <a:solidFill>
            <a:srgbClr val="F0FF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52374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48072" y="254203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Σξᵢ can be large → many violations tolerated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980944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9992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48072" y="30175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WIDE — more points may cross 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456432"/>
            <a:ext cx="4160520" cy="420624"/>
          </a:xfrm>
          <a:prstGeom prst="rect">
            <a:avLst/>
          </a:prstGeom>
          <a:solidFill>
            <a:srgbClr val="F0FF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4747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48072" y="349300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is more relaxed and general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931920"/>
            <a:ext cx="4160520" cy="420624"/>
          </a:xfrm>
          <a:prstGeom prst="rect">
            <a:avLst/>
          </a:prstGeom>
          <a:solidFill>
            <a:srgbClr val="E8F5E9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39502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48072" y="396849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bias, low variance (risk of underfitting)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4407408"/>
            <a:ext cx="4160520" cy="420624"/>
          </a:xfrm>
          <a:prstGeom prst="rect">
            <a:avLst/>
          </a:prstGeom>
          <a:solidFill>
            <a:srgbClr val="F0FFF5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442569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48072" y="44439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∞: becomes a hard margin classifier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82896"/>
            <a:ext cx="8229600" cy="237744"/>
          </a:xfrm>
          <a:prstGeom prst="rect">
            <a:avLst/>
          </a:prstGeom>
          <a:solidFill>
            <a:srgbClr val="1C2B50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882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Common errors to avoid: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06040" y="4882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NOT a count of misclassified points.  |  Small C → overfit (high variance), Large C → underfit (high bias). Choose C via cross-validation.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Tuning Parameter 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controls how much we tolerate violations (misclassifications inside the margin).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27632" cy="457200"/>
          </a:xfrm>
          <a:prstGeom prst="rect">
            <a:avLst/>
          </a:prstGeom>
          <a:solidFill>
            <a:srgbClr val="E05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84832" y="1554480"/>
            <a:ext cx="1627632" cy="457200"/>
          </a:xfrm>
          <a:prstGeom prst="rect">
            <a:avLst/>
          </a:prstGeom>
          <a:solidFill>
            <a:srgbClr val="E07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12464" y="1554480"/>
            <a:ext cx="1627632" cy="457200"/>
          </a:xfrm>
          <a:prstGeom prst="rect">
            <a:avLst/>
          </a:prstGeom>
          <a:solidFill>
            <a:srgbClr val="E0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40096" y="1554480"/>
            <a:ext cx="1627632" cy="457200"/>
          </a:xfrm>
          <a:prstGeom prst="rect">
            <a:avLst/>
          </a:prstGeom>
          <a:solidFill>
            <a:srgbClr val="90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67728" y="1554480"/>
            <a:ext cx="1627632" cy="4572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very small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very large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value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56232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56232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width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55264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55264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54296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54296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53328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53328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2514600"/>
            <a:ext cx="1399032" cy="41148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25146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1399032" cy="640080"/>
          </a:xfrm>
          <a:prstGeom prst="rect">
            <a:avLst/>
          </a:prstGeom>
          <a:solidFill>
            <a:srgbClr val="E05757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56232" y="29718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56232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55264" y="29718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55264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/ None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54296" y="29718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54296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53328" y="29718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53328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52360" y="29718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52360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399032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56232" y="36576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856232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55264" y="36576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55264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54296" y="36576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54296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53328" y="36576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53328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52360" y="3657600"/>
            <a:ext cx="13990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52360" y="36576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cross-validation to pick the best C for your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02336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 Trick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Non-linear Data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Data is Not Linearly Separable?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no straight line can separate the classes — no matter how hard you try!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Circular Classes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20240" y="192024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219456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320040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0" y="365760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94560" y="384048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374904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88720" y="329184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7280" y="2743200"/>
            <a:ext cx="201168" cy="201168"/>
          </a:xfrm>
          <a:prstGeom prst="rect">
            <a:avLst/>
          </a:prstGeom>
          <a:solidFill>
            <a:srgbClr val="3B6EAF"/>
          </a:solidFill>
          <a:ln w="12700">
            <a:solidFill>
              <a:srgbClr val="3B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0240" y="2651760"/>
            <a:ext cx="201168" cy="20116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0" y="2468880"/>
            <a:ext cx="201168" cy="20116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51760" y="2560320"/>
            <a:ext cx="201168" cy="20116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77440" y="2926080"/>
            <a:ext cx="201168" cy="20116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0" y="3017520"/>
            <a:ext cx="201168" cy="201168"/>
          </a:xfrm>
          <a:prstGeom prst="ellipse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straight 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separate these!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50876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508760"/>
            <a:ext cx="4114800" cy="4572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Kernel Trick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2084832"/>
            <a:ext cx="384048" cy="384048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2084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Higher Dimension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2313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feature (e.g. x₁² + x₂²)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data into 3D space.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999232"/>
            <a:ext cx="384048" cy="384048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999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Linearly Separable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3D, a flat PLANE can separate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line could not in 2D.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913632"/>
            <a:ext cx="384048" cy="384048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3913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4142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boundary in 3D maps 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CURVE boundary in 2D.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function K(xᵢ, xⱼ) computes similarity in a higher-dimensional space WITHOUT explicitly going there.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320040" cy="1078992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1719072"/>
            <a:ext cx="3017520" cy="411480"/>
          </a:xfrm>
          <a:prstGeom prst="rect">
            <a:avLst/>
          </a:prstGeom>
          <a:solidFill>
            <a:srgbClr val="00879E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K(xᵢ,xⱼ) = xᵢ · xⱼ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Data is linearly separable. Fastest option.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Text classification, gene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320040" cy="1078992"/>
          </a:xfrm>
          <a:prstGeom prst="rect">
            <a:avLst/>
          </a:prstGeom>
          <a:solidFill>
            <a:srgbClr val="3B6E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Kernel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2889504"/>
            <a:ext cx="3017520" cy="411480"/>
          </a:xfrm>
          <a:prstGeom prst="rect">
            <a:avLst/>
          </a:prstGeom>
          <a:solidFill>
            <a:srgbClr val="3B6EA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2889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K(xᵢ,xⱼ) = (xᵢ·xⱼ + r)^d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273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Curved decision boundaries. Degree d controls curvature.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47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Image recognition, NLP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320040" cy="1078992"/>
          </a:xfrm>
          <a:prstGeom prst="rect">
            <a:avLst/>
          </a:prstGeom>
          <a:solidFill>
            <a:srgbClr val="5B4D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078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Basis (RBF)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11880" y="4059936"/>
            <a:ext cx="3017520" cy="411480"/>
          </a:xfrm>
          <a:prstGeom prst="rect">
            <a:avLst/>
          </a:prstGeom>
          <a:solidFill>
            <a:srgbClr val="5B4DA0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K(xᵢ,xⱼ) = exp(−γ‖xᵢ−xⱼ‖²)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443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Most powerful — handles very complex shapes.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718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Default choice in most problems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02336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End-to-End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SVM Works —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399032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Collect labelled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27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point has features (x) and a class label (+1 or −1).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2752344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478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Apply a Kernel (if non-linear)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880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feature space so data becomes linearly separable.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4105656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831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Find the optimal hyperplane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233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 margin between the two classes.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10328" y="1399032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0328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1124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Identify Support Vectors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1527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closest points define and anchor the hyperplane.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40487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10328" y="2752344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032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478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Tune parameter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58968" y="2880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to balance margin width vs. misclassifications.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5818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10328" y="4105656"/>
            <a:ext cx="457200" cy="457200"/>
          </a:xfrm>
          <a:prstGeom prst="ellipse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0328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58968" y="3831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Classify new points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233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sign(w·x + b): positive → Class A, negative → Class B.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 of SVM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66420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high-dimensional data (many features)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225856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even when features &gt; samples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85292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8163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— only support vectors matter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344728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410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 handles complex, non-linear boundaries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" y="404164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4005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theoretical foundations and generalisation guarantees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206240" cy="502920"/>
          </a:xfrm>
          <a:prstGeom prst="rect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09160" y="1645920"/>
            <a:ext cx="502920" cy="50292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18304" y="166420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16276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 on very large datasets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502920" cy="50292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18304" y="225856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03520" y="22219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kernel requires domain knowledge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834640"/>
            <a:ext cx="502920" cy="50292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285292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✗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03520" y="2816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feature scaling — always normalise!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429000"/>
            <a:ext cx="502920" cy="50292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18304" y="344728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✗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03520" y="3410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interpret compared to Decision Trees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023360"/>
            <a:ext cx="502920" cy="50292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18304" y="404164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✗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303520" y="40050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needs workarounds (one-vs-one etc.)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in Python — sklearn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solidFill>
            <a:srgbClr val="162244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sklearn.svm import SVC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Scale features (very important for SVM!)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 = scaler.fit_transform(X_train)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  = scaler.transform(X_test)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and train SVM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272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SVC(kernel="rbf", C=1.0)   # try "linear", "poly" too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284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model.fit(X_train_sc, y_train)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29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Predict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model.predict(X_test_sc)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Concept Cheatsheet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54480" cy="9144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boundary that divides data into classes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1554480" cy="9144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hyperplane and the nearest 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554480" cy="9144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sitting on the margin — they define everything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1554480" cy="91440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Margin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misclassifications allowed — works on clean data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155448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Margin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097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some violations — real-world friendly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155448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 = wider margin; Large C = narrower margin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155448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higher dimensions — handles non-linear 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0233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2700000" algn="bl" rotWithShape="0">
              <a:srgbClr val="999999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4023360"/>
            <a:ext cx="1554480" cy="9144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kernel — great default choice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560320" cy="2560320"/>
          </a:xfrm>
          <a:prstGeom prst="ellipse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731520"/>
            <a:ext cx="1645920" cy="1645920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SVM finds the WIDEST possible margin between classes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Only support vectors matter — everything else is irrelevant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Parameter C balances margin width vs. misclassifications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Kernels let SVM handle non-linear data elegantly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Always scale your features before using SVM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 Let's discuss!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2098</Words>
  <Application>Microsoft Office PowerPoint</Application>
  <PresentationFormat>On-screen Show (16:9)</PresentationFormat>
  <Paragraphs>316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Lakmini Abeywardhana</cp:lastModifiedBy>
  <cp:revision>2</cp:revision>
  <dcterms:created xsi:type="dcterms:W3CDTF">2026-08-17T07:20:21Z</dcterms:created>
  <dcterms:modified xsi:type="dcterms:W3CDTF">2026-08-17T07:53:56Z</dcterms:modified>
</cp:coreProperties>
</file>