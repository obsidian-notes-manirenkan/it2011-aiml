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37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3736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8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Walkthrough with Simple Examples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Regression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Linear Regression?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STRAIGHT LINE through your data so you can predict a continuous number.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9933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β₀ + β₁x       where β₀ = intercept (starting point),  β₁ = slope (rate of change),  ŷ = predicted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2029968" cy="221284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2029968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27797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511296"/>
            <a:ext cx="18470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the total squared prediction error (SSE) across all data points.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79192" y="2633472"/>
            <a:ext cx="2029968" cy="221284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79192" y="2633472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56432" y="27797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70632" y="320040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70632" y="3511296"/>
            <a:ext cx="18470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 — finds β₀ and β₁ analytically using calculus.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55464" y="2633472"/>
            <a:ext cx="2029968" cy="221284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55464" y="2633472"/>
            <a:ext cx="2029968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32704" y="27797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46904" y="320040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46904" y="3511296"/>
            <a:ext cx="18470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number (e.g. price, temperature, score) — NOT a category.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31736" y="2633472"/>
            <a:ext cx="2029968" cy="221284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31736" y="2633472"/>
            <a:ext cx="2029968" cy="914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08976" y="27797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23176" y="320040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23176" y="3511296"/>
            <a:ext cx="18470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line always passes through the data centre point (x̄, ȳ).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β₁ (Slope) and β₀ (Intercept)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4069080" cy="1874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36192"/>
            <a:ext cx="406908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536192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Slope — "How steep is the line?"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0482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β₁ = Σ(xᵢ−x̄)(yᵢ−ȳ) / Σ(xᵢ−x̄)²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377440"/>
            <a:ext cx="37490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Covariance(x,y) / Variance(x)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x and y move together, divided by how spread out x is."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&gt; 0 → line goes UP   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&lt; 0 → line goes DOWN 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0 → flat line  →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536192"/>
            <a:ext cx="3977640" cy="1874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1536192"/>
            <a:ext cx="3977640" cy="42062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53619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= Intercept — "Where does the line start?"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20482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348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β₀ = ȳ − β₁ × x̄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377440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at the average y, then subtract how much the slope accounts for at the average x."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ALWAYS passes through the point (x̄, ȳ) — the centre of the data.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β₀ may not have real-world meaning (e.g. price when size = 0).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547872"/>
            <a:ext cx="8229600" cy="135331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547872"/>
            <a:ext cx="822960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639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 the errors?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00507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986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yᵢ − ŷᵢ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2428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+ (above line), some are − (below line).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01568" y="4005072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01568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3986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add them, they cancel!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42428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 looks like zero — misleading.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4005072"/>
            <a:ext cx="365760" cy="3657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36208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986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them → SSE = Σ(yᵢ−ŷᵢ)²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42428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become positive. OLS minimises this sum.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 — Predicting House Price from Size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 real estate agent has 6 recent sales. Can she predict prices for new houses?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(Size) → one output (Price) → Simple Linear Regression.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82296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39572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53312" y="2395728"/>
            <a:ext cx="20116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80744" y="23957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x (sq ft)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92424" y="2395728"/>
            <a:ext cx="20116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19856" y="23957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y ($000s)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706624"/>
            <a:ext cx="82296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270662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53312" y="2706624"/>
            <a:ext cx="20116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80744" y="27066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92424" y="2706624"/>
            <a:ext cx="20116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9856" y="27066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298094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53312" y="298094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80744" y="298094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92424" y="298094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19856" y="298094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255264"/>
            <a:ext cx="82296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" y="325526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53312" y="3255264"/>
            <a:ext cx="20116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80744" y="325526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92424" y="3255264"/>
            <a:ext cx="20116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19856" y="325526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529584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0352" y="352958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53312" y="352958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80744" y="352958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92424" y="352958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19856" y="352958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3803904"/>
            <a:ext cx="82296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0352" y="380390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53312" y="3803904"/>
            <a:ext cx="20116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380744" y="380390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92424" y="3803904"/>
            <a:ext cx="20116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19856" y="380390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4078224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0352" y="4078224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353312" y="407822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80744" y="40782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392424" y="407822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419856" y="40782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577840" y="2395728"/>
            <a:ext cx="3154680" cy="199339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577840" y="2395728"/>
            <a:ext cx="315468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715000" y="25054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observe: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15000" y="2834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As size ↑, price ↑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715000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looks LINEAR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715000" y="36027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→ one output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715000" y="3986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Simple LR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 — Calculate β₁ and β₀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OLS CALCULATION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  x̄ = (1000+1500+2000+2500+3000+3500)/6 = 2250      ȳ = (150+200+250+290+340+400)/6 = 271.7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749808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212848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80160" y="2212848"/>
            <a:ext cx="658368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07592" y="2212848"/>
            <a:ext cx="603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65960" y="2212848"/>
            <a:ext cx="749808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93392" y="2212848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x−x̄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212848"/>
            <a:ext cx="749808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70632" y="2212848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y−ȳ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2212848"/>
            <a:ext cx="1207008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47872" y="2212848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(x−x̄)(y−ȳ)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212848"/>
            <a:ext cx="1207008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82312" y="2212848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(x−x̄)²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2523744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252374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280160" y="2523744"/>
            <a:ext cx="65836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07592" y="252374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65960" y="2523744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93392" y="252374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−1250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2523744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70632" y="252374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−121.7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20440" y="2523744"/>
            <a:ext cx="12070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47872" y="2523744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152,125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523744"/>
            <a:ext cx="12070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82312" y="2523744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1,562,500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2779776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277977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280160" y="2779776"/>
            <a:ext cx="6583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07592" y="277977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65960" y="2779776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993392" y="277977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−750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0" y="2779776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70632" y="277977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−71.7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20440" y="2779776"/>
            <a:ext cx="12070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547872" y="2779776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53,775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2779776"/>
            <a:ext cx="12070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82312" y="2779776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562,500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3035808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30352" y="30358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280160" y="3035808"/>
            <a:ext cx="65836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07592" y="3035808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965960" y="3035808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993392" y="30358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0" y="3035808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70632" y="30358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−21.7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520440" y="3035808"/>
            <a:ext cx="12070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547872" y="303580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5,425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54880" y="3035808"/>
            <a:ext cx="12070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82312" y="303580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62,500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920" y="3291840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0352" y="329184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280160" y="3291840"/>
            <a:ext cx="6583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307592" y="329184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965960" y="3291840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993392" y="329184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43200" y="3291840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770632" y="329184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520440" y="3291840"/>
            <a:ext cx="12070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547872" y="329184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4,575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54880" y="3291840"/>
            <a:ext cx="12070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82312" y="3291840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62,500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2920" y="3547872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30352" y="3547872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280160" y="3547872"/>
            <a:ext cx="65836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307592" y="354787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965960" y="3547872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993392" y="3547872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43200" y="3547872"/>
            <a:ext cx="7498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770632" y="3547872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520440" y="3547872"/>
            <a:ext cx="12070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547872" y="3547872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51,225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754880" y="3547872"/>
            <a:ext cx="1207008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782312" y="3547872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562,500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2920" y="3803904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30352" y="380390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280160" y="3803904"/>
            <a:ext cx="6583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307592" y="380390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965960" y="3803904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993392" y="380390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743200" y="3803904"/>
            <a:ext cx="7498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70632" y="380390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128.3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520440" y="3803904"/>
            <a:ext cx="12070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547872" y="3803904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160,375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754880" y="3803904"/>
            <a:ext cx="12070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782312" y="3803904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1,562,500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02920" y="4059936"/>
            <a:ext cx="749808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30352" y="40599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280160" y="4059936"/>
            <a:ext cx="658368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307592" y="405993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965960" y="4059936"/>
            <a:ext cx="749808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993392" y="40599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2743200" y="4059936"/>
            <a:ext cx="749808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770632" y="40599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→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520440" y="4059936"/>
            <a:ext cx="1207008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547872" y="4059936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427,500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4754880" y="4059936"/>
            <a:ext cx="1207008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4782312" y="4059936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4,375,000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6053328" y="2212848"/>
            <a:ext cx="27432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053328" y="2212848"/>
            <a:ext cx="274320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126480" y="23408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12648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537960" y="2340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427,500 / 4,375,000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6199632" y="2670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≈ 0.0977</a:t>
            </a:r>
            <a:endParaRPr lang="en-US" sz="1500" dirty="0"/>
          </a:p>
        </p:txBody>
      </p:sp>
      <p:sp>
        <p:nvSpPr>
          <p:cNvPr id="115" name="Shape 113"/>
          <p:cNvSpPr/>
          <p:nvPr/>
        </p:nvSpPr>
        <p:spPr>
          <a:xfrm>
            <a:off x="6199632" y="2999232"/>
            <a:ext cx="2331720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053328" y="3310128"/>
            <a:ext cx="2743200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053328" y="3310128"/>
            <a:ext cx="274320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126480" y="3438144"/>
            <a:ext cx="365760" cy="3657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126480" y="3438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6537960" y="3438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348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271.7 − 0.0977×2250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6199632" y="3767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≈ 51.8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2 — The Model &amp; Making Predictions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536192"/>
            <a:ext cx="640080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15910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591056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Price ($K)  =  51.8  +  0.0977  ×  Size (sq ft)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2920" y="2450592"/>
            <a:ext cx="39776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397764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coefficients mean: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8529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= 51.8 → Base price when size = 0 sq ft (theoretical anchor).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21868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0.0977 → Every extra 1 sq ft adds ~$97.70 to the price.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every extra 100 sq ft adds ~$9,770.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450592"/>
            <a:ext cx="402336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450592"/>
            <a:ext cx="402336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2560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new houses: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2889504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93792" y="28895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 sq ft: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93792" y="309067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51.8+0.0977×1800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7804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$227,660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3291840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93792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 sq ft: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3792" y="349300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51.8+0.0977×2200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178040" y="3328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$266,740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3694176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93792" y="36941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sq ft: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93792" y="38953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51.8+0.0977×4000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78040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$442,600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3950208"/>
            <a:ext cx="8229600" cy="530352"/>
          </a:xfrm>
          <a:prstGeom prst="rect">
            <a:avLst/>
          </a:prstGeom>
          <a:solidFill>
            <a:srgbClr val="FEF9E7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8368" y="4005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Extrapolation Warning: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40050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sq ft is OUTSIDE training range (1000–3500). Prediction may be unreliable. Always be cautious beyond training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3 — How Good is Our Model? (R²)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59105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measures what fraction of the variation in y our model explains.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R² = 1 − (SSE / TSS)   =   (TSS − SSE) / TSS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4069080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406908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505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TSS = Σ(yᵢ − ȳ)²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79806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Sum of Squares — how much y varies from its mean. This is the BASELINE: the total variation that exists before any model.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395728"/>
            <a:ext cx="3977640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395728"/>
            <a:ext cx="397764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SSE = Σ(yᵢ − ŷᵢ)²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79806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Errors — how much variation our model FAILED to explain. The leftover noise after fitting the line.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R² values mean: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737360" cy="932688"/>
          </a:xfrm>
          <a:prstGeom prst="rect">
            <a:avLst/>
          </a:prstGeom>
          <a:solidFill>
            <a:srgbClr val="FADBD8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" y="39867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4279392"/>
            <a:ext cx="1591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useless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better than ȳ)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3931920"/>
            <a:ext cx="1874520" cy="932688"/>
          </a:xfrm>
          <a:prstGeom prst="rect">
            <a:avLst/>
          </a:prstGeom>
          <a:solidFill>
            <a:srgbClr val="FEF9E7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04872" y="3986784"/>
            <a:ext cx="1728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04872" y="4279392"/>
            <a:ext cx="1728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(explains 50%)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3931920"/>
            <a:ext cx="1920240" cy="932688"/>
          </a:xfrm>
          <a:prstGeom prst="rect">
            <a:avLst/>
          </a:prstGeom>
          <a:solidFill>
            <a:srgbClr val="D5F5E3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70832" y="398678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70832" y="4279392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(explains 80%)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3931920"/>
            <a:ext cx="2423160" cy="932688"/>
          </a:xfrm>
          <a:prstGeom prst="rect">
            <a:avLst/>
          </a:prstGeom>
          <a:solidFill>
            <a:srgbClr val="E8F4F8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82512" y="398678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R²=1.0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82512" y="427939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(⚠ overfitting risk!)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 Metrics for Linear Regression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ERROR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406908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36192"/>
            <a:ext cx="40690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6642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166420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0482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(1/n) Σ(yᵢ − ŷᵢ)²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4140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errors. Penalises large errors heavily. Lower = better.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1536192"/>
            <a:ext cx="406908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18888" y="1536192"/>
            <a:ext cx="40690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56048" y="16642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16168" y="166420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20482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√MSE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4140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MSE → same units as y. Easiest to interpret for stakeholders.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406908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4069080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00200" y="332841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712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(1/n) Σ|yᵢ − ŷᵢ|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07822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absolute errors. Less sensitive to outliers than MSE/RMSE.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18888" y="3200400"/>
            <a:ext cx="406908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18888" y="3200400"/>
            <a:ext cx="4069080" cy="914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33284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16168" y="332841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3712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1 − SSE/TSS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407822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variance explained. 0 = useless, 1 = perfect. Most intuitive metric.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Key Assumptions of Linear Regression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CHECK BEFORE TRUSTING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40690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36192"/>
            <a:ext cx="4069080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71907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1719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61288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" y="19385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x and y must be approximately linear. Plot a scatter chart to verify.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633472"/>
            <a:ext cx="40690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633472"/>
            <a:ext cx="4069080" cy="822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28163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288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0358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must be independent. No data point should influence another (e.g. no time-series autocorrelation).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730752"/>
            <a:ext cx="40690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4069080" cy="822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3913632"/>
            <a:ext cx="438912" cy="43891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13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61288" y="3858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" y="41330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should have constant variance across all x values. Fan-shaped residual plot = violation.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1536192"/>
            <a:ext cx="40690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18888" y="1536192"/>
            <a:ext cx="4069080" cy="822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56048" y="1719072"/>
            <a:ext cx="438912" cy="43891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56048" y="1719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77256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77256" y="19385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should be approximately normally distributed. Check with a histogram or Q-Q plot.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18888" y="2633472"/>
            <a:ext cx="406908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18888" y="2633472"/>
            <a:ext cx="406908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56048" y="2816352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56048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77256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77256" y="30358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(Multiple LR) Predictors should not be highly correlated with each other. Use VIF to check.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 vs Multiple Linear Regression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4114800" cy="34015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36192"/>
            <a:ext cx="4114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1536192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" y="20665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75688" y="206654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predictor (x)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" y="2505456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5420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75688" y="25420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" y="2980944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" y="30175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75688" y="30175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 2D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" y="3456432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49300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75688" y="34930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from size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" y="3931920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" y="396849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75688" y="396849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and β₁ (2 values)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7512" y="4407408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4439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75688" y="44439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Single-factor analysis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18888" y="1536192"/>
            <a:ext cx="4114800" cy="34015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1536192"/>
            <a:ext cx="4114800" cy="457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28616" y="1536192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3480" y="20665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91656" y="206654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predictors (x₁, x₂ …)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2505456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25420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91656" y="25420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β₁x₁ + β₂x₂ + …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2980944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83480" y="30175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91656" y="30175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Plane/hyperplane in nD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83480" y="3456432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83480" y="349300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91656" y="34930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from size, age, rooms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83480" y="3931920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83480" y="396849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91656" y="396849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β₀, β₁, β₂ … (n+1 values)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83480" y="4407408"/>
            <a:ext cx="3749040" cy="0"/>
          </a:xfrm>
          <a:prstGeom prst="line">
            <a:avLst/>
          </a:prstGeom>
          <a:noFill/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83480" y="44439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91656" y="44439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Regression — Summary &amp; When to Use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39776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36192"/>
            <a:ext cx="397764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Simple, fast, and interpretable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313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Coefficients explain feature importance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well when relationship is linear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computational cost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Foundation of advanced models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536192"/>
            <a:ext cx="39776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536192"/>
            <a:ext cx="3977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Weaknesses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capture non-linear patterns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0328" y="2313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outliers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Assumes constant variance (homoscedasticity)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0328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Multicollinearity degrades performance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0328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Extrapolation is unreliable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30752"/>
            <a:ext cx="8229600" cy="117043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blurRad="38100" dist="127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38039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to Use Linear Regression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" y="409651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continuous values (prices, scores, temperatures)  •  Quick baseline model  •  Understanding feature-target relationships  •  When the data shows a roughly linear trend  •  Econometrics and financial forecasting  •  A/B test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1361</Words>
  <Application>Microsoft Office PowerPoint</Application>
  <PresentationFormat>On-screen Show (16:9)</PresentationFormat>
  <Paragraphs>265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Lakmini Abeywardhana</cp:lastModifiedBy>
  <cp:revision>1</cp:revision>
  <dcterms:created xsi:type="dcterms:W3CDTF">2026-08-09T16:48:54Z</dcterms:created>
  <dcterms:modified xsi:type="dcterms:W3CDTF">2026-08-09T17:02:29Z</dcterms:modified>
</cp:coreProperties>
</file>