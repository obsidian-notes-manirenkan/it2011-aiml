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2" r:id="rId7"/>
    <p:sldId id="271" r:id="rId8"/>
    <p:sldId id="270" r:id="rId9"/>
    <p:sldId id="269" r:id="rId10"/>
    <p:sldId id="261" r:id="rId11"/>
    <p:sldId id="274" r:id="rId12"/>
    <p:sldId id="275" r:id="rId13"/>
    <p:sldId id="27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86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session: we will build a Regression Tree from scratch on a housing dataset, working through every split manually.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6 topics we will cover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Trees are the continuous-output sibling of classification trees. The key distinctions: leaf value is a mean, split criterion is variance reduction, and error is MSE/RMSE.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working dataset: 6 houses with Size (sq ft) and number of Rooms as features, Price in $000s as the continuous target. Overall mean price = 291.7, overall variance = 10,972.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Variance Reduction measures how much purer (homogeneous in y) a split makes our data. A VR of 0 means no improvement; we always pick the split that maximises VR.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evaluate "Size ≤ 1500" as a candidate root split. Left group {A,B,C} has mean 200 and var 1667; right group {D,E,F} has mean 383 and var 4022. Weighted variance = 2845, so VR = 8127. We compare this with other candidate thresholds and pick the winner.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evaluate every possible feature-threshold pair. Size ≤ 1500 gives the highest variance reduction of 8127, so it becomes the root split. Rooms-based splits give lower VR on this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right branch {D,E,F}, variance = 4022. The best sub-split is Size ≤ 2150 which isolates D alone (300) on the left and E,F (mean 425) on the right, giving VR = 3889.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tree has depth 2 and 3 leaves. The left branch is a leaf predicting $200k. The right branch splits again at Size ≤ 2150: house D alone predicts $300k; houses E and F together predict $425k.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 new house (2000 sq ft, 4 rooms) through the tree. At root: 2000 &gt; 1500 → right. At right node: 2000 ≤ 2150 → left. Reach the leaf that contains only house D, whose mean = 300. Prediction: $300,000.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Fully grown trees overfit. Two remedies: Pre-pruning stops early using depth or sample count constraints. Post-pruning (cost-complexity) grows first then trims using ccp_alpha. The right tree depth balances bias and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scikit-learn implementation. The DecisionTreeRegressor with max_depth=2 reproduces our worked example exactly. The export_text helper prints the tree rules in a readable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key concepts covered: tree structure, variance reduction splitting criterion, prediction by traversal, pruning to avoid overfitting, and the recommendation to use ensembles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029200" cy="5029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12480" y="-548640"/>
            <a:ext cx="3931920" cy="3931920"/>
          </a:xfrm>
          <a:prstGeom prst="ellipse">
            <a:avLst/>
          </a:prstGeom>
          <a:solidFill>
            <a:srgbClr val="5A9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6217920"/>
            <a:ext cx="274320" cy="274320"/>
          </a:xfrm>
          <a:prstGeom prst="ellipse">
            <a:avLst/>
          </a:prstGeom>
          <a:solidFill>
            <a:srgbClr val="8DBF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6492240"/>
            <a:ext cx="164592" cy="164592"/>
          </a:xfrm>
          <a:prstGeom prst="ellipse">
            <a:avLst/>
          </a:prstGeom>
          <a:solidFill>
            <a:srgbClr val="8DBF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789920" y="5943600"/>
            <a:ext cx="228600" cy="228600"/>
          </a:xfrm>
          <a:prstGeom prst="ellipse">
            <a:avLst/>
          </a:prstGeom>
          <a:solidFill>
            <a:srgbClr val="8DBF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Trees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Worked Example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D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IT2011 · Artificial Intelligence &amp; Machine Learning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07008" y="140817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Regression Tree?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175564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structure, and how it differs from classification trees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31546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309981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44728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— 6 training examples, predict price from size + rooms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48463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07008" y="479145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Criterion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07008" y="513892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Reduction (VR) formula, step-by-step evaluation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280160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46520" y="14630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59168" y="140817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Tree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59168" y="175564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split → left/right branches → leaf predictions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2971800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46520" y="31546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6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59168" y="309981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Predictions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9168" y="344728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 new house through the tree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09360" y="4663440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46520" y="48463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4652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59168" y="479145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&amp; Pruning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59168" y="513892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trees fail; pre/post-pruning, ccp_alpha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Regression Tree?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760720" cy="1005840"/>
          </a:xfrm>
          <a:prstGeom prst="roundRect">
            <a:avLst>
              <a:gd name="adj" fmla="val 7273"/>
            </a:avLst>
          </a:prstGeom>
          <a:solidFill>
            <a:srgbClr val="243B3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394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Predicts a continuous numeric value (not a class label).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5760720" cy="1005840"/>
          </a:xfrm>
          <a:prstGeom prst="roundRect">
            <a:avLst>
              <a:gd name="adj" fmla="val 7273"/>
            </a:avLst>
          </a:prstGeom>
          <a:solidFill>
            <a:srgbClr val="243B3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5394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Recursively splits the feature space into rectangular regions.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5760720" cy="1005840"/>
          </a:xfrm>
          <a:prstGeom prst="roundRect">
            <a:avLst>
              <a:gd name="adj" fmla="val 7273"/>
            </a:avLst>
          </a:prstGeom>
          <a:solidFill>
            <a:srgbClr val="243B3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5394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Each leaf outputs the mean of training samples in that region.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4800600"/>
            <a:ext cx="5760720" cy="1005840"/>
          </a:xfrm>
          <a:prstGeom prst="roundRect">
            <a:avLst>
              <a:gd name="adj" fmla="val 7273"/>
            </a:avLst>
          </a:prstGeom>
          <a:solidFill>
            <a:srgbClr val="243B3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5394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Splits chosen to maximise Variance Reduction — not Gini or Entropy.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92240" y="1234440"/>
            <a:ext cx="5212080" cy="5120640"/>
          </a:xfrm>
          <a:prstGeom prst="roundRect">
            <a:avLst>
              <a:gd name="adj" fmla="val 1429"/>
            </a:avLst>
          </a:prstGeom>
          <a:solidFill>
            <a:srgbClr val="1A2E27"/>
          </a:solidFill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325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D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Classification Tree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2240" y="1801368"/>
            <a:ext cx="5212080" cy="67665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18470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02168" y="18470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21240" y="18470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2487168"/>
            <a:ext cx="5212080" cy="676656"/>
          </a:xfrm>
          <a:prstGeom prst="rect">
            <a:avLst/>
          </a:prstGeom>
          <a:solidFill>
            <a:srgbClr val="243B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25328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02168" y="25328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label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921240" y="25328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value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3172968"/>
            <a:ext cx="5212080" cy="67665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32186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value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02168" y="32186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class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921240" y="32186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3858768"/>
            <a:ext cx="5212080" cy="676656"/>
          </a:xfrm>
          <a:prstGeom prst="rect">
            <a:avLst/>
          </a:prstGeom>
          <a:solidFill>
            <a:srgbClr val="243B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7960" y="39044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metric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02168" y="39044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/ Entropy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921240" y="39044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4544568"/>
            <a:ext cx="5212080" cy="67665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37960" y="45902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measure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02168" y="45902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F1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921240" y="45902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/ RMSE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92240" y="5230368"/>
            <a:ext cx="5212080" cy="676656"/>
          </a:xfrm>
          <a:prstGeom prst="rect">
            <a:avLst/>
          </a:prstGeom>
          <a:solidFill>
            <a:srgbClr val="243B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37960" y="52760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target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02168" y="52760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"Yes" / "No"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921240" y="52760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($)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Dataset: House Price Prediction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37160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20240" y="1143000"/>
            <a:ext cx="182880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2024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(sq ft)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0" y="1143000"/>
            <a:ext cx="155448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0" y="1143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1143000"/>
            <a:ext cx="201168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($000s)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18488"/>
            <a:ext cx="1371600" cy="621792"/>
          </a:xfrm>
          <a:prstGeom prst="rect">
            <a:avLst/>
          </a:prstGeom>
          <a:solidFill>
            <a:srgbClr val="E4EEE0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61848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1618488"/>
            <a:ext cx="1828800" cy="621792"/>
          </a:xfrm>
          <a:prstGeom prst="rect">
            <a:avLst/>
          </a:prstGeom>
          <a:solidFill>
            <a:srgbClr val="E4EEE0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20240" y="16184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1618488"/>
            <a:ext cx="1554480" cy="621792"/>
          </a:xfrm>
          <a:prstGeom prst="rect">
            <a:avLst/>
          </a:prstGeom>
          <a:solidFill>
            <a:srgbClr val="E4EEE0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0" y="161848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0" y="1618488"/>
            <a:ext cx="2011680" cy="621792"/>
          </a:xfrm>
          <a:prstGeom prst="rect">
            <a:avLst/>
          </a:prstGeom>
          <a:solidFill>
            <a:srgbClr val="E4EEE0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161848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258568"/>
            <a:ext cx="13716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2585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920240" y="2258568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920240" y="22585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40480" y="2258568"/>
            <a:ext cx="15544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0" y="225856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0" y="2258568"/>
            <a:ext cx="20116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0" y="225856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2898648"/>
            <a:ext cx="1371600" cy="621792"/>
          </a:xfrm>
          <a:prstGeom prst="rect">
            <a:avLst/>
          </a:prstGeom>
          <a:solidFill>
            <a:srgbClr val="E4EEE0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28986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920240" y="2898648"/>
            <a:ext cx="1828800" cy="621792"/>
          </a:xfrm>
          <a:prstGeom prst="rect">
            <a:avLst/>
          </a:prstGeom>
          <a:solidFill>
            <a:srgbClr val="E4EEE0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920240" y="28986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40480" y="2898648"/>
            <a:ext cx="1554480" cy="621792"/>
          </a:xfrm>
          <a:prstGeom prst="rect">
            <a:avLst/>
          </a:prstGeom>
          <a:solidFill>
            <a:srgbClr val="E4EEE0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0" y="289864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0" y="2898648"/>
            <a:ext cx="2011680" cy="621792"/>
          </a:xfrm>
          <a:prstGeom prst="rect">
            <a:avLst/>
          </a:prstGeom>
          <a:solidFill>
            <a:srgbClr val="E4EEE0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0" y="28986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3538728"/>
            <a:ext cx="13716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353872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920240" y="3538728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920240" y="353872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840480" y="3538728"/>
            <a:ext cx="15544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840480" y="353872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0" y="3538728"/>
            <a:ext cx="20116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0" y="353872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4178808"/>
            <a:ext cx="1371600" cy="621792"/>
          </a:xfrm>
          <a:prstGeom prst="rect">
            <a:avLst/>
          </a:prstGeom>
          <a:solidFill>
            <a:srgbClr val="E4EEE0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417880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920240" y="4178808"/>
            <a:ext cx="1828800" cy="621792"/>
          </a:xfrm>
          <a:prstGeom prst="rect">
            <a:avLst/>
          </a:prstGeom>
          <a:solidFill>
            <a:srgbClr val="E4EEE0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920240" y="41788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840480" y="4178808"/>
            <a:ext cx="1554480" cy="621792"/>
          </a:xfrm>
          <a:prstGeom prst="rect">
            <a:avLst/>
          </a:prstGeom>
          <a:solidFill>
            <a:srgbClr val="E4EEE0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40480" y="417880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486400" y="4178808"/>
            <a:ext cx="2011680" cy="621792"/>
          </a:xfrm>
          <a:prstGeom prst="rect">
            <a:avLst/>
          </a:prstGeom>
          <a:solidFill>
            <a:srgbClr val="E4EEE0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486400" y="417880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57200" y="4818888"/>
            <a:ext cx="13716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7200" y="481888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1920240" y="4818888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920240" y="48188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840480" y="4818888"/>
            <a:ext cx="15544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840480" y="481888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5486400" y="4818888"/>
            <a:ext cx="20116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B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486400" y="481888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1300" dirty="0"/>
          </a:p>
        </p:txBody>
      </p:sp>
      <p:sp>
        <p:nvSpPr>
          <p:cNvPr id="100" name="StatBox100"/>
          <p:cNvSpPr/>
          <p:nvPr/>
        </p:nvSpPr>
        <p:spPr>
          <a:xfrm>
            <a:off x="7640640" y="1143000"/>
            <a:ext cx="2100000" cy="68580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tatTxt101"/>
          <p:cNvSpPr/>
          <p:nvPr/>
        </p:nvSpPr>
        <p:spPr>
          <a:xfrm>
            <a:off x="7640640" y="1143000"/>
            <a:ext cx="21000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8DBF3F"/>
                </a:solidFill>
                <a:latin typeface="Cambria"/>
              </a:rPr>
              <a:t>6  training examples</a:t>
            </a:r>
          </a:p>
        </p:txBody>
      </p:sp>
      <p:sp>
        <p:nvSpPr>
          <p:cNvPr id="102" name="StatBox102"/>
          <p:cNvSpPr/>
          <p:nvPr/>
        </p:nvSpPr>
        <p:spPr>
          <a:xfrm>
            <a:off x="9900640" y="1143000"/>
            <a:ext cx="2100000" cy="68580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tatTxt103"/>
          <p:cNvSpPr/>
          <p:nvPr/>
        </p:nvSpPr>
        <p:spPr>
          <a:xfrm>
            <a:off x="9900640" y="1143000"/>
            <a:ext cx="21000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8DBF3F"/>
                </a:solidFill>
                <a:latin typeface="Cambria"/>
              </a:rPr>
              <a:t>2  features  (Size, Rooms)</a:t>
            </a:r>
          </a:p>
        </p:txBody>
      </p:sp>
      <p:sp>
        <p:nvSpPr>
          <p:cNvPr id="104" name="HdrBox104"/>
          <p:cNvSpPr/>
          <p:nvPr/>
        </p:nvSpPr>
        <p:spPr>
          <a:xfrm>
            <a:off x="7640640" y="1948800"/>
            <a:ext cx="4460160" cy="432000"/>
          </a:xfrm>
          <a:prstGeom prst="roundRect">
            <a:avLst>
              <a:gd name="adj" fmla="val 5000"/>
            </a:avLst>
          </a:prstGeom>
          <a:solidFill>
            <a:srgbClr val="1B3A1C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HdrTxt105"/>
          <p:cNvSpPr/>
          <p:nvPr/>
        </p:nvSpPr>
        <p:spPr>
          <a:xfrm>
            <a:off x="7640640" y="1948800"/>
            <a:ext cx="4460160" cy="432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/>
              </a:rPr>
              <a:t>How are mean and overall </a:t>
            </a:r>
            <a:r>
              <a:rPr lang="en-US" sz="1400" b="1" dirty="0" err="1">
                <a:solidFill>
                  <a:srgbClr val="FFFFFF"/>
                </a:solidFill>
                <a:latin typeface="Cambria"/>
              </a:rPr>
              <a:t>varinace</a:t>
            </a:r>
            <a:r>
              <a:rPr lang="en-US" sz="1400" b="1" dirty="0">
                <a:solidFill>
                  <a:srgbClr val="FFFFFF"/>
                </a:solidFill>
                <a:latin typeface="Cambria"/>
              </a:rPr>
              <a:t> calculated?</a:t>
            </a:r>
          </a:p>
        </p:txBody>
      </p:sp>
      <p:sp>
        <p:nvSpPr>
          <p:cNvPr id="106" name="MeanBox106"/>
          <p:cNvSpPr/>
          <p:nvPr/>
        </p:nvSpPr>
        <p:spPr>
          <a:xfrm>
            <a:off x="7640640" y="2480800"/>
            <a:ext cx="4460160" cy="23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5A9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MeanTxt107"/>
          <p:cNvSpPr/>
          <p:nvPr/>
        </p:nvSpPr>
        <p:spPr>
          <a:xfrm>
            <a:off x="7732080" y="2572240"/>
            <a:ext cx="4277280" cy="2167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2C5F2D"/>
                </a:solidFill>
                <a:latin typeface="Cambria"/>
              </a:rPr>
              <a:t>Mean Price  ȳ = 291.7</a:t>
            </a:r>
          </a:p>
          <a:p>
            <a:pPr algn="l">
              <a:buNone/>
            </a:pPr>
            <a:r>
              <a:rPr lang="en-US" sz="1100" b="0" dirty="0">
                <a:solidFill>
                  <a:srgbClr val="4A6658"/>
                </a:solidFill>
                <a:latin typeface="Calibri"/>
              </a:rPr>
              <a:t>Formula:  ȳ = Sum of all prices ÷ n</a:t>
            </a:r>
          </a:p>
          <a:p>
            <a:pPr>
              <a:spcBef>
                <a:spcPts val="200"/>
              </a:spcBef>
              <a:buNone/>
            </a:pPr>
            <a:endParaRPr lang="en-US" dirty="0"/>
          </a:p>
          <a:p>
            <a:pPr algn="l">
              <a:buNone/>
            </a:pPr>
            <a:r>
              <a:rPr lang="en-US" sz="1150" b="0" dirty="0">
                <a:solidFill>
                  <a:srgbClr val="1B3A1C"/>
                </a:solidFill>
                <a:latin typeface="Calibri"/>
              </a:rPr>
              <a:t>150 + 200 + 250 + 300 + 400 + 450  =  1,750</a:t>
            </a:r>
          </a:p>
          <a:p>
            <a:pPr algn="l">
              <a:buNone/>
            </a:pPr>
            <a:r>
              <a:rPr lang="en-US" sz="1150" b="0" dirty="0">
                <a:solidFill>
                  <a:srgbClr val="1B3A1C"/>
                </a:solidFill>
                <a:latin typeface="Calibri"/>
              </a:rPr>
              <a:t>n  =  6  houses</a:t>
            </a:r>
          </a:p>
          <a:p>
            <a:pPr>
              <a:spcBef>
                <a:spcPts val="200"/>
              </a:spcBef>
              <a:buNone/>
            </a:pPr>
            <a:endParaRPr lang="en-US" dirty="0"/>
          </a:p>
          <a:p>
            <a:pPr algn="l">
              <a:buNone/>
            </a:pPr>
            <a:r>
              <a:rPr lang="en-US" sz="1250" b="1" dirty="0">
                <a:solidFill>
                  <a:srgbClr val="2C5F2D"/>
                </a:solidFill>
                <a:latin typeface="Cambria"/>
              </a:rPr>
              <a:t>ȳ  =  1,750 ÷ 6  =  291.7  ($000s)  ✓</a:t>
            </a:r>
          </a:p>
        </p:txBody>
      </p:sp>
      <p:sp>
        <p:nvSpPr>
          <p:cNvPr id="108" name="VarBox108"/>
          <p:cNvSpPr/>
          <p:nvPr/>
        </p:nvSpPr>
        <p:spPr>
          <a:xfrm>
            <a:off x="7640640" y="4950800"/>
            <a:ext cx="4460160" cy="1707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5A9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VarTxt109"/>
          <p:cNvSpPr/>
          <p:nvPr/>
        </p:nvSpPr>
        <p:spPr>
          <a:xfrm>
            <a:off x="7732080" y="5042240"/>
            <a:ext cx="4277280" cy="152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buNone/>
            </a:pPr>
            <a:r>
              <a:rPr lang="en-US" sz="800" b="1" dirty="0">
                <a:solidFill>
                  <a:srgbClr val="2C5F2D"/>
                </a:solidFill>
                <a:latin typeface="Cambria"/>
              </a:rPr>
              <a:t>Overall Variance  =  10,972</a:t>
            </a:r>
          </a:p>
          <a:p>
            <a:pPr algn="l">
              <a:buNone/>
            </a:pPr>
            <a:r>
              <a:rPr lang="en-US" sz="600" b="0" dirty="0">
                <a:solidFill>
                  <a:srgbClr val="4A6658"/>
                </a:solidFill>
                <a:latin typeface="Calibri"/>
              </a:rPr>
              <a:t>Var(S) = (1/n) Σ (yᵢ − ȳ)²   where  ȳ = 291.7</a:t>
            </a:r>
          </a:p>
          <a:p>
            <a:pPr>
              <a:spcBef>
                <a:spcPts val="200"/>
              </a:spcBef>
              <a:buNone/>
            </a:pPr>
            <a:endParaRPr lang="en-US" sz="1000" dirty="0"/>
          </a:p>
          <a:p>
            <a:pPr algn="l">
              <a:buNone/>
            </a:pPr>
            <a:r>
              <a:rPr lang="en-US" sz="800" b="0" dirty="0">
                <a:solidFill>
                  <a:srgbClr val="1B3A1C"/>
                </a:solidFill>
                <a:latin typeface="Calibri"/>
              </a:rPr>
              <a:t>A: (150−291.7)² = (−141.7)² = 20,079</a:t>
            </a:r>
          </a:p>
          <a:p>
            <a:pPr algn="l">
              <a:buNone/>
            </a:pPr>
            <a:r>
              <a:rPr lang="en-US" sz="800" b="0" dirty="0">
                <a:solidFill>
                  <a:srgbClr val="1B3A1C"/>
                </a:solidFill>
                <a:latin typeface="Calibri"/>
              </a:rPr>
              <a:t>B: (200−291.7)² = ( −91.7)² =  8,409</a:t>
            </a:r>
          </a:p>
          <a:p>
            <a:pPr algn="l">
              <a:buNone/>
            </a:pPr>
            <a:r>
              <a:rPr lang="en-US" sz="800" b="0" dirty="0">
                <a:solidFill>
                  <a:srgbClr val="1B3A1C"/>
                </a:solidFill>
                <a:latin typeface="Calibri"/>
              </a:rPr>
              <a:t>C: (250−291.7)² = ( −41.7)² =  1,739</a:t>
            </a:r>
          </a:p>
          <a:p>
            <a:pPr algn="l">
              <a:buNone/>
            </a:pPr>
            <a:r>
              <a:rPr lang="en-US" sz="800" b="0" dirty="0">
                <a:solidFill>
                  <a:srgbClr val="1B3A1C"/>
                </a:solidFill>
                <a:latin typeface="Calibri"/>
              </a:rPr>
              <a:t>D: (300−291.7)² = (  +8.3)² =     69</a:t>
            </a:r>
          </a:p>
          <a:p>
            <a:pPr algn="l">
              <a:buNone/>
            </a:pPr>
            <a:r>
              <a:rPr lang="en-US" sz="800" b="0" dirty="0">
                <a:solidFill>
                  <a:srgbClr val="1B3A1C"/>
                </a:solidFill>
                <a:latin typeface="Calibri"/>
              </a:rPr>
              <a:t>E: (400−291.7)² = (+108.3)² = 11,729</a:t>
            </a:r>
          </a:p>
          <a:p>
            <a:pPr algn="l">
              <a:buNone/>
            </a:pPr>
            <a:r>
              <a:rPr lang="en-US" sz="800" b="0" dirty="0">
                <a:solidFill>
                  <a:srgbClr val="1B3A1C"/>
                </a:solidFill>
                <a:latin typeface="Calibri"/>
              </a:rPr>
              <a:t>F: (450−291.7)² = (+158.3)² = 25,059</a:t>
            </a:r>
          </a:p>
          <a:p>
            <a:pPr>
              <a:spcBef>
                <a:spcPts val="200"/>
              </a:spcBef>
              <a:buNone/>
            </a:pPr>
            <a:endParaRPr lang="en-US" sz="1000" dirty="0"/>
          </a:p>
          <a:p>
            <a:pPr algn="l">
              <a:buNone/>
            </a:pPr>
            <a:r>
              <a:rPr lang="en-US" sz="800" b="1" dirty="0">
                <a:solidFill>
                  <a:srgbClr val="2C5F2D"/>
                </a:solidFill>
                <a:latin typeface="Cambria"/>
              </a:rPr>
              <a:t>Sum = 67,084    →    Var = 67,084 ÷ 6  =  11,181 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Criterion: Variance Reduction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10332720" cy="109728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2801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= Var(Parent) − [ (|L| / N) × Var(Left) + (|R| / N) × Var(Right) ]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5577840" cy="1737360"/>
          </a:xfrm>
          <a:prstGeom prst="roundRect">
            <a:avLst>
              <a:gd name="adj" fmla="val 4211"/>
            </a:avLst>
          </a:prstGeom>
          <a:solidFill>
            <a:srgbClr val="243B3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D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Var(Parent)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of y in the current node before splitting.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560320"/>
            <a:ext cx="5577840" cy="1737360"/>
          </a:xfrm>
          <a:prstGeom prst="roundRect">
            <a:avLst>
              <a:gd name="adj" fmla="val 4211"/>
            </a:avLst>
          </a:prstGeom>
          <a:solidFill>
            <a:srgbClr val="243B3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26974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D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|L| / 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31546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samples going to the LEFT child node.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5577840" cy="1737360"/>
          </a:xfrm>
          <a:prstGeom prst="roundRect">
            <a:avLst>
              <a:gd name="adj" fmla="val 4211"/>
            </a:avLst>
          </a:prstGeom>
          <a:solidFill>
            <a:srgbClr val="243B3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D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Var(Left)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of y in the left child after the split.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4480560"/>
            <a:ext cx="5577840" cy="1737360"/>
          </a:xfrm>
          <a:prstGeom prst="roundRect">
            <a:avLst>
              <a:gd name="adj" fmla="val 4211"/>
            </a:avLst>
          </a:prstGeom>
          <a:solidFill>
            <a:srgbClr val="243B3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4617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D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VR = Better Split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50749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always choose the feature &amp; threshold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maximise VR at each node.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88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Cambria"/>
              </a:rPr>
              <a:t>Step 1: How to Calculate the Mean  (ȳ)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028700"/>
            <a:ext cx="11887200" cy="5486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Autofit/>
          </a:bodyPr>
          <a:lstStyle/>
          <a:p>
            <a:pPr marL="228600" indent="-228600">
              <a:spcBef>
                <a:spcPts val="1800"/>
              </a:spcBef>
              <a:buNone/>
            </a:pPr>
            <a:r>
              <a:rPr lang="en-US" sz="1400" b="1" dirty="0">
                <a:solidFill>
                  <a:srgbClr val="8DBF3F"/>
                </a:solidFill>
                <a:latin typeface="Cambria"/>
              </a:rPr>
              <a:t>What is the Mean?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Calibri"/>
              </a:rPr>
              <a:t>The mean ȳ is the average of all target values y in a node.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Calibri"/>
              </a:rPr>
              <a:t>Formula:  ȳ = Sum of all y values  ÷  number of samples  =  Σyᵢ / n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Calibri"/>
              </a:rPr>
              <a:t>The mean is used in the variance formula — it is the "centre" we measure spread from.</a:t>
            </a:r>
          </a:p>
          <a:p>
            <a:pPr>
              <a:spcBef>
                <a:spcPts val="300"/>
              </a:spcBef>
              <a:buNone/>
            </a:pPr>
            <a:endParaRPr lang="en-US" sz="1200" dirty="0"/>
          </a:p>
          <a:p>
            <a:pPr marL="228600" indent="-228600">
              <a:spcBef>
                <a:spcPts val="1800"/>
              </a:spcBef>
              <a:buNone/>
            </a:pPr>
            <a:r>
              <a:rPr lang="en-US" sz="1400" b="1" dirty="0">
                <a:solidFill>
                  <a:srgbClr val="8DBF3F"/>
                </a:solidFill>
                <a:latin typeface="Cambria"/>
              </a:rPr>
              <a:t>Overall Mean — All 6 Houses  (y = 150, 200, 250, 300, 400, 450)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Calibri"/>
              </a:rPr>
              <a:t>Step 1 — Add all prices:    150 + 200 + 250 + 300 + 400 + 450  =  1,750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Calibri"/>
              </a:rPr>
              <a:t>Step 2 — Divide by n = 6:  1,750 ÷ 6  =  291.7  ($000s)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Calibri"/>
              </a:rPr>
              <a:t>So  ȳ = 291.7  — this is the overall mean price for the parent node.</a:t>
            </a:r>
          </a:p>
          <a:p>
            <a:pPr>
              <a:spcBef>
                <a:spcPts val="300"/>
              </a:spcBef>
              <a:buNone/>
            </a:pPr>
            <a:endParaRPr lang="en-US" sz="1200" dirty="0"/>
          </a:p>
          <a:p>
            <a:pPr marL="228600" indent="-228600">
              <a:spcBef>
                <a:spcPts val="1800"/>
              </a:spcBef>
              <a:buNone/>
            </a:pPr>
            <a:r>
              <a:rPr lang="en-US" sz="1400" b="1" dirty="0">
                <a:solidFill>
                  <a:srgbClr val="22D3EE"/>
                </a:solidFill>
                <a:latin typeface="Cambria"/>
              </a:rPr>
              <a:t>Left Group Mean — Houses A, B, C  (y = 150, 200, 250)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Calibri"/>
              </a:rPr>
              <a:t>Step 1 — Add prices:    150 + 200 + 250  =  600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Calibri"/>
              </a:rPr>
              <a:t>Step 2 — Divide by n = 3:   600 ÷ 3  =  200  ($000s)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Calibri"/>
              </a:rPr>
              <a:t>So  ȳ_L = 200  — the leaf prediction for houses with Size ≤ 1500 sq ft.</a:t>
            </a:r>
          </a:p>
          <a:p>
            <a:pPr>
              <a:spcBef>
                <a:spcPts val="300"/>
              </a:spcBef>
              <a:buNone/>
            </a:pPr>
            <a:endParaRPr lang="en-US" sz="1200" dirty="0"/>
          </a:p>
          <a:p>
            <a:pPr marL="228600" indent="-228600">
              <a:spcBef>
                <a:spcPts val="1800"/>
              </a:spcBef>
              <a:buNone/>
            </a:pPr>
            <a:r>
              <a:rPr lang="en-US" sz="1400" b="1" dirty="0">
                <a:solidFill>
                  <a:srgbClr val="F4A233"/>
                </a:solidFill>
                <a:latin typeface="Cambria"/>
              </a:rPr>
              <a:t>Right Group Mean — Houses D, E, F  (y = 300, 400, 450)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Calibri"/>
              </a:rPr>
              <a:t>Step 1 — Add prices:    300 + 400 + 450  =  1,150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Calibri"/>
              </a:rPr>
              <a:t>Step 2 — Divide by n = 3:   1,150 ÷ 3  =  383.3  ($000s)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Calibri"/>
              </a:rPr>
              <a:t>So  ȳ_R = 383.3  — the leaf prediction for houses with Size &gt; 1500 sq ft.</a:t>
            </a:r>
          </a:p>
          <a:p>
            <a:pPr>
              <a:spcBef>
                <a:spcPts val="300"/>
              </a:spcBef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88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Cambria"/>
              </a:rPr>
              <a:t>Step 2: Calculating the Overall Variance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028700"/>
            <a:ext cx="11887200" cy="5486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Autofit/>
          </a:bodyPr>
          <a:lstStyle/>
          <a:p>
            <a:pPr marL="228600" indent="-228600">
              <a:spcBef>
                <a:spcPts val="1800"/>
              </a:spcBef>
              <a:buNone/>
            </a:pPr>
            <a:r>
              <a:rPr lang="en-US" sz="1600" b="1" dirty="0">
                <a:solidFill>
                  <a:srgbClr val="8DBF3F"/>
                </a:solidFill>
                <a:latin typeface="Cambria"/>
              </a:rPr>
              <a:t>Variance Formula:   Var(S) = (1/n) × Σ (yᵢ − ȳ)²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Step A:  Find the mean ȳ first  (we already have ȳ = 291.7)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Step B:  Subtract the mean from each value  →  get the deviation (yᵢ − ȳ)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Step C:  Square each deviation  →  (yᵢ − ȳ)²    (removes negatives, penalises large gaps)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Step D:  Sum all squared deviations,  then divide by n</a:t>
            </a:r>
          </a:p>
          <a:p>
            <a:pPr>
              <a:spcBef>
                <a:spcPts val="300"/>
              </a:spcBef>
              <a:buNone/>
            </a:pPr>
            <a:endParaRPr lang="en-US" sz="1400" dirty="0"/>
          </a:p>
          <a:p>
            <a:pPr marL="228600" indent="-228600">
              <a:spcBef>
                <a:spcPts val="1800"/>
              </a:spcBef>
              <a:buNone/>
            </a:pPr>
            <a:r>
              <a:rPr lang="en-US" sz="1600" b="1" dirty="0">
                <a:solidFill>
                  <a:srgbClr val="8DBF3F"/>
                </a:solidFill>
                <a:latin typeface="Cambria"/>
              </a:rPr>
              <a:t>Detailed Calculation for All 6 Houses  (ȳ = 291.7)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House A (y=150):   deviation = 150 − 291.7 = −141.7   →   squared = (−141.7)² = 20,079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House B (y=200):   deviation = 200 − 291.7 =  −91.7   →   squared = ( −91.7)² =  8,409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House C (y=250):   deviation = 250 − 291.7 =  −41.7   →   squared = ( −41.7)² =  1,739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House D (y=300):   deviation = 300 − 291.7 =   +8.3   →   squared = (  +8.3)² =     69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House E (y=400):   deviation = 400 − 291.7 = +108.3   →   squared = (+108.3)² = 11,729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House F (y=450):   deviation = 450 − 291.7 = +158.3   →   squared = (+158.3)² = 25,059</a:t>
            </a:r>
          </a:p>
          <a:p>
            <a:pPr>
              <a:spcBef>
                <a:spcPts val="300"/>
              </a:spcBef>
              <a:buNone/>
            </a:pPr>
            <a:endParaRPr lang="en-US" sz="1400" dirty="0"/>
          </a:p>
          <a:p>
            <a:pPr marL="228600" indent="-228600">
              <a:spcBef>
                <a:spcPts val="1800"/>
              </a:spcBef>
              <a:buNone/>
            </a:pPr>
            <a:r>
              <a:rPr lang="en-US" sz="1600" b="1" dirty="0">
                <a:solidFill>
                  <a:srgbClr val="8DBF3F"/>
                </a:solidFill>
                <a:latin typeface="Cambria"/>
              </a:rPr>
              <a:t>Final Steps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Sum of all squared deviations:   20,079 + 8,409 + 1,739 + 69 + 11,729 + 25,059  =  67,084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Var(Parent) = 67,084 ÷ 6  =  11,181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This means prices deviate from the mean by an average of √11,181 ≈ $106k — very spread out.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Our goal: find a split that gives SMALLER variance in each child  →  more uniform groups.</a:t>
            </a:r>
          </a:p>
          <a:p>
            <a:pPr>
              <a:spcBef>
                <a:spcPts val="300"/>
              </a:spcBef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88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Cambria"/>
              </a:rPr>
              <a:t>Step 3: Variance of Each Child Node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028700"/>
            <a:ext cx="11887200" cy="5486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Autofit/>
          </a:bodyPr>
          <a:lstStyle/>
          <a:p>
            <a:pPr marL="228600" indent="-228600">
              <a:spcBef>
                <a:spcPts val="1800"/>
              </a:spcBef>
              <a:buNone/>
            </a:pPr>
            <a:r>
              <a:rPr lang="en-US" sz="1600" b="1" dirty="0">
                <a:solidFill>
                  <a:srgbClr val="22D3EE"/>
                </a:solidFill>
                <a:latin typeface="Cambria"/>
              </a:rPr>
              <a:t>Left Child — Houses A, B, C  (ȳ_L = 200)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House A (y=150):   deviation = 150 − 200 = −50   →   squared = 2,500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House B (y=200):   deviation = 200 − 200 =   0   →   squared =     0   ← exactly on the mean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House C (y=250):   deviation = 250 − 200 = +50   →   squared = 2,500</a:t>
            </a:r>
          </a:p>
          <a:p>
            <a:pPr>
              <a:spcBef>
                <a:spcPts val="300"/>
              </a:spcBef>
              <a:buNone/>
            </a:pPr>
            <a:endParaRPr lang="en-US" sz="1400" dirty="0"/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Sum = 2,500 + 0 + 2,500  =  5,000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Var(Left)  =  5,000 ÷ 3  =  1,667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Compare with parent: 11,181 → 1,667   Prices now spread only ±$50k around $200k.</a:t>
            </a:r>
          </a:p>
          <a:p>
            <a:pPr>
              <a:spcBef>
                <a:spcPts val="300"/>
              </a:spcBef>
              <a:buNone/>
            </a:pPr>
            <a:endParaRPr lang="en-US" sz="1400" dirty="0"/>
          </a:p>
          <a:p>
            <a:pPr marL="228600" indent="-228600">
              <a:spcBef>
                <a:spcPts val="1800"/>
              </a:spcBef>
              <a:buNone/>
            </a:pPr>
            <a:r>
              <a:rPr lang="en-US" sz="1600" b="1" dirty="0">
                <a:solidFill>
                  <a:srgbClr val="F4A233"/>
                </a:solidFill>
                <a:latin typeface="Cambria"/>
              </a:rPr>
              <a:t>Right Child — Houses D, E, F  (ȳ_R = 383.3)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House D (y=300):   deviation = 300 − 383.3 = −83.3   →   squared = 6,939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House E (y=400):   deviation = 400 − 383.3 = +16.7   →   squared =   279   ← close to mean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House F (y=450):   deviation = 450 − 383.3 = +66.7   →   squared = 4,449</a:t>
            </a:r>
          </a:p>
          <a:p>
            <a:pPr>
              <a:spcBef>
                <a:spcPts val="300"/>
              </a:spcBef>
              <a:buNone/>
            </a:pPr>
            <a:endParaRPr lang="en-US" sz="1400" dirty="0"/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Sum = 6,939 + 279 + 4,449  =  11,667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Var(Right)  =  11,667 ÷ 3  =  3,889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Compare with parent: 11,181 → 3,889   Still less spread, but right group is more varied than left.</a:t>
            </a:r>
          </a:p>
          <a:p>
            <a:pPr>
              <a:spcBef>
                <a:spcPts val="300"/>
              </a:spcBef>
              <a:buNone/>
            </a:pPr>
            <a:endParaRPr lang="en-US" sz="1400" dirty="0"/>
          </a:p>
          <a:p>
            <a:pPr marL="228600" indent="-228600">
              <a:spcBef>
                <a:spcPts val="1800"/>
              </a:spcBef>
              <a:buNone/>
            </a:pPr>
            <a:r>
              <a:rPr lang="en-US" sz="1600" b="1" dirty="0">
                <a:solidFill>
                  <a:srgbClr val="8DBF3F"/>
                </a:solidFill>
                <a:latin typeface="Cambria"/>
              </a:rPr>
              <a:t>Summary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Var(Parent) = 11,181    Var(Left) = 1,667    Var(Right) = 3,889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Both children are more homogeneous than the parent  →  the split is doing useful work.</a:t>
            </a:r>
          </a:p>
          <a:p>
            <a:pPr>
              <a:spcBef>
                <a:spcPts val="300"/>
              </a:spcBef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88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Cambria"/>
              </a:rPr>
              <a:t>Step 4: Computing the Full Variance Reduction (VR)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028700"/>
            <a:ext cx="11887200" cy="5486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Autofit/>
          </a:bodyPr>
          <a:lstStyle/>
          <a:p>
            <a:pPr marL="228600" indent="-228600">
              <a:spcBef>
                <a:spcPts val="1800"/>
              </a:spcBef>
              <a:buNone/>
            </a:pPr>
            <a:r>
              <a:rPr lang="en-US" sz="1050" b="1" dirty="0">
                <a:solidFill>
                  <a:srgbClr val="8DBF3F"/>
                </a:solidFill>
                <a:latin typeface="Cambria"/>
              </a:rPr>
              <a:t>Recall the Formula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900" b="0" dirty="0">
                <a:solidFill>
                  <a:srgbClr val="FFFFFF"/>
                </a:solidFill>
                <a:latin typeface="Calibri"/>
              </a:rPr>
              <a:t>VR = Var(Parent)  −  [ (|L|/N) × Var(Left)  +  (|R|/N) × Var(Right) ]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900" b="0" dirty="0">
                <a:solidFill>
                  <a:srgbClr val="FFFFFF"/>
                </a:solidFill>
                <a:latin typeface="Calibri"/>
              </a:rPr>
              <a:t>The bracket is the weighted average variance of the two children — their average spread, weighted by size.</a:t>
            </a:r>
          </a:p>
          <a:p>
            <a:pPr>
              <a:spcBef>
                <a:spcPts val="300"/>
              </a:spcBef>
              <a:buNone/>
            </a:pPr>
            <a:endParaRPr lang="en-US" sz="1000" dirty="0"/>
          </a:p>
          <a:p>
            <a:pPr marL="228600" indent="-228600">
              <a:spcBef>
                <a:spcPts val="1800"/>
              </a:spcBef>
              <a:buNone/>
            </a:pPr>
            <a:r>
              <a:rPr lang="en-US" sz="1050" b="1" dirty="0">
                <a:solidFill>
                  <a:srgbClr val="8DBF3F"/>
                </a:solidFill>
                <a:latin typeface="Cambria"/>
              </a:rPr>
              <a:t>Plug In Values  (Split: Size ≤ 1500)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900" b="0" dirty="0">
                <a:solidFill>
                  <a:srgbClr val="FFFFFF"/>
                </a:solidFill>
                <a:latin typeface="Calibri"/>
              </a:rPr>
              <a:t>Var(Parent)  =  11,181      (computed in Step 2)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900" b="0" dirty="0">
                <a:solidFill>
                  <a:srgbClr val="FFFFFF"/>
                </a:solidFill>
                <a:latin typeface="Calibri"/>
              </a:rPr>
              <a:t>|L| = 3  houses in left,    |R| = 3  houses in right,    N = 6  total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900" b="0" dirty="0">
                <a:solidFill>
                  <a:srgbClr val="FFFFFF"/>
                </a:solidFill>
                <a:latin typeface="Calibri"/>
              </a:rPr>
              <a:t>Weight for left:   |L|/N  =  3/6  =  0.5       Weight for right:   |R|/N  =  3/6  =  0.5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900" b="0" dirty="0">
                <a:solidFill>
                  <a:srgbClr val="FFFFFF"/>
                </a:solidFill>
                <a:latin typeface="Calibri"/>
              </a:rPr>
              <a:t>Var(Left) = 1,667   (computed in Step 3)        Var(Right) = 3,889   (computed in Step 3)</a:t>
            </a:r>
          </a:p>
          <a:p>
            <a:pPr>
              <a:spcBef>
                <a:spcPts val="300"/>
              </a:spcBef>
              <a:buNone/>
            </a:pPr>
            <a:endParaRPr lang="en-US" sz="1000" dirty="0"/>
          </a:p>
          <a:p>
            <a:pPr marL="228600" indent="-228600">
              <a:spcBef>
                <a:spcPts val="1800"/>
              </a:spcBef>
              <a:buNone/>
            </a:pPr>
            <a:r>
              <a:rPr lang="en-US" sz="1050" b="1" dirty="0">
                <a:solidFill>
                  <a:srgbClr val="8DBF3F"/>
                </a:solidFill>
                <a:latin typeface="Cambria"/>
              </a:rPr>
              <a:t>Line-by-Line Calculation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900" b="0" dirty="0">
                <a:solidFill>
                  <a:srgbClr val="FFFFFF"/>
                </a:solidFill>
                <a:latin typeface="Calibri"/>
              </a:rPr>
              <a:t>Weighted left:     0.5  ×  1,667  =    833.5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900" b="0" dirty="0">
                <a:solidFill>
                  <a:srgbClr val="FFFFFF"/>
                </a:solidFill>
                <a:latin typeface="Calibri"/>
              </a:rPr>
              <a:t>Weighted right:    0.5  ×  3,889  =  1,944.5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900" b="0" dirty="0">
                <a:solidFill>
                  <a:srgbClr val="FFFFFF"/>
                </a:solidFill>
                <a:latin typeface="Calibri"/>
              </a:rPr>
              <a:t>Weighted total:    833.5  +  1,944.5  =  2,778       ← average child variance after split</a:t>
            </a:r>
          </a:p>
          <a:p>
            <a:pPr>
              <a:spcBef>
                <a:spcPts val="300"/>
              </a:spcBef>
              <a:buNone/>
            </a:pPr>
            <a:endParaRPr lang="en-US" sz="1000" dirty="0"/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900" b="0" dirty="0">
                <a:solidFill>
                  <a:srgbClr val="FFFFFF"/>
                </a:solidFill>
                <a:latin typeface="Calibri"/>
              </a:rPr>
              <a:t>VR  =  11,181  −  2,778  =  v</a:t>
            </a:r>
          </a:p>
          <a:p>
            <a:pPr>
              <a:spcBef>
                <a:spcPts val="300"/>
              </a:spcBef>
              <a:buNone/>
            </a:pPr>
            <a:endParaRPr lang="en-US" sz="1000" dirty="0"/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900" b="0" dirty="0">
                <a:solidFill>
                  <a:srgbClr val="FFFFFF"/>
                </a:solidFill>
                <a:latin typeface="Calibri"/>
              </a:rPr>
              <a:t>Meaning:  this split removed 8,403 out of 11,181 units of variance  (≈ 75% reduction).</a:t>
            </a:r>
          </a:p>
          <a:p>
            <a:pPr>
              <a:spcBef>
                <a:spcPts val="300"/>
              </a:spcBef>
              <a:buNone/>
            </a:pPr>
            <a:endParaRPr lang="en-US" sz="1000" dirty="0"/>
          </a:p>
          <a:p>
            <a:pPr marL="228600" indent="-228600">
              <a:spcBef>
                <a:spcPts val="1800"/>
              </a:spcBef>
              <a:buNone/>
            </a:pPr>
            <a:r>
              <a:rPr lang="en-US" sz="1050" b="1" dirty="0">
                <a:solidFill>
                  <a:srgbClr val="8DBF3F"/>
                </a:solidFill>
                <a:latin typeface="Cambria"/>
              </a:rPr>
              <a:t>What Happens Next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900" b="0" dirty="0">
                <a:solidFill>
                  <a:srgbClr val="FFFFFF"/>
                </a:solidFill>
                <a:latin typeface="Calibri"/>
              </a:rPr>
              <a:t>Repeat for every other candidate split (e.g. Size ≤ 850, Size ≤ 1250, Rooms ≤ 3, etc.).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900" b="0" dirty="0">
                <a:solidFill>
                  <a:srgbClr val="FFFFFF"/>
                </a:solidFill>
                <a:latin typeface="Calibri"/>
              </a:rPr>
              <a:t>Pick the split with the HIGHEST VR  →  Size ≤ 1500 wins → becomes the Root Node split.</a:t>
            </a:r>
          </a:p>
          <a:p>
            <a:pPr marL="685800" indent="-342900">
              <a:spcBef>
                <a:spcPts val="350"/>
              </a:spcBef>
              <a:buFont typeface="Arial"/>
              <a:buChar char="•"/>
            </a:pPr>
            <a:r>
              <a:rPr lang="en-US" sz="900" b="0" dirty="0">
                <a:solidFill>
                  <a:srgbClr val="FFFFFF"/>
                </a:solidFill>
                <a:latin typeface="Calibri"/>
              </a:rPr>
              <a:t>Then recurse: apply the same VR calculation inside each child to grow the tree deeper.</a:t>
            </a:r>
          </a:p>
          <a:p>
            <a:pPr>
              <a:spcBef>
                <a:spcPts val="300"/>
              </a:spcBef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Evaluate Root Split  —  Size ≤ 1500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557784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Try: Size ≤ 1500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394960" cy="822960"/>
          </a:xfrm>
          <a:prstGeom prst="rect">
            <a:avLst/>
          </a:prstGeom>
          <a:solidFill>
            <a:srgbClr val="E8F3E0"/>
          </a:solidFill>
          <a:ln w="19050">
            <a:solidFill>
              <a:srgbClr val="C5D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8653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Var(Parent)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22128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Var({150,200,250,300,400,450}) = 11,181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5394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5D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7797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 (≤1500) = {A,B,C}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31272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150, 200, 250  →  ȳ_L = 200,  Var_L = 1,667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657600"/>
            <a:ext cx="5394960" cy="822960"/>
          </a:xfrm>
          <a:prstGeom prst="rect">
            <a:avLst/>
          </a:prstGeom>
          <a:solidFill>
            <a:srgbClr val="E8F3E0"/>
          </a:solidFill>
          <a:ln w="19050">
            <a:solidFill>
              <a:srgbClr val="C5D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6941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(&gt;1500) = {D,E,F}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40416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300, 400, 450  →  ȳ_R = 383,  Var_R = 3889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572000"/>
            <a:ext cx="5394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5D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46085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variance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49560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(3/6)×1,667 + (3/6)×4,022 = 2,845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5486400"/>
            <a:ext cx="5394960" cy="822960"/>
          </a:xfrm>
          <a:prstGeom prst="rect">
            <a:avLst/>
          </a:prstGeom>
          <a:solidFill>
            <a:srgbClr val="E8F3E0"/>
          </a:solidFill>
          <a:ln w="19050">
            <a:solidFill>
              <a:srgbClr val="C5D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55229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Reduction (VR)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58704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11,181 − 2,778   =  8,403 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28016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1325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  (All 6 houses)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ȳ = 291.7   Var = 10,972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0" y="2560320"/>
            <a:ext cx="2011680" cy="685800"/>
          </a:xfrm>
          <a:prstGeom prst="diamond">
            <a:avLst/>
          </a:prstGeom>
          <a:solidFill>
            <a:srgbClr val="F4A233"/>
          </a:solidFill>
          <a:ln w="19050">
            <a:solidFill>
              <a:srgbClr val="1B2D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46720" y="2560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≤ 1500?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52560" y="2011680"/>
            <a:ext cx="9144" cy="54864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H="1">
            <a:off x="6858000" y="3246120"/>
            <a:ext cx="1280160" cy="685800"/>
          </a:xfrm>
          <a:prstGeom prst="line">
            <a:avLst/>
          </a:prstGeom>
          <a:noFill/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92240" y="39319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E4EEE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37960" y="3977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 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ȳ = 200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= 1,667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0" y="3566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58400" y="3246120"/>
            <a:ext cx="640080" cy="685800"/>
          </a:xfrm>
          <a:prstGeom prst="line">
            <a:avLst/>
          </a:prstGeom>
          <a:noFill/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509760" y="393192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E4EEE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555480" y="3977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 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D, E, F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ȳ = 383</a:t>
            </a:r>
            <a:endParaRPr lang="en-US" sz="1050" dirty="0"/>
          </a:p>
          <a:p>
            <a:pPr algn="ctr"/>
            <a:r>
              <a:rPr lang="en-US" sz="105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= 3889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607040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51663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2C5F2D"/>
          </a:solidFill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92240" y="5230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(Size ≤ 1500)  =  8,127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92240" y="565099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all other possible splits to pick the best root split.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Comparing All Candidate Splits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3383280" cy="47548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Split Candidate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931920" y="1143000"/>
            <a:ext cx="1737360" cy="47548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31920" y="1143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Var(Parent)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852160" y="1143000"/>
            <a:ext cx="1920240" cy="47548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852160" y="11430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Variance Reduction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955280" y="1143000"/>
            <a:ext cx="3931920" cy="47548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55280" y="11430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Note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1636776"/>
            <a:ext cx="3383280" cy="585216"/>
          </a:xfrm>
          <a:prstGeom prst="rect">
            <a:avLst/>
          </a:prstGeom>
          <a:solidFill>
            <a:srgbClr val="243B30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163677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 ≤ 850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931920" y="1636776"/>
            <a:ext cx="1737360" cy="585216"/>
          </a:xfrm>
          <a:prstGeom prst="rect">
            <a:avLst/>
          </a:prstGeom>
          <a:solidFill>
            <a:srgbClr val="243B30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77640" y="1636776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11,181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852160" y="1636776"/>
            <a:ext cx="1920240" cy="585216"/>
          </a:xfrm>
          <a:prstGeom prst="rect">
            <a:avLst/>
          </a:prstGeom>
          <a:solidFill>
            <a:srgbClr val="243B30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97880" y="163677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4,014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55280" y="1636776"/>
            <a:ext cx="3931920" cy="585216"/>
          </a:xfrm>
          <a:prstGeom prst="rect">
            <a:avLst/>
          </a:prstGeom>
          <a:solidFill>
            <a:srgbClr val="243B30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Only house A (150) goes left — tiny left group, large right variance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001000" y="1636776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2240280"/>
            <a:ext cx="338328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224028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 ≤ 1250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31920" y="2240280"/>
            <a:ext cx="173736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977640" y="224028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11,181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52160" y="2240280"/>
            <a:ext cx="192024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97880" y="224028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6,806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55280" y="2240280"/>
            <a:ext cx="393192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Houses A,B left; C,D,E,F right</a:t>
            </a:r>
          </a:p>
        </p:txBody>
      </p:sp>
      <p:sp>
        <p:nvSpPr>
          <p:cNvPr id="26" name="Text 24"/>
          <p:cNvSpPr/>
          <p:nvPr/>
        </p:nvSpPr>
        <p:spPr>
          <a:xfrm>
            <a:off x="8001000" y="224028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65760" y="2843784"/>
            <a:ext cx="3383280" cy="585216"/>
          </a:xfrm>
          <a:prstGeom prst="rect">
            <a:avLst/>
          </a:prstGeom>
          <a:solidFill>
            <a:srgbClr val="2C5F2D"/>
          </a:solidFill>
          <a:ln w="19050">
            <a:solidFill>
              <a:srgbClr val="8DBF3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11480" y="2843784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DBF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 ≤ 1500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931920" y="2843784"/>
            <a:ext cx="1737360" cy="585216"/>
          </a:xfrm>
          <a:prstGeom prst="rect">
            <a:avLst/>
          </a:prstGeom>
          <a:solidFill>
            <a:srgbClr val="2C5F2D"/>
          </a:solidFill>
          <a:ln w="19050">
            <a:solidFill>
              <a:srgbClr val="8DBF3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977640" y="2843784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DBF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11,181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852160" y="2843784"/>
            <a:ext cx="1920240" cy="585216"/>
          </a:xfrm>
          <a:prstGeom prst="rect">
            <a:avLst/>
          </a:prstGeom>
          <a:solidFill>
            <a:srgbClr val="2C5F2D"/>
          </a:solidFill>
          <a:ln w="19050">
            <a:solidFill>
              <a:srgbClr val="8DBF3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897880" y="284378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DBF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8,403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955280" y="2843784"/>
            <a:ext cx="3931920" cy="585216"/>
          </a:xfrm>
          <a:prstGeom prst="rect">
            <a:avLst/>
          </a:prstGeom>
          <a:solidFill>
            <a:srgbClr val="2C5F2D"/>
          </a:solidFill>
          <a:ln w="19050">
            <a:solidFill>
              <a:srgbClr val="8DBF3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001000" y="2843784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8DBF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⬅ BEST SIZE SPLIT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65760" y="3447288"/>
            <a:ext cx="338328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11480" y="344728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 ≤ 1650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931920" y="3447288"/>
            <a:ext cx="173736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977640" y="34472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11,181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852160" y="3447288"/>
            <a:ext cx="192024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897880" y="344728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8,403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955280" y="3447288"/>
            <a:ext cx="393192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Same split as ≤1500 — no data point between 1500–1800</a:t>
            </a:r>
          </a:p>
        </p:txBody>
      </p:sp>
      <p:sp>
        <p:nvSpPr>
          <p:cNvPr id="42" name="Text 40"/>
          <p:cNvSpPr/>
          <p:nvPr/>
        </p:nvSpPr>
        <p:spPr>
          <a:xfrm>
            <a:off x="8001000" y="3447288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65760" y="4050792"/>
            <a:ext cx="3383280" cy="585216"/>
          </a:xfrm>
          <a:prstGeom prst="rect">
            <a:avLst/>
          </a:prstGeom>
          <a:solidFill>
            <a:srgbClr val="243B30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11480" y="405079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 ≤ 2750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931920" y="4050792"/>
            <a:ext cx="1737360" cy="585216"/>
          </a:xfrm>
          <a:prstGeom prst="rect">
            <a:avLst/>
          </a:prstGeom>
          <a:solidFill>
            <a:srgbClr val="243B30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977640" y="405079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11,181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852160" y="4050792"/>
            <a:ext cx="1920240" cy="585216"/>
          </a:xfrm>
          <a:prstGeom prst="rect">
            <a:avLst/>
          </a:prstGeom>
          <a:solidFill>
            <a:srgbClr val="243B30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897880" y="405079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5,014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955280" y="4050792"/>
            <a:ext cx="3931920" cy="585216"/>
          </a:xfrm>
          <a:prstGeom prst="rect">
            <a:avLst/>
          </a:prstGeom>
          <a:solidFill>
            <a:srgbClr val="243B30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Houses A–E left, only F right</a:t>
            </a:r>
          </a:p>
        </p:txBody>
      </p:sp>
      <p:sp>
        <p:nvSpPr>
          <p:cNvPr id="50" name="Text 48"/>
          <p:cNvSpPr/>
          <p:nvPr/>
        </p:nvSpPr>
        <p:spPr>
          <a:xfrm>
            <a:off x="8001000" y="405079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65760" y="4654296"/>
            <a:ext cx="338328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11480" y="465429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Rooms ≤ 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931920" y="4654296"/>
            <a:ext cx="173736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3977640" y="4654296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11,181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852160" y="4654296"/>
            <a:ext cx="192024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897880" y="465429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4,014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955280" y="4654296"/>
            <a:ext cx="393192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Only house A (2 rooms) goes left</a:t>
            </a:r>
          </a:p>
        </p:txBody>
      </p:sp>
      <p:sp>
        <p:nvSpPr>
          <p:cNvPr id="58" name="Text 56"/>
          <p:cNvSpPr/>
          <p:nvPr/>
        </p:nvSpPr>
        <p:spPr>
          <a:xfrm>
            <a:off x="8001000" y="4654296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65760" y="5257800"/>
            <a:ext cx="3383280" cy="585216"/>
          </a:xfrm>
          <a:prstGeom prst="rect">
            <a:avLst/>
          </a:prstGeom>
          <a:solidFill>
            <a:srgbClr val="243B30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411480" y="525780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Rooms ≤ 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3931920" y="5257800"/>
            <a:ext cx="1737360" cy="585216"/>
          </a:xfrm>
          <a:prstGeom prst="rect">
            <a:avLst/>
          </a:prstGeom>
          <a:solidFill>
            <a:srgbClr val="243B30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3977640" y="525780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11,181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852160" y="5257800"/>
            <a:ext cx="1920240" cy="585216"/>
          </a:xfrm>
          <a:prstGeom prst="rect">
            <a:avLst/>
          </a:prstGeom>
          <a:solidFill>
            <a:srgbClr val="243B30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897880" y="525780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8,403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7955280" y="5257800"/>
            <a:ext cx="3931920" cy="585216"/>
          </a:xfrm>
          <a:prstGeom prst="rect">
            <a:avLst/>
          </a:prstGeom>
          <a:solidFill>
            <a:srgbClr val="243B30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Houses A,B,C (3 rooms) vs D,E,F — same groups as Size ≤ 1500!</a:t>
            </a:r>
          </a:p>
        </p:txBody>
      </p:sp>
      <p:sp>
        <p:nvSpPr>
          <p:cNvPr id="66" name="Text 64"/>
          <p:cNvSpPr/>
          <p:nvPr/>
        </p:nvSpPr>
        <p:spPr>
          <a:xfrm>
            <a:off x="8001000" y="525780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365760" y="5861304"/>
            <a:ext cx="338328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411480" y="5861304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Rooms ≤ 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931920" y="5861304"/>
            <a:ext cx="173736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3977640" y="5861304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11,181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5852160" y="5861304"/>
            <a:ext cx="192024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5897880" y="586130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5,014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955280" y="5861304"/>
            <a:ext cx="3931920" cy="585216"/>
          </a:xfrm>
          <a:prstGeom prst="rect">
            <a:avLst/>
          </a:prstGeom>
          <a:solidFill>
            <a:srgbClr val="1A2E27"/>
          </a:solidFill>
          <a:ln w="19050">
            <a:solidFill>
              <a:srgbClr val="3A5A48"/>
            </a:solidFill>
            <a:prstDash val="solid"/>
          </a:ln>
        </p:spPr>
        <p:txBody>
          <a:bodyPr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Houses A–E left, only F right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8001000" y="5861304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365760" y="6217920"/>
            <a:ext cx="11430000" cy="502920"/>
          </a:xfrm>
          <a:prstGeom prst="roundRect">
            <a:avLst>
              <a:gd name="adj" fmla="val 14545"/>
            </a:avLst>
          </a:prstGeom>
          <a:solidFill>
            <a:srgbClr val="5A9A3A"/>
          </a:solidFill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457200" y="624535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Winner: Size ≤ 1500  with VR = 8,403  →  becomes the ROOT NODE split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Step 2: Split the Right Branch  (D, E, F)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C5F2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Right branch data (Size &gt; 1500)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16642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D: Size=1800, Rooms=4, Price=300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204825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E: Size=2500, Rooms=4, Price=400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24323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F: Size=3000, Rooms=5, Price=450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3017520"/>
            <a:ext cx="5029200" cy="3474720"/>
          </a:xfrm>
          <a:prstGeom prst="roundRect">
            <a:avLst>
              <a:gd name="adj" fmla="val 2105"/>
            </a:avLst>
          </a:prstGeom>
          <a:solidFill>
            <a:srgbClr val="E4EEE0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3090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C5F2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Candidate splits for right branch: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D5EACB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36210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C5F2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 ≤ 2150  ← BEST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38953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66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{D}→300  |  {E,F}→{400,450}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4114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2C5F2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VR = 3,472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920" y="452628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C5DD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4360" y="45811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 ≤ 2750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48554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66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{D,E}→{300,400}  |  {F}→450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5074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VR = 2,222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548640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C5DD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4360" y="55412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Rooms ≤ 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4360" y="58155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665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{D,E}→{300,400}  |  {F}→450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4360" y="6035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VR = 2,222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17920" y="1188720"/>
            <a:ext cx="5577840" cy="685800"/>
          </a:xfrm>
          <a:prstGeom prst="roundRect">
            <a:avLst>
              <a:gd name="adj" fmla="val 10667"/>
            </a:avLst>
          </a:prstGeom>
          <a:solidFill>
            <a:srgbClr val="2C5F2D"/>
          </a:solidFill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09360" y="120700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Root: Size ≤ 1500?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ȳ=291.7  Var=11,181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 flipH="1">
            <a:off x="6766560" y="1874520"/>
            <a:ext cx="731520" cy="777240"/>
          </a:xfrm>
          <a:prstGeom prst="line">
            <a:avLst/>
          </a:prstGeom>
          <a:noFill/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515600" y="1874520"/>
            <a:ext cx="640080" cy="777240"/>
          </a:xfrm>
          <a:prstGeom prst="line">
            <a:avLst/>
          </a:prstGeom>
          <a:noFill/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0" y="26517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D5EACB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63640" y="2697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A, B, C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Predict: 200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09360" y="2331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A9A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875520" y="265176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F4A233"/>
          </a:solidFill>
          <a:ln w="25400">
            <a:solidFill>
              <a:srgbClr val="1B2D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921240" y="2679192"/>
            <a:ext cx="2468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D, E, F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 ≤ 2150?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247120" y="2331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C5F2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 flipH="1">
            <a:off x="9326880" y="3337560"/>
            <a:ext cx="1005840" cy="777240"/>
          </a:xfrm>
          <a:prstGeom prst="line">
            <a:avLst/>
          </a:prstGeom>
          <a:noFill/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 flipH="1">
            <a:off x="11795760" y="3337560"/>
            <a:ext cx="274320" cy="777240"/>
          </a:xfrm>
          <a:prstGeom prst="line">
            <a:avLst/>
          </a:prstGeom>
          <a:noFill/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595360" y="4114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D5EACB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641080" y="4160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 only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Predict: 300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869680" y="38221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A9A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0607040" y="4114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D5EACB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652760" y="4160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E, F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2D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Predict: 425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704320" y="38221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C5F2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"/>
          <p:cNvSpPr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en-US" sz="3300" b="1" dirty="0">
                <a:solidFill>
                  <a:srgbClr val="1B2D2A"/>
                </a:solidFill>
                <a:latin typeface="Cambria"/>
              </a:rPr>
              <a:t>Why are Var = 3,889 and VR = 3,472 different?</a:t>
            </a:r>
          </a:p>
        </p:txBody>
      </p:sp>
      <p:sp>
        <p:nvSpPr>
          <p:cNvPr id="11" name="H1"/>
          <p:cNvSpPr/>
          <p:nvPr/>
        </p:nvSpPr>
        <p:spPr>
          <a:xfrm>
            <a:off x="457200" y="1080000"/>
            <a:ext cx="5486400" cy="48000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 w="25400">
            <a:solidFill>
              <a:srgbClr val="8DBF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H1T"/>
          <p:cNvSpPr/>
          <p:nvPr/>
        </p:nvSpPr>
        <p:spPr>
          <a:xfrm>
            <a:off x="457200" y="1080000"/>
            <a:ext cx="5486400" cy="4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8DBF3F"/>
                </a:solidFill>
                <a:latin typeface="Cambria"/>
              </a:rPr>
              <a:t>Var = 3,889  →  Variance OF the node</a:t>
            </a:r>
          </a:p>
        </p:txBody>
      </p:sp>
      <p:sp>
        <p:nvSpPr>
          <p:cNvPr id="13" name="V1"/>
          <p:cNvSpPr/>
          <p:nvPr/>
        </p:nvSpPr>
        <p:spPr>
          <a:xfrm>
            <a:off x="457200" y="1580000"/>
            <a:ext cx="5486400" cy="6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000">
            <a:solidFill>
              <a:srgbClr val="5A9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V1T"/>
          <p:cNvSpPr/>
          <p:nvPr/>
        </p:nvSpPr>
        <p:spPr>
          <a:xfrm>
            <a:off x="548640" y="1620000"/>
            <a:ext cx="5303520" cy="6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1B2D2A"/>
                </a:solidFill>
                <a:latin typeface="Calibri"/>
              </a:rPr>
              <a:t>How spread out are prices 300, 400, 450 around their own mean of 383?</a:t>
            </a:r>
          </a:p>
        </p:txBody>
      </p:sp>
      <p:sp>
        <p:nvSpPr>
          <p:cNvPr id="15" name="VC"/>
          <p:cNvSpPr/>
          <p:nvPr/>
        </p:nvSpPr>
        <p:spPr>
          <a:xfrm>
            <a:off x="457200" y="2280000"/>
            <a:ext cx="5486400" cy="2280000"/>
          </a:xfrm>
          <a:prstGeom prst="roundRect">
            <a:avLst>
              <a:gd name="adj" fmla="val 5000"/>
            </a:avLst>
          </a:prstGeom>
          <a:solidFill>
            <a:srgbClr val="E4EEE0"/>
          </a:solidFill>
          <a:ln w="20000">
            <a:solidFill>
              <a:srgbClr val="5A9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VCT"/>
          <p:cNvSpPr/>
          <p:nvPr/>
        </p:nvSpPr>
        <p:spPr>
          <a:xfrm>
            <a:off x="548640" y="2340000"/>
            <a:ext cx="5303520" cy="2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2C5F2D"/>
                </a:solidFill>
                <a:latin typeface="Calibri"/>
              </a:rPr>
              <a:t>Mean  ȳ_R  =  (300 + 400 + 450) ÷ 3  =  383</a:t>
            </a:r>
          </a:p>
          <a:p>
            <a:pPr>
              <a:spcBef>
                <a:spcPts val="300"/>
              </a:spcBef>
              <a:buNone/>
            </a:pPr>
            <a:endParaRPr lang="en-US" dirty="0"/>
          </a:p>
          <a:p>
            <a:pPr algn="l">
              <a:buNone/>
            </a:pPr>
            <a:r>
              <a:rPr lang="en-US" sz="1220" b="0" dirty="0">
                <a:solidFill>
                  <a:srgbClr val="1B2D2A"/>
                </a:solidFill>
                <a:latin typeface="Calibri"/>
              </a:rPr>
              <a:t>House D:  (300 − 383)²  =  (−83)²  =  6,889</a:t>
            </a:r>
          </a:p>
          <a:p>
            <a:pPr algn="l">
              <a:buNone/>
            </a:pPr>
            <a:r>
              <a:rPr lang="en-US" sz="1220" b="0" dirty="0">
                <a:solidFill>
                  <a:srgbClr val="1B2D2A"/>
                </a:solidFill>
                <a:latin typeface="Calibri"/>
              </a:rPr>
              <a:t>House E:  (400 − 383)²  =  (+17)²  =     289</a:t>
            </a:r>
          </a:p>
          <a:p>
            <a:pPr algn="l">
              <a:buNone/>
            </a:pPr>
            <a:r>
              <a:rPr lang="en-US" sz="1220" b="0" dirty="0">
                <a:solidFill>
                  <a:srgbClr val="1B2D2A"/>
                </a:solidFill>
                <a:latin typeface="Calibri"/>
              </a:rPr>
              <a:t>House F:  (450 − 383)²  =  (+67)²  =  4,489</a:t>
            </a:r>
          </a:p>
          <a:p>
            <a:pPr>
              <a:spcBef>
                <a:spcPts val="300"/>
              </a:spcBef>
              <a:buNone/>
            </a:pPr>
            <a:endParaRPr lang="en-US" dirty="0"/>
          </a:p>
          <a:p>
            <a:pPr algn="l">
              <a:buNone/>
            </a:pPr>
            <a:r>
              <a:rPr lang="en-US" sz="1220" b="0" dirty="0">
                <a:solidFill>
                  <a:srgbClr val="1B2D2A"/>
                </a:solidFill>
                <a:latin typeface="Calibri"/>
              </a:rPr>
              <a:t>Sum  =  6,889 + 289 + 4,489  =  11,667</a:t>
            </a:r>
          </a:p>
          <a:p>
            <a:pPr>
              <a:spcBef>
                <a:spcPts val="200"/>
              </a:spcBef>
              <a:buNone/>
            </a:pPr>
            <a:endParaRPr lang="en-US" dirty="0"/>
          </a:p>
          <a:p>
            <a:pPr algn="l">
              <a:buNone/>
            </a:pPr>
            <a:r>
              <a:rPr lang="en-US" sz="1350" b="1" dirty="0">
                <a:solidFill>
                  <a:srgbClr val="2C5F2D"/>
                </a:solidFill>
                <a:latin typeface="Cambria"/>
              </a:rPr>
              <a:t>Var(D,E,F)  =  11,667 ÷ 3  =  3,889  ✓</a:t>
            </a:r>
          </a:p>
        </p:txBody>
      </p:sp>
      <p:sp>
        <p:nvSpPr>
          <p:cNvPr id="17" name="VM"/>
          <p:cNvSpPr/>
          <p:nvPr/>
        </p:nvSpPr>
        <p:spPr>
          <a:xfrm>
            <a:off x="457200" y="4610000"/>
            <a:ext cx="5486400" cy="56000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 w="20000">
            <a:solidFill>
              <a:srgbClr val="8DBF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VMT"/>
          <p:cNvSpPr/>
          <p:nvPr/>
        </p:nvSpPr>
        <p:spPr>
          <a:xfrm>
            <a:off x="548640" y="4660000"/>
            <a:ext cx="5303520" cy="4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This is the spread BEFORE splitting D,E,F further</a:t>
            </a:r>
          </a:p>
          <a:p>
            <a:pPr algn="l">
              <a:buNone/>
            </a:pPr>
            <a:r>
              <a:rPr lang="en-US" sz="1200" b="0" dirty="0">
                <a:solidFill>
                  <a:srgbClr val="8DBF3F"/>
                </a:solidFill>
                <a:latin typeface="Calibri"/>
              </a:rPr>
              <a:t>Prices range from $300k to $450k  →  std dev ≈ $62k</a:t>
            </a:r>
          </a:p>
        </p:txBody>
      </p:sp>
      <p:sp>
        <p:nvSpPr>
          <p:cNvPr id="19" name="H2"/>
          <p:cNvSpPr/>
          <p:nvPr/>
        </p:nvSpPr>
        <p:spPr>
          <a:xfrm>
            <a:off x="6248880" y="1080000"/>
            <a:ext cx="5486400" cy="480000"/>
          </a:xfrm>
          <a:prstGeom prst="roundRect">
            <a:avLst>
              <a:gd name="adj" fmla="val 5000"/>
            </a:avLst>
          </a:prstGeom>
          <a:solidFill>
            <a:srgbClr val="1B3A1C"/>
          </a:solidFill>
          <a:ln w="25400">
            <a:solidFill>
              <a:srgbClr val="F4A2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H2T"/>
          <p:cNvSpPr/>
          <p:nvPr/>
        </p:nvSpPr>
        <p:spPr>
          <a:xfrm>
            <a:off x="6248880" y="1080000"/>
            <a:ext cx="5486400" cy="4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4A233"/>
                </a:solidFill>
                <a:latin typeface="Cambria"/>
              </a:rPr>
              <a:t>VR = 3,472  →  Variance REMOVED by the split</a:t>
            </a:r>
          </a:p>
        </p:txBody>
      </p:sp>
      <p:sp>
        <p:nvSpPr>
          <p:cNvPr id="21" name="V2"/>
          <p:cNvSpPr/>
          <p:nvPr/>
        </p:nvSpPr>
        <p:spPr>
          <a:xfrm>
            <a:off x="6248880" y="1580000"/>
            <a:ext cx="5486400" cy="6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000">
            <a:solidFill>
              <a:srgbClr val="5A9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V2T"/>
          <p:cNvSpPr/>
          <p:nvPr/>
        </p:nvSpPr>
        <p:spPr>
          <a:xfrm>
            <a:off x="6340320" y="1620000"/>
            <a:ext cx="5303520" cy="6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1B2D2A"/>
                </a:solidFill>
                <a:latin typeface="Calibri"/>
              </a:rPr>
              <a:t>How much variance is eliminated by splitting at Size ≤ 2150?</a:t>
            </a:r>
          </a:p>
        </p:txBody>
      </p:sp>
      <p:sp>
        <p:nvSpPr>
          <p:cNvPr id="23" name="VC2"/>
          <p:cNvSpPr/>
          <p:nvPr/>
        </p:nvSpPr>
        <p:spPr>
          <a:xfrm>
            <a:off x="6248880" y="2280000"/>
            <a:ext cx="5486400" cy="2280000"/>
          </a:xfrm>
          <a:prstGeom prst="roundRect">
            <a:avLst>
              <a:gd name="adj" fmla="val 5000"/>
            </a:avLst>
          </a:prstGeom>
          <a:solidFill>
            <a:srgbClr val="E4EEE0"/>
          </a:solidFill>
          <a:ln w="20000">
            <a:solidFill>
              <a:srgbClr val="5A9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VCT2"/>
          <p:cNvSpPr/>
          <p:nvPr/>
        </p:nvSpPr>
        <p:spPr>
          <a:xfrm>
            <a:off x="6340320" y="2340000"/>
            <a:ext cx="5303520" cy="2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220" b="1" dirty="0">
                <a:solidFill>
                  <a:srgbClr val="2C5F2D"/>
                </a:solidFill>
                <a:latin typeface="Calibri"/>
              </a:rPr>
              <a:t>After split:  Left={D}  →  Var=0  (single point)</a:t>
            </a:r>
          </a:p>
          <a:p>
            <a:pPr algn="l">
              <a:buNone/>
            </a:pPr>
            <a:r>
              <a:rPr lang="en-US" sz="1220" b="0" dirty="0">
                <a:solidFill>
                  <a:srgbClr val="1B2D2A"/>
                </a:solidFill>
                <a:latin typeface="Calibri"/>
              </a:rPr>
              <a:t>             Right={E,F} → mean=425, Var=625</a:t>
            </a:r>
          </a:p>
          <a:p>
            <a:pPr>
              <a:spcBef>
                <a:spcPts val="300"/>
              </a:spcBef>
              <a:buNone/>
            </a:pPr>
            <a:endParaRPr lang="en-US" dirty="0"/>
          </a:p>
          <a:p>
            <a:pPr algn="l">
              <a:buNone/>
            </a:pPr>
            <a:r>
              <a:rPr lang="en-US" sz="1220" b="1" dirty="0">
                <a:solidFill>
                  <a:srgbClr val="2C5F2D"/>
                </a:solidFill>
                <a:latin typeface="Calibri"/>
              </a:rPr>
              <a:t>Weighted child variance:</a:t>
            </a:r>
          </a:p>
          <a:p>
            <a:pPr algn="l">
              <a:buNone/>
            </a:pPr>
            <a:r>
              <a:rPr lang="en-US" sz="1220" b="0" dirty="0">
                <a:solidFill>
                  <a:srgbClr val="1B2D2A"/>
                </a:solidFill>
                <a:latin typeface="Calibri"/>
              </a:rPr>
              <a:t>= (1/3) × 0  +  (2/3) × 625</a:t>
            </a:r>
          </a:p>
          <a:p>
            <a:pPr algn="l">
              <a:buNone/>
            </a:pPr>
            <a:r>
              <a:rPr lang="en-US" sz="1220" b="0" dirty="0">
                <a:solidFill>
                  <a:srgbClr val="1B2D2A"/>
                </a:solidFill>
                <a:latin typeface="Calibri"/>
              </a:rPr>
              <a:t>= 0  +  416.7  =  417</a:t>
            </a:r>
          </a:p>
          <a:p>
            <a:pPr>
              <a:spcBef>
                <a:spcPts val="300"/>
              </a:spcBef>
              <a:buNone/>
            </a:pPr>
            <a:endParaRPr lang="en-US" dirty="0"/>
          </a:p>
          <a:p>
            <a:pPr algn="l">
              <a:buNone/>
            </a:pPr>
            <a:r>
              <a:rPr lang="en-US" sz="1220" b="1" dirty="0">
                <a:solidFill>
                  <a:srgbClr val="2C5F2D"/>
                </a:solidFill>
                <a:latin typeface="Calibri"/>
              </a:rPr>
              <a:t>VR  =  Var(parent)  −  weighted child var</a:t>
            </a:r>
          </a:p>
          <a:p>
            <a:pPr algn="l">
              <a:buNone/>
            </a:pPr>
            <a:r>
              <a:rPr lang="en-US" sz="1350" b="1" dirty="0">
                <a:solidFill>
                  <a:srgbClr val="1B3A1C"/>
                </a:solidFill>
                <a:latin typeface="Cambria"/>
              </a:rPr>
              <a:t>VR  =  3,889  −  417  =  3,472  ✓</a:t>
            </a:r>
          </a:p>
        </p:txBody>
      </p:sp>
      <p:sp>
        <p:nvSpPr>
          <p:cNvPr id="25" name="VM2"/>
          <p:cNvSpPr/>
          <p:nvPr/>
        </p:nvSpPr>
        <p:spPr>
          <a:xfrm>
            <a:off x="6248880" y="4610000"/>
            <a:ext cx="5486400" cy="560000"/>
          </a:xfrm>
          <a:prstGeom prst="roundRect">
            <a:avLst>
              <a:gd name="adj" fmla="val 5000"/>
            </a:avLst>
          </a:prstGeom>
          <a:solidFill>
            <a:srgbClr val="1B3A1C"/>
          </a:solidFill>
          <a:ln w="20000">
            <a:solidFill>
              <a:srgbClr val="F4A2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VM2T"/>
          <p:cNvSpPr/>
          <p:nvPr/>
        </p:nvSpPr>
        <p:spPr>
          <a:xfrm>
            <a:off x="6340320" y="4660000"/>
            <a:ext cx="5303520" cy="4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FFFFFF"/>
                </a:solidFill>
                <a:latin typeface="Calibri"/>
              </a:rPr>
              <a:t>This is how much variance is REDUCED by splitting</a:t>
            </a:r>
          </a:p>
          <a:p>
            <a:pPr algn="l">
              <a:buNone/>
            </a:pPr>
            <a:r>
              <a:rPr lang="en-US" sz="1200" b="0" dirty="0">
                <a:solidFill>
                  <a:srgbClr val="F4A233"/>
                </a:solidFill>
                <a:latin typeface="Calibri"/>
              </a:rPr>
              <a:t>3,889 spread → only 417 left → removed 3,472</a:t>
            </a:r>
          </a:p>
        </p:txBody>
      </p:sp>
      <p:sp>
        <p:nvSpPr>
          <p:cNvPr id="27" name="SB"/>
          <p:cNvSpPr/>
          <p:nvPr/>
        </p:nvSpPr>
        <p:spPr>
          <a:xfrm>
            <a:off x="457200" y="5100000"/>
            <a:ext cx="11277600" cy="1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0000">
            <a:solidFill>
              <a:srgbClr val="2C5F2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SBT"/>
          <p:cNvSpPr/>
          <p:nvPr/>
        </p:nvSpPr>
        <p:spPr>
          <a:xfrm>
            <a:off x="548640" y="5160000"/>
            <a:ext cx="11094480" cy="1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mbria"/>
              </a:rPr>
              <a:t>In Summary</a:t>
            </a:r>
          </a:p>
          <a:p>
            <a:pPr>
              <a:spcBef>
                <a:spcPts val="200"/>
              </a:spcBef>
              <a:buNone/>
            </a:pPr>
            <a:endParaRPr lang="en-US" dirty="0"/>
          </a:p>
          <a:p>
            <a:pPr marL="685800" indent="-342900">
              <a:spcBef>
                <a:spcPts val="300"/>
              </a:spcBef>
              <a:buFont typeface="Arial"/>
              <a:buChar char="•"/>
            </a:pPr>
            <a:r>
              <a:rPr lang="en-US" sz="1250" b="0" dirty="0">
                <a:solidFill>
                  <a:srgbClr val="1B2D2A"/>
                </a:solidFill>
                <a:latin typeface="Calibri"/>
              </a:rPr>
              <a:t>Var = 3,889  tells you how mixed the D,E,F group is BEFORE any further splitting.</a:t>
            </a:r>
          </a:p>
          <a:p>
            <a:pPr marL="685800" indent="-342900">
              <a:spcBef>
                <a:spcPts val="300"/>
              </a:spcBef>
              <a:buFont typeface="Arial"/>
              <a:buChar char="•"/>
            </a:pPr>
            <a:r>
              <a:rPr lang="en-US" sz="1250" b="0" dirty="0">
                <a:solidFill>
                  <a:srgbClr val="1B2D2A"/>
                </a:solidFill>
                <a:latin typeface="Calibri"/>
              </a:rPr>
              <a:t>VR  = 3,472  tells you how much the split "Size ≤ 2150" cleans up that mix (removes 3,472 out of 3,889 = 89% of the variance).</a:t>
            </a:r>
          </a:p>
          <a:p>
            <a:pPr marL="685800" indent="-342900">
              <a:spcBef>
                <a:spcPts val="300"/>
              </a:spcBef>
              <a:buFont typeface="Arial"/>
              <a:buChar char="•"/>
            </a:pPr>
            <a:r>
              <a:rPr lang="en-US" sz="1250" b="0" dirty="0">
                <a:solidFill>
                  <a:srgbClr val="2C5F2D"/>
                </a:solidFill>
                <a:latin typeface="Calibri"/>
              </a:rPr>
              <a:t>Formula:  VR = Var(parent) − weighted child variance  →  3,889 − 417 = 3,472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Regression Tree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023360" y="10972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2C5F2D"/>
          </a:solidFill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0" y="11155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≤ 1500?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ȳ = 291.7   Var = 10,972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 flipH="1">
            <a:off x="2743200" y="1874520"/>
            <a:ext cx="2194560" cy="868680"/>
          </a:xfrm>
          <a:prstGeom prst="line">
            <a:avLst/>
          </a:prstGeom>
          <a:noFill/>
          <a:ln w="3175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06640" y="1874520"/>
            <a:ext cx="2011680" cy="868680"/>
          </a:xfrm>
          <a:prstGeom prst="line">
            <a:avLst/>
          </a:prstGeom>
          <a:noFill/>
          <a:ln w="3175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2148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27432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5A9A3A"/>
          </a:solidFill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3040" y="2816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LEAF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316382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Houses: A, B, 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 ȳ = 200 ($000s)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274320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2C5F2D"/>
          </a:solidFill>
          <a:ln w="25400">
            <a:solidFill>
              <a:srgbClr val="F4A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0" y="27614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≤ 2150?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ȳ = 383   Var = 3,889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H="1">
            <a:off x="7315200" y="3520440"/>
            <a:ext cx="1371600" cy="868680"/>
          </a:xfrm>
          <a:prstGeom prst="line">
            <a:avLst/>
          </a:prstGeom>
          <a:noFill/>
          <a:ln w="3175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72800" y="3520440"/>
            <a:ext cx="457200" cy="868680"/>
          </a:xfrm>
          <a:prstGeom prst="line">
            <a:avLst/>
          </a:prstGeom>
          <a:noFill/>
          <a:ln w="3175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0" y="3749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064240" y="3749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43891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5A9A3A"/>
          </a:solidFill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4462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LEAF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47731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 ȳ = 300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241280" y="43891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5A9A3A"/>
          </a:solidFill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332720" y="4462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LEAF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0" y="47731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 E, 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 ȳ = 425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5669280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5840" y="574243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Leaves  →  3 prediction regions:  ≤1500 sq ft → $200k  |  1500–2150 sq ft → $300k  |  &gt;2150 sq ft → $425k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a Prediction: New House  (2000 sq ft, 4 Rooms)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280160"/>
            <a:ext cx="7589520" cy="1097280"/>
          </a:xfrm>
          <a:prstGeom prst="roundRect">
            <a:avLst>
              <a:gd name="adj" fmla="val 6667"/>
            </a:avLst>
          </a:prstGeom>
          <a:solidFill>
            <a:srgbClr val="E8F3E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13898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at Root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15568" y="17556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≤ 1500 ?  →  2000 &gt; 1500  →  Go RIGHT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7589520" cy="1097280"/>
          </a:xfrm>
          <a:prstGeom prst="roundRect">
            <a:avLst>
              <a:gd name="adj" fmla="val 6667"/>
            </a:avLst>
          </a:prstGeom>
          <a:solidFill>
            <a:srgbClr val="D5EACB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262432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Branch Decision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15568" y="299008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≤ 2150 ?  →  2000 ≤ 2150  →  Go LEFT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3749040"/>
            <a:ext cx="7589520" cy="1097280"/>
          </a:xfrm>
          <a:prstGeom prst="roundRect">
            <a:avLst>
              <a:gd name="adj" fmla="val 6667"/>
            </a:avLst>
          </a:prstGeom>
          <a:solidFill>
            <a:srgbClr val="E8F3E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15568" y="385876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a Leaf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15568" y="422452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contains House D  (training target = 300)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4983480"/>
            <a:ext cx="7589520" cy="109728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5257800"/>
            <a:ext cx="502920" cy="502920"/>
          </a:xfrm>
          <a:prstGeom prst="ellipse">
            <a:avLst/>
          </a:prstGeom>
          <a:solidFill>
            <a:srgbClr val="8DBF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" y="509320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Leaf Mean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15568" y="545896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 =  mean of leaf  =  $300,000</a:t>
            </a:r>
            <a:endParaRPr lang="en-US" sz="125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38A8447-5873-DEA0-8D3B-2E944926E21A}"/>
              </a:ext>
            </a:extLst>
          </p:cNvPr>
          <p:cNvGrpSpPr/>
          <p:nvPr/>
        </p:nvGrpSpPr>
        <p:grpSpPr>
          <a:xfrm>
            <a:off x="7800588" y="1453896"/>
            <a:ext cx="4307994" cy="2944368"/>
            <a:chOff x="7406640" y="1280160"/>
            <a:chExt cx="6400800" cy="3474720"/>
          </a:xfrm>
        </p:grpSpPr>
        <p:sp>
          <p:nvSpPr>
            <p:cNvPr id="31" name="Shape 29"/>
            <p:cNvSpPr/>
            <p:nvPr/>
          </p:nvSpPr>
          <p:spPr>
            <a:xfrm flipH="1">
              <a:off x="10515600" y="3310128"/>
              <a:ext cx="640080" cy="713232"/>
            </a:xfrm>
            <a:prstGeom prst="line">
              <a:avLst/>
            </a:prstGeom>
            <a:noFill/>
            <a:ln w="38100">
              <a:solidFill>
                <a:srgbClr val="F4A2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8D92905-E52F-3482-17D2-4BAB9CBB9947}"/>
                </a:ext>
              </a:extLst>
            </p:cNvPr>
            <p:cNvGrpSpPr/>
            <p:nvPr/>
          </p:nvGrpSpPr>
          <p:grpSpPr>
            <a:xfrm>
              <a:off x="7406640" y="1280160"/>
              <a:ext cx="6400800" cy="3474720"/>
              <a:chOff x="7406640" y="1280160"/>
              <a:chExt cx="6400800" cy="3474720"/>
            </a:xfrm>
          </p:grpSpPr>
          <p:sp>
            <p:nvSpPr>
              <p:cNvPr id="32" name="Shape 30"/>
              <p:cNvSpPr/>
              <p:nvPr/>
            </p:nvSpPr>
            <p:spPr>
              <a:xfrm>
                <a:off x="9692640" y="4023360"/>
                <a:ext cx="1645920" cy="731520"/>
              </a:xfrm>
              <a:prstGeom prst="roundRect">
                <a:avLst>
                  <a:gd name="adj" fmla="val 10000"/>
                </a:avLst>
              </a:prstGeom>
              <a:solidFill>
                <a:srgbClr val="5A9A3A"/>
              </a:solidFill>
              <a:ln w="25400">
                <a:solidFill>
                  <a:srgbClr val="8DBF3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4659A700-9124-E656-6C8E-3E239359C07B}"/>
                  </a:ext>
                </a:extLst>
              </p:cNvPr>
              <p:cNvGrpSpPr/>
              <p:nvPr/>
            </p:nvGrpSpPr>
            <p:grpSpPr>
              <a:xfrm>
                <a:off x="7406640" y="1280160"/>
                <a:ext cx="6400800" cy="3474720"/>
                <a:chOff x="7406640" y="1280160"/>
                <a:chExt cx="6400800" cy="3474720"/>
              </a:xfrm>
            </p:grpSpPr>
            <p:sp>
              <p:nvSpPr>
                <p:cNvPr id="23" name="Shape 21"/>
                <p:cNvSpPr/>
                <p:nvPr/>
              </p:nvSpPr>
              <p:spPr>
                <a:xfrm>
                  <a:off x="8229600" y="1280160"/>
                  <a:ext cx="3657600" cy="658368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2C5F2D"/>
                </a:solidFill>
                <a:ln w="25400">
                  <a:solidFill>
                    <a:srgbClr val="8DBF3F"/>
                  </a:solidFill>
                  <a:prstDash val="solid"/>
                </a:ln>
              </p:spPr>
              <p:txBody>
                <a:bodyPr/>
                <a:lstStyle/>
                <a:p>
                  <a:endParaRPr lang="en-US" sz="1400"/>
                </a:p>
              </p:txBody>
            </p:sp>
            <p:sp>
              <p:nvSpPr>
                <p:cNvPr id="24" name="Text 22"/>
                <p:cNvSpPr/>
                <p:nvPr/>
              </p:nvSpPr>
              <p:spPr>
                <a:xfrm>
                  <a:off x="8321040" y="1298448"/>
                  <a:ext cx="3474720" cy="6217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50" b="1" dirty="0">
                      <a:solidFill>
                        <a:srgbClr val="8DBF3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Size ≤ 1500?</a:t>
                  </a:r>
                  <a:endParaRPr lang="en-US" sz="1050" dirty="0"/>
                </a:p>
              </p:txBody>
            </p:sp>
            <p:sp>
              <p:nvSpPr>
                <p:cNvPr id="25" name="Shape 23"/>
                <p:cNvSpPr/>
                <p:nvPr/>
              </p:nvSpPr>
              <p:spPr>
                <a:xfrm flipH="1">
                  <a:off x="7863840" y="1938528"/>
                  <a:ext cx="1005840" cy="713232"/>
                </a:xfrm>
                <a:prstGeom prst="line">
                  <a:avLst/>
                </a:prstGeom>
                <a:noFill/>
                <a:ln w="19050">
                  <a:solidFill>
                    <a:srgbClr val="9ABDA0"/>
                  </a:solidFill>
                  <a:prstDash val="solid"/>
                </a:ln>
              </p:spPr>
              <p:txBody>
                <a:bodyPr/>
                <a:lstStyle/>
                <a:p>
                  <a:endParaRPr lang="en-US" sz="1400"/>
                </a:p>
              </p:txBody>
            </p:sp>
            <p:sp>
              <p:nvSpPr>
                <p:cNvPr id="26" name="Shape 24"/>
                <p:cNvSpPr/>
                <p:nvPr/>
              </p:nvSpPr>
              <p:spPr>
                <a:xfrm>
                  <a:off x="7406640" y="2651760"/>
                  <a:ext cx="1645920" cy="685800"/>
                </a:xfrm>
                <a:prstGeom prst="roundRect">
                  <a:avLst>
                    <a:gd name="adj" fmla="val 10667"/>
                  </a:avLst>
                </a:prstGeom>
                <a:solidFill>
                  <a:srgbClr val="D5E8CC"/>
                </a:solidFill>
                <a:ln w="25400">
                  <a:solidFill>
                    <a:srgbClr val="9ABDA0"/>
                  </a:solidFill>
                  <a:prstDash val="solid"/>
                </a:ln>
              </p:spPr>
              <p:txBody>
                <a:bodyPr/>
                <a:lstStyle/>
                <a:p>
                  <a:endParaRPr lang="en-US" sz="1400"/>
                </a:p>
              </p:txBody>
            </p:sp>
            <p:sp>
              <p:nvSpPr>
                <p:cNvPr id="27" name="Text 25"/>
                <p:cNvSpPr/>
                <p:nvPr/>
              </p:nvSpPr>
              <p:spPr>
                <a:xfrm>
                  <a:off x="7452360" y="2679192"/>
                  <a:ext cx="1554480" cy="5943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00" dirty="0">
                      <a:solidFill>
                        <a:srgbClr val="7A9E80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LEAF 200</a:t>
                  </a:r>
                  <a:endParaRPr lang="en-US" sz="800" dirty="0"/>
                </a:p>
              </p:txBody>
            </p:sp>
            <p:sp>
              <p:nvSpPr>
                <p:cNvPr id="28" name="Shape 26"/>
                <p:cNvSpPr/>
                <p:nvPr/>
              </p:nvSpPr>
              <p:spPr>
                <a:xfrm>
                  <a:off x="11247120" y="1938528"/>
                  <a:ext cx="457200" cy="713232"/>
                </a:xfrm>
                <a:prstGeom prst="line">
                  <a:avLst/>
                </a:prstGeom>
                <a:noFill/>
                <a:ln w="38100">
                  <a:solidFill>
                    <a:srgbClr val="F4A233"/>
                  </a:solidFill>
                  <a:prstDash val="solid"/>
                </a:ln>
              </p:spPr>
              <p:txBody>
                <a:bodyPr/>
                <a:lstStyle/>
                <a:p>
                  <a:endParaRPr lang="en-US" sz="1400"/>
                </a:p>
              </p:txBody>
            </p:sp>
            <p:sp>
              <p:nvSpPr>
                <p:cNvPr id="29" name="Shape 27"/>
                <p:cNvSpPr/>
                <p:nvPr/>
              </p:nvSpPr>
              <p:spPr>
                <a:xfrm>
                  <a:off x="10789920" y="2651760"/>
                  <a:ext cx="1645920" cy="658368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F4A233"/>
                </a:solidFill>
                <a:ln w="25400">
                  <a:solidFill>
                    <a:srgbClr val="1B2D2A"/>
                  </a:solidFill>
                  <a:prstDash val="solid"/>
                </a:ln>
              </p:spPr>
              <p:txBody>
                <a:bodyPr/>
                <a:lstStyle/>
                <a:p>
                  <a:endParaRPr lang="en-US" sz="1400"/>
                </a:p>
              </p:txBody>
            </p:sp>
            <p:sp>
              <p:nvSpPr>
                <p:cNvPr id="30" name="Text 28"/>
                <p:cNvSpPr/>
                <p:nvPr/>
              </p:nvSpPr>
              <p:spPr>
                <a:xfrm>
                  <a:off x="10835640" y="2679192"/>
                  <a:ext cx="1554480" cy="5943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1B2D2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Size ≤ 2150?</a:t>
                  </a:r>
                  <a:endParaRPr lang="en-US" sz="900" dirty="0"/>
                </a:p>
              </p:txBody>
            </p:sp>
            <p:sp>
              <p:nvSpPr>
                <p:cNvPr id="33" name="Text 31"/>
                <p:cNvSpPr/>
                <p:nvPr/>
              </p:nvSpPr>
              <p:spPr>
                <a:xfrm>
                  <a:off x="9738360" y="4050792"/>
                  <a:ext cx="1554480" cy="65836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🍃 LEAF</a:t>
                  </a:r>
                  <a:endParaRPr lang="en-US" sz="900" dirty="0"/>
                </a:p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Predict $300k</a:t>
                  </a:r>
                  <a:endParaRPr lang="en-US" sz="900" dirty="0"/>
                </a:p>
              </p:txBody>
            </p:sp>
            <p:sp>
              <p:nvSpPr>
                <p:cNvPr id="34" name="Shape 32"/>
                <p:cNvSpPr/>
                <p:nvPr/>
              </p:nvSpPr>
              <p:spPr>
                <a:xfrm>
                  <a:off x="12344400" y="3310128"/>
                  <a:ext cx="274320" cy="713232"/>
                </a:xfrm>
                <a:prstGeom prst="line">
                  <a:avLst/>
                </a:prstGeom>
                <a:noFill/>
                <a:ln w="19050">
                  <a:solidFill>
                    <a:srgbClr val="9ABDA0"/>
                  </a:solidFill>
                  <a:prstDash val="solid"/>
                </a:ln>
              </p:spPr>
              <p:txBody>
                <a:bodyPr/>
                <a:lstStyle/>
                <a:p>
                  <a:endParaRPr lang="en-US" sz="1400"/>
                </a:p>
              </p:txBody>
            </p:sp>
            <p:sp>
              <p:nvSpPr>
                <p:cNvPr id="35" name="Shape 33"/>
                <p:cNvSpPr/>
                <p:nvPr/>
              </p:nvSpPr>
              <p:spPr>
                <a:xfrm>
                  <a:off x="12161520" y="4023360"/>
                  <a:ext cx="1645920" cy="73152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D5E8CC"/>
                </a:solidFill>
                <a:ln w="25400">
                  <a:solidFill>
                    <a:srgbClr val="9ABDA0"/>
                  </a:solidFill>
                  <a:prstDash val="solid"/>
                </a:ln>
              </p:spPr>
              <p:txBody>
                <a:bodyPr/>
                <a:lstStyle/>
                <a:p>
                  <a:endParaRPr lang="en-US" sz="1400"/>
                </a:p>
              </p:txBody>
            </p:sp>
            <p:sp>
              <p:nvSpPr>
                <p:cNvPr id="36" name="Text 34"/>
                <p:cNvSpPr/>
                <p:nvPr/>
              </p:nvSpPr>
              <p:spPr>
                <a:xfrm>
                  <a:off x="12207240" y="4050792"/>
                  <a:ext cx="1554480" cy="65836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00" dirty="0">
                      <a:solidFill>
                        <a:srgbClr val="7A9E80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LEAF 425</a:t>
                  </a:r>
                  <a:endParaRPr lang="en-US" sz="800" dirty="0"/>
                </a:p>
              </p:txBody>
            </p:sp>
          </p:grpSp>
        </p:grpSp>
      </p:grpSp>
      <p:sp>
        <p:nvSpPr>
          <p:cNvPr id="37" name="Shape 35"/>
          <p:cNvSpPr/>
          <p:nvPr/>
        </p:nvSpPr>
        <p:spPr>
          <a:xfrm>
            <a:off x="8229600" y="51206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2C5F2D"/>
          </a:solidFill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321040" y="517550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D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$300,000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8321040" y="583387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price for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sq ft, 4 rooms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&amp; Pruning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2A1A1A"/>
          </a:solidFill>
          <a:ln w="254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The Overfitting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fully-grown tree gives every training sample its own leaf.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MSE → 0, but test MSE → very high.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tree memorises noise, not the true pattern.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Produces a jagged staircase prediction surface.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5760720" cy="2331720"/>
          </a:xfrm>
          <a:prstGeom prst="roundRect">
            <a:avLst>
              <a:gd name="adj" fmla="val 3137"/>
            </a:avLst>
          </a:prstGeom>
          <a:solidFill>
            <a:srgbClr val="2C5F2D"/>
          </a:solidFill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2200" y="12984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D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Pre-Pruning (Early Stopping)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17830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max_depth — limit levels (e.g. max_depth=2)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72200" y="21854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min_samples_split — min N to attempt split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25877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min_samples_leaf — min N in any leaf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72200" y="29900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min_impurity_decrease — min VR threshold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3794760"/>
            <a:ext cx="5760720" cy="2331720"/>
          </a:xfrm>
          <a:prstGeom prst="roundRect">
            <a:avLst>
              <a:gd name="adj" fmla="val 3137"/>
            </a:avLst>
          </a:prstGeom>
          <a:solidFill>
            <a:srgbClr val="3A5F50"/>
          </a:solidFill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39044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D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Post-Pruning (Cost-Complexity)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4389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Grow the full tree first.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72200" y="479145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Remove sub-trees that raise test MSE.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51937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ccp_alpha in scikit-learn controls aggressiveness.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72200" y="55961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Larger α → simpler tree.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74904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1A2E27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D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Bias–Variance Trade-off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tree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bias (underfits)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 variance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4343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tree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 bias (overfits)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variance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97280" y="5440680"/>
            <a:ext cx="3291840" cy="9144"/>
          </a:xfrm>
          <a:prstGeom prst="line">
            <a:avLst/>
          </a:prstGeom>
          <a:noFill/>
          <a:ln w="2540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0" y="5623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region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in scikit-learn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7132320" cy="5303520"/>
          </a:xfrm>
          <a:prstGeom prst="roundRect">
            <a:avLst>
              <a:gd name="adj" fmla="val 1379"/>
            </a:avLst>
          </a:prstGeom>
          <a:solidFill>
            <a:srgbClr val="1B2D2A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DecisionTreeRegressor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40764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export_text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025396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Training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[[700,2],[1000,3],[1500,3],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10028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[1800,4],[2500,4],[3000,5]]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52344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[150, 200, 250, 300, 400, 450]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94660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36976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tree (depth 2 = our worked example)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479292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= DecisionTreeRegressor(max_depth=2)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21608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reg.fit(X, 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963924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Predict a new house: 2000 sq ft, 4 rooms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48556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reg.predict([[2000, 4]])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690872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print(f"Predicted price: ${pred[0]:.0f}k")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933188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Predicted price: $300k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175504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417820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 the tree rules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660136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print(export_text(reg,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902452"/>
            <a:ext cx="6858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feature_names=["Size","Rooms"]))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0" y="1188720"/>
            <a:ext cx="4297680" cy="53035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01000" y="126187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Parameters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09560" y="1783080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E8F3E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01000" y="1837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01000" y="21305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tree depth.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 = 2.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09560" y="2715768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3F8F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001000" y="2770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min_samples_split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01000" y="30632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samples to split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node. Default = 2.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09560" y="3648456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E8F3E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0100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min_samples_leaf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001000" y="399592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samples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leaf.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09560" y="4581144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3F8F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001000" y="4636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ccp_alpha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001000" y="492861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Post-pruning strength.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no pruning.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09560" y="5513832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E8F3E0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01000" y="5568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001000" y="586130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"squared_error" (MSE)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"friedman_mse".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114800"/>
            <a:ext cx="5029200" cy="5029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4572000"/>
            <a:ext cx="3931920" cy="3931920"/>
          </a:xfrm>
          <a:prstGeom prst="ellipse">
            <a:avLst/>
          </a:prstGeom>
          <a:solidFill>
            <a:srgbClr val="5A9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155680" cy="978408"/>
          </a:xfrm>
          <a:prstGeom prst="roundRect">
            <a:avLst>
              <a:gd name="adj" fmla="val 7477"/>
            </a:avLst>
          </a:prstGeom>
          <a:solidFill>
            <a:srgbClr val="1F3529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3167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D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6642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tree partitions feature space into rectangles; each leaf predicts the mean y of its training samples.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11155680" cy="978408"/>
          </a:xfrm>
          <a:prstGeom prst="roundRect">
            <a:avLst>
              <a:gd name="adj" fmla="val 7477"/>
            </a:avLst>
          </a:prstGeom>
          <a:solidFill>
            <a:srgbClr val="1F3529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350008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3865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D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734056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node, choose the feature &amp; threshold that maximise Variance Reduction (VR = Var_parent − weighted Var_children).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374136"/>
            <a:ext cx="11155680" cy="978408"/>
          </a:xfrm>
          <a:prstGeom prst="roundRect">
            <a:avLst>
              <a:gd name="adj" fmla="val 7477"/>
            </a:avLst>
          </a:prstGeom>
          <a:solidFill>
            <a:srgbClr val="1F3529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419856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34564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D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80390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the tree top-down following split conditions; return the leaf mean when you reach a leaf.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443984"/>
            <a:ext cx="11155680" cy="978408"/>
          </a:xfrm>
          <a:prstGeom prst="roundRect">
            <a:avLst>
              <a:gd name="adj" fmla="val 7477"/>
            </a:avLst>
          </a:prstGeom>
          <a:solidFill>
            <a:srgbClr val="1F3529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4489704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4526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D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Pruning: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4873752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trees overfit. Control via max_depth / min_samples_leaf (pre-pruning) or ccp_alpha (post-pruning).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5513832"/>
            <a:ext cx="11155680" cy="978408"/>
          </a:xfrm>
          <a:prstGeom prst="roundRect">
            <a:avLst>
              <a:gd name="adj" fmla="val 7477"/>
            </a:avLst>
          </a:prstGeom>
          <a:solidFill>
            <a:srgbClr val="1F3529"/>
          </a:solidFill>
          <a:ln w="25400">
            <a:solidFill>
              <a:srgbClr val="5A9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555955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55961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D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Ensembles: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594360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trees have high variance. In practice, use Random Forest or Gradient Boosting for better performance.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3706</Words>
  <Application>Microsoft Office PowerPoint</Application>
  <PresentationFormat>Widescreen</PresentationFormat>
  <Paragraphs>462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Lakmini Abeywardhana</cp:lastModifiedBy>
  <cp:revision>2</cp:revision>
  <dcterms:created xsi:type="dcterms:W3CDTF">2026-08-16T13:28:08Z</dcterms:created>
  <dcterms:modified xsi:type="dcterms:W3CDTF">2026-08-16T14:49:53Z</dcterms:modified>
</cp:coreProperties>
</file>