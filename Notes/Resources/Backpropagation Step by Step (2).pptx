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take one tiny network and do a single full training step by hand: forward pass, error, backward pass, and weight update. Every number on these slides can be checked with a calculator. The example and its numbers follow Matt Mazur's well-known 2015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four steps in mind; every later slide belongs to one of them. The gradient ∂E/∂w tells us how the error changes if we increase w slightly. We step against it, scaled by the learning rate 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inputs, two hidden neurons, two outputs, and eight weights. Naming: w1 and w2 feed h1, w3 and w4 feed h2, w5 and w6 feed o1, w7 and w8 feed o2. In this example one bias value is shared by each layer. The goal: given inputs 0.05 and 0.10, output 0.01 and 0.99.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verify one of these on a calculator: 1/(1+e^−0.3775) = 0.5933. Keep the distinction between net (before the activation) and out (after it); the backward pass needs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hidden values are shown rounded to four places to fit, but the calculation uses full precision. With random-ish starting weights the outputs are both around 0.75, nowhere near 0.01 and 0.99. That gap is what training will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error comes from o1, which should be 0.01 but outputs 0.75. Squared error punishes large mistakes much more than small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w5 affects the error only through net_o1, which affects out_o1, which affects E. The chain rule multiplies the local rates of change along that path. The middle factor is the derivative of the sigmoid, which conveniently can be written using its own output: σ'(x) = σ(x)(1 − σ(x)).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gradient is positive, so increasing w5 would increase the error; we decrease it. Point out that the delta δ_o1 depends only on the output neuron, not on which weight we are updating, so w6 reuses it: ∂E/∂w6 = δ_o1 × out_h2.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w6 = δ_o1 × out_h2. w7 and w8 use δ_o2 = −0.038098236 times out_h1 and out_h2. Using the original weights matters: the gradient describes the network as it was during the forward pass. Updating w5 before computing the hidden gradients is a common student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paths: δ_o1 × w5 = 0.138498562 × 0.40 = 0.055399425, and δ_o2 × w7 = −0.038098236 × 0.50 = −0.019049118. Their sum is 0.036350306. Note these use the ORIGINAL w5 and w7. This is where "back-propagation" gets its name: the output deltas travel backwards along the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w2 = same hidden delta for h1 times i2 = 0.10, which is why it is exactly double w1's gradient. w3 and w4 use h2's delta, computed the same way from δ_o1·w6 + δ_o2·w8. Only now, with all eight gradients in hand, do we apply all the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step barely moves the error, which is normal with a single example and η = 0.5. Repeating the same four steps 10,000 times drives it close to zero. Exercise idea: have students compute the gradients for w3 and w4 themselves, then compare with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8"/>
        </a:solidFill>
      </p:bgPr>
    </p:bg>
    <p:spTree>
      <p:nvGrpSpPr>
        <p:cNvPr id="1" name=""/>
        <p:cNvGrpSpPr/>
        <p:nvPr/>
      </p:nvGrpSpPr>
      <p:grpSpPr>
        <a:xfrm>
          <a:off x="0" y="0"/>
          <a:ext cx="0" cy="0"/>
          <a:chOff x="0" y="0"/>
          <a:chExt cx="0" cy="0"/>
        </a:xfrm>
      </p:grpSpPr>
      <p:pic>
        <p:nvPicPr>
          <p:cNvPr id="2" name="Image 0" descr="Decorative outline of a small 2-2-2 neural network">    </p:cNvPr>
          <p:cNvPicPr>
            <a:picLocks noChangeAspect="1"/>
          </p:cNvPicPr>
          <p:nvPr/>
        </p:nvPicPr>
        <p:blipFill>
          <a:blip r:embed="rId1"/>
          <a:srcRect l="0" r="0" t="0" b="0"/>
          <a:stretch/>
        </p:blipFill>
        <p:spPr>
          <a:xfrm>
            <a:off x="8331200" y="812800"/>
            <a:ext cx="3048000" cy="2032000"/>
          </a:xfrm>
          <a:prstGeom prst="rect">
            <a:avLst/>
          </a:prstGeom>
        </p:spPr>
      </p:pic>
      <p:sp>
        <p:nvSpPr>
          <p:cNvPr id="3" name="Text 0"/>
          <p:cNvSpPr/>
          <p:nvPr/>
        </p:nvSpPr>
        <p:spPr>
          <a:xfrm>
            <a:off x="812800" y="260111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6B"/>
                </a:solidFill>
                <a:latin typeface="Arial" pitchFamily="34" charset="0"/>
                <a:ea typeface="Arial" pitchFamily="34" charset="-122"/>
                <a:cs typeface="Arial" pitchFamily="34" charset="-120"/>
              </a:rPr>
              <a:t>IT2011 · ARTIFICIAL INTELLIGENCE AND MACHINE LEARNING</a:t>
            </a:r>
            <a:endParaRPr lang="en-US" sz="1200" dirty="0"/>
          </a:p>
        </p:txBody>
      </p:sp>
      <p:sp>
        <p:nvSpPr>
          <p:cNvPr id="4" name="Text 1"/>
          <p:cNvSpPr/>
          <p:nvPr/>
        </p:nvSpPr>
        <p:spPr>
          <a:xfrm>
            <a:off x="812800" y="3017639"/>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6F4EE"/>
                </a:solidFill>
                <a:latin typeface="Georgia" pitchFamily="34" charset="0"/>
                <a:ea typeface="Georgia" pitchFamily="34" charset="-122"/>
                <a:cs typeface="Georgia" pitchFamily="34" charset="-120"/>
              </a:rPr>
              <a:t>Backpropagation,</a:t>
            </a:r>
            <a:endParaRPr lang="en-US" sz="5600" dirty="0"/>
          </a:p>
          <a:p>
            <a:pPr algn="l" indent="0" marL="0">
              <a:lnSpc>
                <a:spcPts val="5880"/>
              </a:lnSpc>
              <a:buNone/>
            </a:pPr>
            <a:r>
              <a:rPr lang="en-US" sz="5600" b="1" dirty="0">
                <a:solidFill>
                  <a:srgbClr val="F6F4EE"/>
                </a:solidFill>
                <a:latin typeface="Georgia" pitchFamily="34" charset="0"/>
                <a:ea typeface="Georgia" pitchFamily="34" charset="-122"/>
                <a:cs typeface="Georgia" pitchFamily="34" charset="-120"/>
              </a:rPr>
              <a:t>step by step</a:t>
            </a:r>
            <a:endParaRPr lang="en-US" sz="5600" dirty="0"/>
          </a:p>
        </p:txBody>
      </p:sp>
      <p:sp>
        <p:nvSpPr>
          <p:cNvPr id="5" name="Text 2"/>
          <p:cNvSpPr/>
          <p:nvPr/>
        </p:nvSpPr>
        <p:spPr>
          <a:xfrm>
            <a:off x="812800" y="4714280"/>
            <a:ext cx="85026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3DC"/>
                </a:solidFill>
                <a:latin typeface="Arial" pitchFamily="34" charset="0"/>
                <a:ea typeface="Arial" pitchFamily="34" charset="-122"/>
                <a:cs typeface="Arial" pitchFamily="34" charset="-120"/>
              </a:rPr>
              <a:t>A worked example on a 2–2–2 network, following every number from the input to the weight update</a:t>
            </a:r>
            <a:endParaRPr lang="en-US" sz="2000" dirty="0"/>
          </a:p>
        </p:txBody>
      </p:sp>
      <p:pic>
        <p:nvPicPr>
          <p:cNvPr id="6" name="Image 1" descr="line">    </p:cNvPr>
          <p:cNvPicPr>
            <a:picLocks noChangeAspect="1"/>
          </p:cNvPicPr>
          <p:nvPr/>
        </p:nvPicPr>
        <p:blipFill>
          <a:blip r:embed="rId2"/>
          <a:srcRect l="0" r="0" t="0" b="0"/>
          <a:stretch/>
        </p:blipFill>
        <p:spPr>
          <a:xfrm>
            <a:off x="812800" y="5603280"/>
            <a:ext cx="10566400" cy="25400"/>
          </a:xfrm>
          <a:prstGeom prst="rect">
            <a:avLst/>
          </a:prstGeom>
        </p:spPr>
      </p:pic>
      <p:sp>
        <p:nvSpPr>
          <p:cNvPr id="7"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Arial" pitchFamily="34" charset="0"/>
                <a:ea typeface="Arial" pitchFamily="34" charset="-122"/>
                <a:cs typeface="Arial" pitchFamily="34" charset="-120"/>
              </a:rPr>
              <a:t>Dr. Lakmini Abeywardhana · Faculty of Computing, SLIIT  ·  Example after Matt Mazur, “A Step by Step Backpropagation Example” (2015)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C"/>
                </a:solidFill>
                <a:latin typeface="Arial" pitchFamily="34" charset="0"/>
                <a:ea typeface="Arial" pitchFamily="34" charset="-122"/>
                <a:cs typeface="Arial" pitchFamily="34" charset="-120"/>
              </a:rPr>
              <a:t>THE BIG PICTURE</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B2A38"/>
                </a:solidFill>
                <a:latin typeface="Georgia" pitchFamily="34" charset="0"/>
                <a:ea typeface="Georgia" pitchFamily="34" charset="-122"/>
                <a:cs typeface="Georgia" pitchFamily="34" charset="-120"/>
              </a:rPr>
              <a:t>What backpropagation does</a:t>
            </a:r>
            <a:endParaRPr lang="en-US" sz="3200" dirty="0"/>
          </a:p>
        </p:txBody>
      </p:sp>
      <p:sp>
        <p:nvSpPr>
          <p:cNvPr id="4" name="Text 2"/>
          <p:cNvSpPr/>
          <p:nvPr/>
        </p:nvSpPr>
        <p:spPr>
          <a:xfrm>
            <a:off x="812800" y="1874441"/>
            <a:ext cx="9156700"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4A5560"/>
                </a:solidFill>
                <a:latin typeface="Arial" pitchFamily="34" charset="0"/>
                <a:ea typeface="Arial" pitchFamily="34" charset="-122"/>
                <a:cs typeface="Arial" pitchFamily="34" charset="-120"/>
              </a:rPr>
              <a:t>The network makes a prediction and we measure how wrong it is. Then we nudge </a:t>
            </a:r>
            <a:r>
              <a:rPr lang="en-US" sz="1600" b="1" dirty="0">
                <a:solidFill>
                  <a:srgbClr val="4A5560"/>
                </a:solidFill>
                <a:latin typeface="Arial" pitchFamily="34" charset="0"/>
                <a:ea typeface="Arial" pitchFamily="34" charset="-122"/>
                <a:cs typeface="Arial" pitchFamily="34" charset="-120"/>
              </a:rPr>
              <a:t>every weight</a:t>
            </a:r>
            <a:r>
              <a:rPr lang="en-US" sz="1600" dirty="0">
                <a:solidFill>
                  <a:srgbClr val="4A5560"/>
                </a:solidFill>
                <a:latin typeface="Arial" pitchFamily="34" charset="0"/>
                <a:ea typeface="Arial" pitchFamily="34" charset="-122"/>
                <a:cs typeface="Arial" pitchFamily="34" charset="-120"/>
              </a:rPr>
              <a:t> a little in the direction that reduces the error. Backpropagation is the bookkeeping that finds that direction for all weights at once, using the </a:t>
            </a:r>
            <a:r>
              <a:rPr lang="en-US" sz="1600" b="1" dirty="0">
                <a:solidFill>
                  <a:srgbClr val="4A5560"/>
                </a:solidFill>
                <a:latin typeface="Arial" pitchFamily="34" charset="0"/>
                <a:ea typeface="Arial" pitchFamily="34" charset="-122"/>
                <a:cs typeface="Arial" pitchFamily="34" charset="-120"/>
              </a:rPr>
              <a:t>chain rule</a:t>
            </a:r>
            <a:r>
              <a:rPr lang="en-US" sz="1600" dirty="0">
                <a:solidFill>
                  <a:srgbClr val="4A5560"/>
                </a:solidFill>
                <a:latin typeface="Arial" pitchFamily="34" charset="0"/>
                <a:ea typeface="Arial" pitchFamily="34" charset="-122"/>
                <a:cs typeface="Arial" pitchFamily="34" charset="-120"/>
              </a:rPr>
              <a:t>.</a:t>
            </a:r>
            <a:endParaRPr lang="en-US" sz="1600" dirty="0"/>
          </a:p>
        </p:txBody>
      </p:sp>
      <p:sp>
        <p:nvSpPr>
          <p:cNvPr id="5" name="Shape 3"/>
          <p:cNvSpPr/>
          <p:nvPr/>
        </p:nvSpPr>
        <p:spPr>
          <a:xfrm>
            <a:off x="815975" y="3096816"/>
            <a:ext cx="2254250" cy="1444691"/>
          </a:xfrm>
          <a:prstGeom prst="roundRect">
            <a:avLst>
              <a:gd name="adj" fmla="val 6813"/>
            </a:avLst>
          </a:prstGeom>
          <a:solidFill>
            <a:srgbClr val="FDFCF8"/>
          </a:solidFill>
          <a:ln w="6350">
            <a:solidFill>
              <a:srgbClr val="DAD5C8"/>
            </a:solidFill>
            <a:prstDash val="solid"/>
          </a:ln>
        </p:spPr>
      </p:sp>
      <p:sp>
        <p:nvSpPr>
          <p:cNvPr id="6" name="Text 4"/>
          <p:cNvSpPr/>
          <p:nvPr/>
        </p:nvSpPr>
        <p:spPr>
          <a:xfrm>
            <a:off x="1020233" y="3301074"/>
            <a:ext cx="19011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C"/>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1020233" y="3590595"/>
            <a:ext cx="190110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8"/>
                </a:solidFill>
                <a:latin typeface="Arial" pitchFamily="34" charset="0"/>
                <a:ea typeface="Arial" pitchFamily="34" charset="-122"/>
                <a:cs typeface="Arial" pitchFamily="34" charset="-120"/>
              </a:rPr>
              <a:t>Forward pass</a:t>
            </a:r>
            <a:endParaRPr lang="en-US" sz="1600" dirty="0"/>
          </a:p>
        </p:txBody>
      </p:sp>
      <p:sp>
        <p:nvSpPr>
          <p:cNvPr id="8" name="Text 6"/>
          <p:cNvSpPr/>
          <p:nvPr/>
        </p:nvSpPr>
        <p:spPr>
          <a:xfrm>
            <a:off x="1020233" y="3910608"/>
            <a:ext cx="190110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Inputs flow through the layers to produce outputs</a:t>
            </a:r>
            <a:endParaRPr lang="en-US" sz="1200" dirty="0"/>
          </a:p>
        </p:txBody>
      </p:sp>
      <p:pic>
        <p:nvPicPr>
          <p:cNvPr id="9" name="Image 0" descr="arrow-right">    </p:cNvPr>
          <p:cNvPicPr>
            <a:picLocks noChangeAspect="1"/>
          </p:cNvPicPr>
          <p:nvPr/>
        </p:nvPicPr>
        <p:blipFill>
          <a:blip r:embed="rId1"/>
          <a:srcRect l="0" r="0" t="0" b="0"/>
          <a:stretch/>
        </p:blipFill>
        <p:spPr>
          <a:xfrm>
            <a:off x="3175000" y="3742928"/>
            <a:ext cx="304800" cy="152400"/>
          </a:xfrm>
          <a:prstGeom prst="rect">
            <a:avLst/>
          </a:prstGeom>
        </p:spPr>
      </p:pic>
      <p:sp>
        <p:nvSpPr>
          <p:cNvPr id="10" name="Shape 7"/>
          <p:cNvSpPr/>
          <p:nvPr/>
        </p:nvSpPr>
        <p:spPr>
          <a:xfrm>
            <a:off x="3584575" y="3096816"/>
            <a:ext cx="2254250" cy="1444691"/>
          </a:xfrm>
          <a:prstGeom prst="roundRect">
            <a:avLst>
              <a:gd name="adj" fmla="val 6813"/>
            </a:avLst>
          </a:prstGeom>
          <a:solidFill>
            <a:srgbClr val="FDFCF8"/>
          </a:solidFill>
          <a:ln w="6350">
            <a:solidFill>
              <a:srgbClr val="DAD5C8"/>
            </a:solidFill>
            <a:prstDash val="solid"/>
          </a:ln>
        </p:spPr>
      </p:sp>
      <p:sp>
        <p:nvSpPr>
          <p:cNvPr id="11" name="Text 8"/>
          <p:cNvSpPr/>
          <p:nvPr/>
        </p:nvSpPr>
        <p:spPr>
          <a:xfrm>
            <a:off x="3788833" y="3301074"/>
            <a:ext cx="19011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C"/>
                </a:solidFill>
                <a:latin typeface="Arial" pitchFamily="34" charset="0"/>
                <a:ea typeface="Arial" pitchFamily="34" charset="-122"/>
                <a:cs typeface="Arial" pitchFamily="34" charset="-120"/>
              </a:rPr>
              <a:t>2</a:t>
            </a:r>
            <a:endParaRPr lang="en-US" sz="1200" dirty="0"/>
          </a:p>
        </p:txBody>
      </p:sp>
      <p:sp>
        <p:nvSpPr>
          <p:cNvPr id="12" name="Text 9"/>
          <p:cNvSpPr/>
          <p:nvPr/>
        </p:nvSpPr>
        <p:spPr>
          <a:xfrm>
            <a:off x="3788833" y="3590595"/>
            <a:ext cx="190110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8"/>
                </a:solidFill>
                <a:latin typeface="Arial" pitchFamily="34" charset="0"/>
                <a:ea typeface="Arial" pitchFamily="34" charset="-122"/>
                <a:cs typeface="Arial" pitchFamily="34" charset="-120"/>
              </a:rPr>
              <a:t>Error</a:t>
            </a:r>
            <a:endParaRPr lang="en-US" sz="1600" dirty="0"/>
          </a:p>
        </p:txBody>
      </p:sp>
      <p:sp>
        <p:nvSpPr>
          <p:cNvPr id="13" name="Text 10"/>
          <p:cNvSpPr/>
          <p:nvPr/>
        </p:nvSpPr>
        <p:spPr>
          <a:xfrm>
            <a:off x="3788833" y="3910608"/>
            <a:ext cx="190110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Compare the outputs with the targets</a:t>
            </a:r>
            <a:endParaRPr lang="en-US" sz="1200" dirty="0"/>
          </a:p>
        </p:txBody>
      </p:sp>
      <p:pic>
        <p:nvPicPr>
          <p:cNvPr id="14" name="Image 1" descr="arrow-right">    </p:cNvPr>
          <p:cNvPicPr>
            <a:picLocks noChangeAspect="1"/>
          </p:cNvPicPr>
          <p:nvPr/>
        </p:nvPicPr>
        <p:blipFill>
          <a:blip r:embed="rId2"/>
          <a:srcRect l="0" r="0" t="0" b="0"/>
          <a:stretch/>
        </p:blipFill>
        <p:spPr>
          <a:xfrm>
            <a:off x="5943600" y="3742928"/>
            <a:ext cx="304800" cy="152400"/>
          </a:xfrm>
          <a:prstGeom prst="rect">
            <a:avLst/>
          </a:prstGeom>
        </p:spPr>
      </p:pic>
      <p:sp>
        <p:nvSpPr>
          <p:cNvPr id="15" name="Shape 11"/>
          <p:cNvSpPr/>
          <p:nvPr/>
        </p:nvSpPr>
        <p:spPr>
          <a:xfrm>
            <a:off x="6353175" y="3096816"/>
            <a:ext cx="2254250" cy="1444691"/>
          </a:xfrm>
          <a:prstGeom prst="roundRect">
            <a:avLst>
              <a:gd name="adj" fmla="val 6813"/>
            </a:avLst>
          </a:prstGeom>
          <a:solidFill>
            <a:srgbClr val="FDFCF8"/>
          </a:solidFill>
          <a:ln w="6350">
            <a:solidFill>
              <a:srgbClr val="DAD5C8"/>
            </a:solidFill>
            <a:prstDash val="solid"/>
          </a:ln>
        </p:spPr>
      </p:sp>
      <p:sp>
        <p:nvSpPr>
          <p:cNvPr id="16" name="Text 12"/>
          <p:cNvSpPr/>
          <p:nvPr/>
        </p:nvSpPr>
        <p:spPr>
          <a:xfrm>
            <a:off x="6557434" y="3301074"/>
            <a:ext cx="19011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C"/>
                </a:solidFill>
                <a:latin typeface="Arial" pitchFamily="34" charset="0"/>
                <a:ea typeface="Arial" pitchFamily="34" charset="-122"/>
                <a:cs typeface="Arial" pitchFamily="34" charset="-120"/>
              </a:rPr>
              <a:t>3</a:t>
            </a:r>
            <a:endParaRPr lang="en-US" sz="1200" dirty="0"/>
          </a:p>
        </p:txBody>
      </p:sp>
      <p:sp>
        <p:nvSpPr>
          <p:cNvPr id="17" name="Text 13"/>
          <p:cNvSpPr/>
          <p:nvPr/>
        </p:nvSpPr>
        <p:spPr>
          <a:xfrm>
            <a:off x="6557434" y="3590595"/>
            <a:ext cx="190110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8"/>
                </a:solidFill>
                <a:latin typeface="Arial" pitchFamily="34" charset="0"/>
                <a:ea typeface="Arial" pitchFamily="34" charset="-122"/>
                <a:cs typeface="Arial" pitchFamily="34" charset="-120"/>
              </a:rPr>
              <a:t>Backward pass</a:t>
            </a:r>
            <a:endParaRPr lang="en-US" sz="1600" dirty="0"/>
          </a:p>
        </p:txBody>
      </p:sp>
      <p:sp>
        <p:nvSpPr>
          <p:cNvPr id="18" name="Text 14"/>
          <p:cNvSpPr/>
          <p:nvPr/>
        </p:nvSpPr>
        <p:spPr>
          <a:xfrm>
            <a:off x="6557434" y="3910608"/>
            <a:ext cx="190110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The chain rule gives ∂E/∂w for every weight</a:t>
            </a:r>
            <a:endParaRPr lang="en-US" sz="1200" dirty="0"/>
          </a:p>
        </p:txBody>
      </p:sp>
      <p:pic>
        <p:nvPicPr>
          <p:cNvPr id="19" name="Image 2" descr="arrow-right">    </p:cNvPr>
          <p:cNvPicPr>
            <a:picLocks noChangeAspect="1"/>
          </p:cNvPicPr>
          <p:nvPr/>
        </p:nvPicPr>
        <p:blipFill>
          <a:blip r:embed="rId3"/>
          <a:srcRect l="0" r="0" t="0" b="0"/>
          <a:stretch/>
        </p:blipFill>
        <p:spPr>
          <a:xfrm>
            <a:off x="8712200" y="3742928"/>
            <a:ext cx="304800" cy="152400"/>
          </a:xfrm>
          <a:prstGeom prst="rect">
            <a:avLst/>
          </a:prstGeom>
        </p:spPr>
      </p:pic>
      <p:sp>
        <p:nvSpPr>
          <p:cNvPr id="20" name="Shape 15"/>
          <p:cNvSpPr/>
          <p:nvPr/>
        </p:nvSpPr>
        <p:spPr>
          <a:xfrm>
            <a:off x="9121775" y="3096816"/>
            <a:ext cx="2254250" cy="1444691"/>
          </a:xfrm>
          <a:prstGeom prst="roundRect">
            <a:avLst>
              <a:gd name="adj" fmla="val 6813"/>
            </a:avLst>
          </a:prstGeom>
          <a:solidFill>
            <a:srgbClr val="FDFCF8"/>
          </a:solidFill>
          <a:ln w="6350">
            <a:solidFill>
              <a:srgbClr val="DAD5C8"/>
            </a:solidFill>
            <a:prstDash val="solid"/>
          </a:ln>
        </p:spPr>
      </p:sp>
      <p:sp>
        <p:nvSpPr>
          <p:cNvPr id="21" name="Text 16"/>
          <p:cNvSpPr/>
          <p:nvPr/>
        </p:nvSpPr>
        <p:spPr>
          <a:xfrm>
            <a:off x="9326034" y="3301074"/>
            <a:ext cx="19011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C"/>
                </a:solidFill>
                <a:latin typeface="Arial" pitchFamily="34" charset="0"/>
                <a:ea typeface="Arial" pitchFamily="34" charset="-122"/>
                <a:cs typeface="Arial" pitchFamily="34" charset="-120"/>
              </a:rPr>
              <a:t>4</a:t>
            </a:r>
            <a:endParaRPr lang="en-US" sz="1200" dirty="0"/>
          </a:p>
        </p:txBody>
      </p:sp>
      <p:sp>
        <p:nvSpPr>
          <p:cNvPr id="22" name="Text 17"/>
          <p:cNvSpPr/>
          <p:nvPr/>
        </p:nvSpPr>
        <p:spPr>
          <a:xfrm>
            <a:off x="9326034" y="3590595"/>
            <a:ext cx="190110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8"/>
                </a:solidFill>
                <a:latin typeface="Arial" pitchFamily="34" charset="0"/>
                <a:ea typeface="Arial" pitchFamily="34" charset="-122"/>
                <a:cs typeface="Arial" pitchFamily="34" charset="-120"/>
              </a:rPr>
              <a:t>Update</a:t>
            </a:r>
            <a:endParaRPr lang="en-US" sz="1600" dirty="0"/>
          </a:p>
        </p:txBody>
      </p:sp>
      <p:sp>
        <p:nvSpPr>
          <p:cNvPr id="23" name="Text 18"/>
          <p:cNvSpPr/>
          <p:nvPr/>
        </p:nvSpPr>
        <p:spPr>
          <a:xfrm>
            <a:off x="9326034" y="3910608"/>
            <a:ext cx="190110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w ← w − η·∂E/∂w, then repeat</a:t>
            </a:r>
            <a:endParaRPr lang="en-US" sz="1200" dirty="0"/>
          </a:p>
        </p:txBody>
      </p:sp>
      <p:sp>
        <p:nvSpPr>
          <p:cNvPr id="24"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E78"/>
                </a:solidFill>
                <a:latin typeface="Arial" pitchFamily="34" charset="0"/>
                <a:ea typeface="Arial" pitchFamily="34" charset="-122"/>
                <a:cs typeface="Arial" pitchFamily="34" charset="-120"/>
              </a:rPr>
              <a:t>IT2011 · Backpropagation, step by step</a:t>
            </a:r>
            <a:endParaRPr lang="en-US" sz="1200" dirty="0"/>
          </a:p>
        </p:txBody>
      </p:sp>
      <p:sp>
        <p:nvSpPr>
          <p:cNvPr id="25"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E78"/>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C"/>
                </a:solidFill>
                <a:latin typeface="Arial" pitchFamily="34" charset="0"/>
                <a:ea typeface="Arial" pitchFamily="34" charset="-122"/>
                <a:cs typeface="Arial" pitchFamily="34" charset="-120"/>
              </a:rPr>
              <a:t>SETUP</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B2A38"/>
                </a:solidFill>
                <a:latin typeface="Georgia" pitchFamily="34" charset="0"/>
                <a:ea typeface="Georgia" pitchFamily="34" charset="-122"/>
                <a:cs typeface="Georgia" pitchFamily="34" charset="-120"/>
              </a:rPr>
              <a:t>The example network</a:t>
            </a:r>
            <a:endParaRPr lang="en-US" sz="3200" dirty="0"/>
          </a:p>
        </p:txBody>
      </p:sp>
      <p:pic>
        <p:nvPicPr>
          <p:cNvPr id="4" name="Image 0" descr="Network diagram: inputs i1 and i2 connect to hidden neurons h1 and h2 through weights w1 to w4; h1 and h2 connect to outputs o1 and o2 through weights w5 to w8">    </p:cNvPr>
          <p:cNvPicPr>
            <a:picLocks noChangeAspect="1"/>
          </p:cNvPicPr>
          <p:nvPr/>
        </p:nvPicPr>
        <p:blipFill>
          <a:blip r:embed="rId1"/>
          <a:srcRect l="0" r="0" t="-12" b="-12"/>
          <a:stretch/>
        </p:blipFill>
        <p:spPr>
          <a:xfrm>
            <a:off x="812800" y="1714500"/>
            <a:ext cx="6604000" cy="4064000"/>
          </a:xfrm>
          <a:prstGeom prst="rect">
            <a:avLst/>
          </a:prstGeom>
        </p:spPr>
      </p:pic>
      <p:sp>
        <p:nvSpPr>
          <p:cNvPr id="5" name="Text 2"/>
          <p:cNvSpPr/>
          <p:nvPr/>
        </p:nvSpPr>
        <p:spPr>
          <a:xfrm>
            <a:off x="787400" y="1778000"/>
            <a:ext cx="1320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46E78"/>
                </a:solidFill>
                <a:latin typeface="Arial" pitchFamily="34" charset="0"/>
                <a:ea typeface="Arial" pitchFamily="34" charset="-122"/>
                <a:cs typeface="Arial" pitchFamily="34" charset="-120"/>
              </a:rPr>
              <a:t>Input</a:t>
            </a:r>
            <a:endParaRPr lang="en-US" sz="1200" dirty="0"/>
          </a:p>
        </p:txBody>
      </p:sp>
      <p:sp>
        <p:nvSpPr>
          <p:cNvPr id="6" name="Text 3"/>
          <p:cNvSpPr/>
          <p:nvPr/>
        </p:nvSpPr>
        <p:spPr>
          <a:xfrm>
            <a:off x="3327400" y="1778000"/>
            <a:ext cx="1320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46E78"/>
                </a:solidFill>
                <a:latin typeface="Arial" pitchFamily="34" charset="0"/>
                <a:ea typeface="Arial" pitchFamily="34" charset="-122"/>
                <a:cs typeface="Arial" pitchFamily="34" charset="-120"/>
              </a:rPr>
              <a:t>Hidden</a:t>
            </a:r>
            <a:endParaRPr lang="en-US" sz="1200" dirty="0"/>
          </a:p>
        </p:txBody>
      </p:sp>
      <p:sp>
        <p:nvSpPr>
          <p:cNvPr id="7" name="Text 4"/>
          <p:cNvSpPr/>
          <p:nvPr/>
        </p:nvSpPr>
        <p:spPr>
          <a:xfrm>
            <a:off x="5867400" y="1778000"/>
            <a:ext cx="1320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46E78"/>
                </a:solidFill>
                <a:latin typeface="Arial" pitchFamily="34" charset="0"/>
                <a:ea typeface="Arial" pitchFamily="34" charset="-122"/>
                <a:cs typeface="Arial" pitchFamily="34" charset="-120"/>
              </a:rPr>
              <a:t>Output</a:t>
            </a:r>
            <a:endParaRPr lang="en-US" sz="1200" dirty="0"/>
          </a:p>
        </p:txBody>
      </p:sp>
      <p:sp>
        <p:nvSpPr>
          <p:cNvPr id="8" name="Text 5"/>
          <p:cNvSpPr/>
          <p:nvPr/>
        </p:nvSpPr>
        <p:spPr>
          <a:xfrm>
            <a:off x="1066800" y="2527300"/>
            <a:ext cx="762000" cy="30982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A38"/>
                </a:solidFill>
                <a:latin typeface="Arial" pitchFamily="34" charset="0"/>
                <a:ea typeface="Arial" pitchFamily="34" charset="-122"/>
                <a:cs typeface="Arial" pitchFamily="34" charset="-120"/>
              </a:rPr>
              <a:t>i1</a:t>
            </a:r>
            <a:endParaRPr lang="en-US" sz="1600" dirty="0"/>
          </a:p>
        </p:txBody>
      </p:sp>
      <p:sp>
        <p:nvSpPr>
          <p:cNvPr id="9" name="Text 6"/>
          <p:cNvSpPr/>
          <p:nvPr/>
        </p:nvSpPr>
        <p:spPr>
          <a:xfrm>
            <a:off x="1066800" y="4686300"/>
            <a:ext cx="762000" cy="30982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A38"/>
                </a:solidFill>
                <a:latin typeface="Arial" pitchFamily="34" charset="0"/>
                <a:ea typeface="Arial" pitchFamily="34" charset="-122"/>
                <a:cs typeface="Arial" pitchFamily="34" charset="-120"/>
              </a:rPr>
              <a:t>i2</a:t>
            </a:r>
            <a:endParaRPr lang="en-US" sz="1600" dirty="0"/>
          </a:p>
        </p:txBody>
      </p:sp>
      <p:sp>
        <p:nvSpPr>
          <p:cNvPr id="10" name="Text 7"/>
          <p:cNvSpPr/>
          <p:nvPr/>
        </p:nvSpPr>
        <p:spPr>
          <a:xfrm>
            <a:off x="3606800" y="2527300"/>
            <a:ext cx="762000" cy="30982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A38"/>
                </a:solidFill>
                <a:latin typeface="Arial" pitchFamily="34" charset="0"/>
                <a:ea typeface="Arial" pitchFamily="34" charset="-122"/>
                <a:cs typeface="Arial" pitchFamily="34" charset="-120"/>
              </a:rPr>
              <a:t>h1</a:t>
            </a:r>
            <a:endParaRPr lang="en-US" sz="1600" dirty="0"/>
          </a:p>
        </p:txBody>
      </p:sp>
      <p:sp>
        <p:nvSpPr>
          <p:cNvPr id="11" name="Text 8"/>
          <p:cNvSpPr/>
          <p:nvPr/>
        </p:nvSpPr>
        <p:spPr>
          <a:xfrm>
            <a:off x="3606800" y="4686300"/>
            <a:ext cx="762000" cy="30982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A38"/>
                </a:solidFill>
                <a:latin typeface="Arial" pitchFamily="34" charset="0"/>
                <a:ea typeface="Arial" pitchFamily="34" charset="-122"/>
                <a:cs typeface="Arial" pitchFamily="34" charset="-120"/>
              </a:rPr>
              <a:t>h2</a:t>
            </a:r>
            <a:endParaRPr lang="en-US" sz="1600" dirty="0"/>
          </a:p>
        </p:txBody>
      </p:sp>
      <p:sp>
        <p:nvSpPr>
          <p:cNvPr id="12" name="Text 9"/>
          <p:cNvSpPr/>
          <p:nvPr/>
        </p:nvSpPr>
        <p:spPr>
          <a:xfrm>
            <a:off x="6146800" y="2527300"/>
            <a:ext cx="762000" cy="30982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A38"/>
                </a:solidFill>
                <a:latin typeface="Arial" pitchFamily="34" charset="0"/>
                <a:ea typeface="Arial" pitchFamily="34" charset="-122"/>
                <a:cs typeface="Arial" pitchFamily="34" charset="-120"/>
              </a:rPr>
              <a:t>o1</a:t>
            </a:r>
            <a:endParaRPr lang="en-US" sz="1600" dirty="0"/>
          </a:p>
        </p:txBody>
      </p:sp>
      <p:sp>
        <p:nvSpPr>
          <p:cNvPr id="13" name="Text 10"/>
          <p:cNvSpPr/>
          <p:nvPr/>
        </p:nvSpPr>
        <p:spPr>
          <a:xfrm>
            <a:off x="6146800" y="4686300"/>
            <a:ext cx="762000" cy="30982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B2A38"/>
                </a:solidFill>
                <a:latin typeface="Arial" pitchFamily="34" charset="0"/>
                <a:ea typeface="Arial" pitchFamily="34" charset="-122"/>
                <a:cs typeface="Arial" pitchFamily="34" charset="-120"/>
              </a:rPr>
              <a:t>o2</a:t>
            </a:r>
            <a:endParaRPr lang="en-US" sz="1600" dirty="0"/>
          </a:p>
        </p:txBody>
      </p:sp>
      <p:sp>
        <p:nvSpPr>
          <p:cNvPr id="14" name="Shape 11"/>
          <p:cNvSpPr/>
          <p:nvPr/>
        </p:nvSpPr>
        <p:spPr>
          <a:xfrm>
            <a:off x="1768475" y="2549525"/>
            <a:ext cx="882650" cy="215437"/>
          </a:xfrm>
          <a:prstGeom prst="roundRect">
            <a:avLst>
              <a:gd name="adj" fmla="val 22106"/>
            </a:avLst>
          </a:prstGeom>
          <a:solidFill>
            <a:srgbClr val="F6F4EE"/>
          </a:solidFill>
          <a:ln w="6350">
            <a:solidFill>
              <a:srgbClr val="9AA3AB"/>
            </a:solidFill>
            <a:prstDash val="solid"/>
          </a:ln>
        </p:spPr>
      </p:sp>
      <p:sp>
        <p:nvSpPr>
          <p:cNvPr id="15" name="Text 12"/>
          <p:cNvSpPr/>
          <p:nvPr/>
        </p:nvSpPr>
        <p:spPr>
          <a:xfrm>
            <a:off x="1794933" y="2550583"/>
            <a:ext cx="8297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8"/>
                </a:solidFill>
                <a:latin typeface="Arial" pitchFamily="34" charset="0"/>
                <a:ea typeface="Arial" pitchFamily="34" charset="-122"/>
                <a:cs typeface="Arial" pitchFamily="34" charset="-120"/>
              </a:rPr>
              <a:t>w1 = .15</a:t>
            </a:r>
            <a:endParaRPr lang="en-US" sz="1200" dirty="0"/>
          </a:p>
        </p:txBody>
      </p:sp>
      <p:sp>
        <p:nvSpPr>
          <p:cNvPr id="16" name="Shape 13"/>
          <p:cNvSpPr/>
          <p:nvPr/>
        </p:nvSpPr>
        <p:spPr>
          <a:xfrm>
            <a:off x="1768475" y="3197225"/>
            <a:ext cx="882650" cy="215437"/>
          </a:xfrm>
          <a:prstGeom prst="roundRect">
            <a:avLst>
              <a:gd name="adj" fmla="val 22106"/>
            </a:avLst>
          </a:prstGeom>
          <a:solidFill>
            <a:srgbClr val="F6F4EE"/>
          </a:solidFill>
          <a:ln w="6350">
            <a:solidFill>
              <a:srgbClr val="9AA3AB"/>
            </a:solidFill>
            <a:prstDash val="solid"/>
          </a:ln>
        </p:spPr>
      </p:sp>
      <p:sp>
        <p:nvSpPr>
          <p:cNvPr id="17" name="Text 14"/>
          <p:cNvSpPr/>
          <p:nvPr/>
        </p:nvSpPr>
        <p:spPr>
          <a:xfrm>
            <a:off x="1794933" y="3198283"/>
            <a:ext cx="8297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8"/>
                </a:solidFill>
                <a:latin typeface="Arial" pitchFamily="34" charset="0"/>
                <a:ea typeface="Arial" pitchFamily="34" charset="-122"/>
                <a:cs typeface="Arial" pitchFamily="34" charset="-120"/>
              </a:rPr>
              <a:t>w3 = .25</a:t>
            </a:r>
            <a:endParaRPr lang="en-US" sz="1200" dirty="0"/>
          </a:p>
        </p:txBody>
      </p:sp>
      <p:sp>
        <p:nvSpPr>
          <p:cNvPr id="18" name="Shape 15"/>
          <p:cNvSpPr/>
          <p:nvPr/>
        </p:nvSpPr>
        <p:spPr>
          <a:xfrm>
            <a:off x="1768475" y="4060825"/>
            <a:ext cx="882650" cy="215437"/>
          </a:xfrm>
          <a:prstGeom prst="roundRect">
            <a:avLst>
              <a:gd name="adj" fmla="val 22106"/>
            </a:avLst>
          </a:prstGeom>
          <a:solidFill>
            <a:srgbClr val="F6F4EE"/>
          </a:solidFill>
          <a:ln w="6350">
            <a:solidFill>
              <a:srgbClr val="9AA3AB"/>
            </a:solidFill>
            <a:prstDash val="solid"/>
          </a:ln>
        </p:spPr>
      </p:sp>
      <p:sp>
        <p:nvSpPr>
          <p:cNvPr id="19" name="Text 16"/>
          <p:cNvSpPr/>
          <p:nvPr/>
        </p:nvSpPr>
        <p:spPr>
          <a:xfrm>
            <a:off x="1794933" y="4061883"/>
            <a:ext cx="8297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8"/>
                </a:solidFill>
                <a:latin typeface="Arial" pitchFamily="34" charset="0"/>
                <a:ea typeface="Arial" pitchFamily="34" charset="-122"/>
                <a:cs typeface="Arial" pitchFamily="34" charset="-120"/>
              </a:rPr>
              <a:t>w2 = .20</a:t>
            </a:r>
            <a:endParaRPr lang="en-US" sz="1200" dirty="0"/>
          </a:p>
        </p:txBody>
      </p:sp>
      <p:sp>
        <p:nvSpPr>
          <p:cNvPr id="20" name="Shape 17"/>
          <p:cNvSpPr/>
          <p:nvPr/>
        </p:nvSpPr>
        <p:spPr>
          <a:xfrm>
            <a:off x="1768475" y="4708525"/>
            <a:ext cx="882650" cy="215437"/>
          </a:xfrm>
          <a:prstGeom prst="roundRect">
            <a:avLst>
              <a:gd name="adj" fmla="val 22106"/>
            </a:avLst>
          </a:prstGeom>
          <a:solidFill>
            <a:srgbClr val="F6F4EE"/>
          </a:solidFill>
          <a:ln w="6350">
            <a:solidFill>
              <a:srgbClr val="9AA3AB"/>
            </a:solidFill>
            <a:prstDash val="solid"/>
          </a:ln>
        </p:spPr>
      </p:sp>
      <p:sp>
        <p:nvSpPr>
          <p:cNvPr id="21" name="Text 18"/>
          <p:cNvSpPr/>
          <p:nvPr/>
        </p:nvSpPr>
        <p:spPr>
          <a:xfrm>
            <a:off x="1794933" y="4709583"/>
            <a:ext cx="8297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8"/>
                </a:solidFill>
                <a:latin typeface="Arial" pitchFamily="34" charset="0"/>
                <a:ea typeface="Arial" pitchFamily="34" charset="-122"/>
                <a:cs typeface="Arial" pitchFamily="34" charset="-120"/>
              </a:rPr>
              <a:t>w4 = .30</a:t>
            </a:r>
            <a:endParaRPr lang="en-US" sz="1200" dirty="0"/>
          </a:p>
        </p:txBody>
      </p:sp>
      <p:sp>
        <p:nvSpPr>
          <p:cNvPr id="22" name="Shape 19"/>
          <p:cNvSpPr/>
          <p:nvPr/>
        </p:nvSpPr>
        <p:spPr>
          <a:xfrm>
            <a:off x="4308475" y="2549525"/>
            <a:ext cx="882650" cy="215437"/>
          </a:xfrm>
          <a:prstGeom prst="roundRect">
            <a:avLst>
              <a:gd name="adj" fmla="val 22106"/>
            </a:avLst>
          </a:prstGeom>
          <a:solidFill>
            <a:srgbClr val="F6F4EE"/>
          </a:solidFill>
          <a:ln w="6350">
            <a:solidFill>
              <a:srgbClr val="9AA3AB"/>
            </a:solidFill>
            <a:prstDash val="solid"/>
          </a:ln>
        </p:spPr>
      </p:sp>
      <p:sp>
        <p:nvSpPr>
          <p:cNvPr id="23" name="Text 20"/>
          <p:cNvSpPr/>
          <p:nvPr/>
        </p:nvSpPr>
        <p:spPr>
          <a:xfrm>
            <a:off x="4334933" y="2550583"/>
            <a:ext cx="8297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8"/>
                </a:solidFill>
                <a:latin typeface="Arial" pitchFamily="34" charset="0"/>
                <a:ea typeface="Arial" pitchFamily="34" charset="-122"/>
                <a:cs typeface="Arial" pitchFamily="34" charset="-120"/>
              </a:rPr>
              <a:t>w5 = .40</a:t>
            </a:r>
            <a:endParaRPr lang="en-US" sz="1200" dirty="0"/>
          </a:p>
        </p:txBody>
      </p:sp>
      <p:sp>
        <p:nvSpPr>
          <p:cNvPr id="24" name="Shape 21"/>
          <p:cNvSpPr/>
          <p:nvPr/>
        </p:nvSpPr>
        <p:spPr>
          <a:xfrm>
            <a:off x="4308475" y="3197225"/>
            <a:ext cx="882650" cy="215437"/>
          </a:xfrm>
          <a:prstGeom prst="roundRect">
            <a:avLst>
              <a:gd name="adj" fmla="val 22106"/>
            </a:avLst>
          </a:prstGeom>
          <a:solidFill>
            <a:srgbClr val="F6F4EE"/>
          </a:solidFill>
          <a:ln w="6350">
            <a:solidFill>
              <a:srgbClr val="9AA3AB"/>
            </a:solidFill>
            <a:prstDash val="solid"/>
          </a:ln>
        </p:spPr>
      </p:sp>
      <p:sp>
        <p:nvSpPr>
          <p:cNvPr id="25" name="Text 22"/>
          <p:cNvSpPr/>
          <p:nvPr/>
        </p:nvSpPr>
        <p:spPr>
          <a:xfrm>
            <a:off x="4334933" y="3198283"/>
            <a:ext cx="8297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8"/>
                </a:solidFill>
                <a:latin typeface="Arial" pitchFamily="34" charset="0"/>
                <a:ea typeface="Arial" pitchFamily="34" charset="-122"/>
                <a:cs typeface="Arial" pitchFamily="34" charset="-120"/>
              </a:rPr>
              <a:t>w7 = .50</a:t>
            </a:r>
            <a:endParaRPr lang="en-US" sz="1200" dirty="0"/>
          </a:p>
        </p:txBody>
      </p:sp>
      <p:sp>
        <p:nvSpPr>
          <p:cNvPr id="26" name="Shape 23"/>
          <p:cNvSpPr/>
          <p:nvPr/>
        </p:nvSpPr>
        <p:spPr>
          <a:xfrm>
            <a:off x="4308475" y="4060825"/>
            <a:ext cx="882650" cy="215437"/>
          </a:xfrm>
          <a:prstGeom prst="roundRect">
            <a:avLst>
              <a:gd name="adj" fmla="val 22106"/>
            </a:avLst>
          </a:prstGeom>
          <a:solidFill>
            <a:srgbClr val="F6F4EE"/>
          </a:solidFill>
          <a:ln w="6350">
            <a:solidFill>
              <a:srgbClr val="9AA3AB"/>
            </a:solidFill>
            <a:prstDash val="solid"/>
          </a:ln>
        </p:spPr>
      </p:sp>
      <p:sp>
        <p:nvSpPr>
          <p:cNvPr id="27" name="Text 24"/>
          <p:cNvSpPr/>
          <p:nvPr/>
        </p:nvSpPr>
        <p:spPr>
          <a:xfrm>
            <a:off x="4334933" y="4061883"/>
            <a:ext cx="8297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8"/>
                </a:solidFill>
                <a:latin typeface="Arial" pitchFamily="34" charset="0"/>
                <a:ea typeface="Arial" pitchFamily="34" charset="-122"/>
                <a:cs typeface="Arial" pitchFamily="34" charset="-120"/>
              </a:rPr>
              <a:t>w6 = .45</a:t>
            </a:r>
            <a:endParaRPr lang="en-US" sz="1200" dirty="0"/>
          </a:p>
        </p:txBody>
      </p:sp>
      <p:sp>
        <p:nvSpPr>
          <p:cNvPr id="28" name="Shape 25"/>
          <p:cNvSpPr/>
          <p:nvPr/>
        </p:nvSpPr>
        <p:spPr>
          <a:xfrm>
            <a:off x="4308475" y="4708525"/>
            <a:ext cx="882650" cy="215437"/>
          </a:xfrm>
          <a:prstGeom prst="roundRect">
            <a:avLst>
              <a:gd name="adj" fmla="val 22106"/>
            </a:avLst>
          </a:prstGeom>
          <a:solidFill>
            <a:srgbClr val="F6F4EE"/>
          </a:solidFill>
          <a:ln w="6350">
            <a:solidFill>
              <a:srgbClr val="9AA3AB"/>
            </a:solidFill>
            <a:prstDash val="solid"/>
          </a:ln>
        </p:spPr>
      </p:sp>
      <p:sp>
        <p:nvSpPr>
          <p:cNvPr id="29" name="Text 26"/>
          <p:cNvSpPr/>
          <p:nvPr/>
        </p:nvSpPr>
        <p:spPr>
          <a:xfrm>
            <a:off x="4334933" y="4709583"/>
            <a:ext cx="8297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8"/>
                </a:solidFill>
                <a:latin typeface="Arial" pitchFamily="34" charset="0"/>
                <a:ea typeface="Arial" pitchFamily="34" charset="-122"/>
                <a:cs typeface="Arial" pitchFamily="34" charset="-120"/>
              </a:rPr>
              <a:t>w8 = .55</a:t>
            </a:r>
            <a:endParaRPr lang="en-US" sz="1200" dirty="0"/>
          </a:p>
        </p:txBody>
      </p:sp>
      <p:sp>
        <p:nvSpPr>
          <p:cNvPr id="30" name="Text 27"/>
          <p:cNvSpPr/>
          <p:nvPr/>
        </p:nvSpPr>
        <p:spPr>
          <a:xfrm>
            <a:off x="3006725" y="5270500"/>
            <a:ext cx="196215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8501C"/>
                </a:solidFill>
                <a:latin typeface="Arial" pitchFamily="34" charset="0"/>
                <a:ea typeface="Arial" pitchFamily="34" charset="-122"/>
                <a:cs typeface="Arial" pitchFamily="34" charset="-120"/>
              </a:rPr>
              <a:t>+ bias b1 = 0.35</a:t>
            </a:r>
            <a:endParaRPr lang="en-US" sz="1200" dirty="0"/>
          </a:p>
        </p:txBody>
      </p:sp>
      <p:sp>
        <p:nvSpPr>
          <p:cNvPr id="31" name="Text 28"/>
          <p:cNvSpPr/>
          <p:nvPr/>
        </p:nvSpPr>
        <p:spPr>
          <a:xfrm>
            <a:off x="5546725" y="5270500"/>
            <a:ext cx="196215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7D4F"/>
                </a:solidFill>
                <a:latin typeface="Arial" pitchFamily="34" charset="0"/>
                <a:ea typeface="Arial" pitchFamily="34" charset="-122"/>
                <a:cs typeface="Arial" pitchFamily="34" charset="-120"/>
              </a:rPr>
              <a:t>+ bias b2 = 0.60</a:t>
            </a:r>
            <a:endParaRPr lang="en-US" sz="1200" dirty="0"/>
          </a:p>
        </p:txBody>
      </p:sp>
      <p:sp>
        <p:nvSpPr>
          <p:cNvPr id="32" name="Shape 29"/>
          <p:cNvSpPr/>
          <p:nvPr/>
        </p:nvSpPr>
        <p:spPr>
          <a:xfrm>
            <a:off x="7940675" y="1844675"/>
            <a:ext cx="3435350" cy="3314171"/>
          </a:xfrm>
          <a:prstGeom prst="roundRect">
            <a:avLst>
              <a:gd name="adj" fmla="val 2970"/>
            </a:avLst>
          </a:prstGeom>
          <a:solidFill>
            <a:srgbClr val="FDFCF8"/>
          </a:solidFill>
          <a:ln w="6350">
            <a:solidFill>
              <a:srgbClr val="DAD5C8"/>
            </a:solidFill>
            <a:prstDash val="solid"/>
          </a:ln>
        </p:spPr>
      </p:sp>
      <p:sp>
        <p:nvSpPr>
          <p:cNvPr id="33" name="Text 30"/>
          <p:cNvSpPr/>
          <p:nvPr/>
        </p:nvSpPr>
        <p:spPr>
          <a:xfrm>
            <a:off x="8144934" y="2048934"/>
            <a:ext cx="311763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A38"/>
                </a:solidFill>
                <a:latin typeface="Georgia" pitchFamily="34" charset="0"/>
                <a:ea typeface="Georgia" pitchFamily="34" charset="-122"/>
                <a:cs typeface="Georgia" pitchFamily="34" charset="-120"/>
              </a:rPr>
              <a:t>The numbers</a:t>
            </a:r>
            <a:endParaRPr lang="en-US" sz="2000" dirty="0"/>
          </a:p>
        </p:txBody>
      </p:sp>
      <p:sp>
        <p:nvSpPr>
          <p:cNvPr id="34" name="Text 31"/>
          <p:cNvSpPr/>
          <p:nvPr/>
        </p:nvSpPr>
        <p:spPr>
          <a:xfrm>
            <a:off x="8144934" y="2455334"/>
            <a:ext cx="311763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38"/>
                </a:solidFill>
                <a:latin typeface="Arial" pitchFamily="34" charset="0"/>
                <a:ea typeface="Arial" pitchFamily="34" charset="-122"/>
                <a:cs typeface="Arial" pitchFamily="34" charset="-120"/>
              </a:rPr>
              <a:t>Inputs</a:t>
            </a:r>
            <a:r>
              <a:rPr lang="en-US" sz="1400" dirty="0">
                <a:solidFill>
                  <a:srgbClr val="1B2A38"/>
                </a:solidFill>
                <a:latin typeface="Arial" pitchFamily="34" charset="0"/>
                <a:ea typeface="Arial" pitchFamily="34" charset="-122"/>
                <a:cs typeface="Arial" pitchFamily="34" charset="-120"/>
              </a:rPr>
              <a:t> i1 = 0.05, i2 = 0.10</a:t>
            </a:r>
            <a:endParaRPr lang="en-US" sz="1400" dirty="0"/>
          </a:p>
        </p:txBody>
      </p:sp>
      <p:sp>
        <p:nvSpPr>
          <p:cNvPr id="35" name="Text 32"/>
          <p:cNvSpPr/>
          <p:nvPr/>
        </p:nvSpPr>
        <p:spPr>
          <a:xfrm>
            <a:off x="8144934" y="2805841"/>
            <a:ext cx="311763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38"/>
                </a:solidFill>
                <a:latin typeface="Arial" pitchFamily="34" charset="0"/>
                <a:ea typeface="Arial" pitchFamily="34" charset="-122"/>
                <a:cs typeface="Arial" pitchFamily="34" charset="-120"/>
              </a:rPr>
              <a:t>Targets</a:t>
            </a:r>
            <a:r>
              <a:rPr lang="en-US" sz="1400" dirty="0">
                <a:solidFill>
                  <a:srgbClr val="1B2A38"/>
                </a:solidFill>
                <a:latin typeface="Arial" pitchFamily="34" charset="0"/>
                <a:ea typeface="Arial" pitchFamily="34" charset="-122"/>
                <a:cs typeface="Arial" pitchFamily="34" charset="-120"/>
              </a:rPr>
              <a:t> o1 → 0.01, o2 → 0.99</a:t>
            </a:r>
            <a:endParaRPr lang="en-US" sz="1400" dirty="0"/>
          </a:p>
        </p:txBody>
      </p:sp>
      <p:sp>
        <p:nvSpPr>
          <p:cNvPr id="36" name="Text 33"/>
          <p:cNvSpPr/>
          <p:nvPr/>
        </p:nvSpPr>
        <p:spPr>
          <a:xfrm>
            <a:off x="8144934" y="3156347"/>
            <a:ext cx="3117638"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38"/>
                </a:solidFill>
                <a:latin typeface="Arial" pitchFamily="34" charset="0"/>
                <a:ea typeface="Arial" pitchFamily="34" charset="-122"/>
                <a:cs typeface="Arial" pitchFamily="34" charset="-120"/>
              </a:rPr>
              <a:t>Biases</a:t>
            </a:r>
            <a:r>
              <a:rPr lang="en-US" sz="1400" dirty="0">
                <a:solidFill>
                  <a:srgbClr val="1B2A38"/>
                </a:solidFill>
                <a:latin typeface="Arial" pitchFamily="34" charset="0"/>
                <a:ea typeface="Arial" pitchFamily="34" charset="-122"/>
                <a:cs typeface="Arial" pitchFamily="34" charset="-120"/>
              </a:rPr>
              <a:t> b1 = 0.35, b2 = 0.60 (shared per layer)</a:t>
            </a:r>
            <a:endParaRPr lang="en-US" sz="1400" dirty="0"/>
          </a:p>
        </p:txBody>
      </p:sp>
      <p:sp>
        <p:nvSpPr>
          <p:cNvPr id="37" name="Text 34"/>
          <p:cNvSpPr/>
          <p:nvPr/>
        </p:nvSpPr>
        <p:spPr>
          <a:xfrm>
            <a:off x="8144934" y="3755761"/>
            <a:ext cx="3117638"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38"/>
                </a:solidFill>
                <a:latin typeface="Arial" pitchFamily="34" charset="0"/>
                <a:ea typeface="Arial" pitchFamily="34" charset="-122"/>
                <a:cs typeface="Arial" pitchFamily="34" charset="-120"/>
              </a:rPr>
              <a:t>Activation</a:t>
            </a:r>
            <a:r>
              <a:rPr lang="en-US" sz="1400" dirty="0">
                <a:solidFill>
                  <a:srgbClr val="1B2A38"/>
                </a:solidFill>
                <a:latin typeface="Arial" pitchFamily="34" charset="0"/>
                <a:ea typeface="Arial" pitchFamily="34" charset="-122"/>
                <a:cs typeface="Arial" pitchFamily="34" charset="-120"/>
              </a:rPr>
              <a:t> sigmoid σ(x) = 1 / (1 + e^−x)</a:t>
            </a:r>
            <a:endParaRPr lang="en-US" sz="1400" dirty="0"/>
          </a:p>
        </p:txBody>
      </p:sp>
      <p:sp>
        <p:nvSpPr>
          <p:cNvPr id="38" name="Text 35"/>
          <p:cNvSpPr/>
          <p:nvPr/>
        </p:nvSpPr>
        <p:spPr>
          <a:xfrm>
            <a:off x="8144934" y="4355174"/>
            <a:ext cx="311763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38"/>
                </a:solidFill>
                <a:latin typeface="Arial" pitchFamily="34" charset="0"/>
                <a:ea typeface="Arial" pitchFamily="34" charset="-122"/>
                <a:cs typeface="Arial" pitchFamily="34" charset="-120"/>
              </a:rPr>
              <a:t>Error</a:t>
            </a:r>
            <a:r>
              <a:rPr lang="en-US" sz="1400" dirty="0">
                <a:solidFill>
                  <a:srgbClr val="1B2A38"/>
                </a:solidFill>
                <a:latin typeface="Arial" pitchFamily="34" charset="0"/>
                <a:ea typeface="Arial" pitchFamily="34" charset="-122"/>
                <a:cs typeface="Arial" pitchFamily="34" charset="-120"/>
              </a:rPr>
              <a:t> squared error, ½(target − out)²</a:t>
            </a:r>
            <a:endParaRPr lang="en-US" sz="1400" dirty="0"/>
          </a:p>
        </p:txBody>
      </p:sp>
      <p:sp>
        <p:nvSpPr>
          <p:cNvPr id="39" name="Text 36"/>
          <p:cNvSpPr/>
          <p:nvPr/>
        </p:nvSpPr>
        <p:spPr>
          <a:xfrm>
            <a:off x="8144934" y="4705682"/>
            <a:ext cx="311763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38"/>
                </a:solidFill>
                <a:latin typeface="Arial" pitchFamily="34" charset="0"/>
                <a:ea typeface="Arial" pitchFamily="34" charset="-122"/>
                <a:cs typeface="Arial" pitchFamily="34" charset="-120"/>
              </a:rPr>
              <a:t>Learning rate</a:t>
            </a:r>
            <a:r>
              <a:rPr lang="en-US" sz="1400" dirty="0">
                <a:solidFill>
                  <a:srgbClr val="1B2A38"/>
                </a:solidFill>
                <a:latin typeface="Arial" pitchFamily="34" charset="0"/>
                <a:ea typeface="Arial" pitchFamily="34" charset="-122"/>
                <a:cs typeface="Arial" pitchFamily="34" charset="-120"/>
              </a:rPr>
              <a:t> η = 0.5</a:t>
            </a:r>
            <a:endParaRPr lang="en-US" sz="1400" dirty="0"/>
          </a:p>
        </p:txBody>
      </p:sp>
      <p:sp>
        <p:nvSpPr>
          <p:cNvPr id="40" name="Text 3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E78"/>
                </a:solidFill>
                <a:latin typeface="Arial" pitchFamily="34" charset="0"/>
                <a:ea typeface="Arial" pitchFamily="34" charset="-122"/>
                <a:cs typeface="Arial" pitchFamily="34" charset="-120"/>
              </a:rPr>
              <a:t>IT2011 · Backpropagation, step by step</a:t>
            </a:r>
            <a:endParaRPr lang="en-US" sz="1200" dirty="0"/>
          </a:p>
        </p:txBody>
      </p:sp>
      <p:sp>
        <p:nvSpPr>
          <p:cNvPr id="41" name="Text 3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E78"/>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C"/>
                </a:solidFill>
                <a:latin typeface="Arial" pitchFamily="34" charset="0"/>
                <a:ea typeface="Arial" pitchFamily="34" charset="-122"/>
                <a:cs typeface="Arial" pitchFamily="34" charset="-120"/>
              </a:rPr>
              <a:t>STEP 1 · FORWARD PASS</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B2A38"/>
                </a:solidFill>
                <a:latin typeface="Georgia" pitchFamily="34" charset="0"/>
                <a:ea typeface="Georgia" pitchFamily="34" charset="-122"/>
                <a:cs typeface="Georgia" pitchFamily="34" charset="-120"/>
              </a:rPr>
              <a:t>Hidden layer: weighted sum, then squash</a:t>
            </a:r>
            <a:endParaRPr lang="en-US" sz="3200" dirty="0"/>
          </a:p>
        </p:txBody>
      </p:sp>
      <p:sp>
        <p:nvSpPr>
          <p:cNvPr id="4" name="Text 2"/>
          <p:cNvSpPr/>
          <p:nvPr/>
        </p:nvSpPr>
        <p:spPr>
          <a:xfrm>
            <a:off x="812800" y="1823641"/>
            <a:ext cx="981075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4A5560"/>
                </a:solidFill>
                <a:latin typeface="Arial" pitchFamily="34" charset="0"/>
                <a:ea typeface="Arial" pitchFamily="34" charset="-122"/>
                <a:cs typeface="Arial" pitchFamily="34" charset="-120"/>
              </a:rPr>
              <a:t>Each neuron adds its weighted inputs and the bias to get </a:t>
            </a:r>
            <a:r>
              <a:rPr lang="en-US" sz="1600" b="1" dirty="0">
                <a:solidFill>
                  <a:srgbClr val="4A5560"/>
                </a:solidFill>
                <a:latin typeface="Arial" pitchFamily="34" charset="0"/>
                <a:ea typeface="Arial" pitchFamily="34" charset="-122"/>
                <a:cs typeface="Arial" pitchFamily="34" charset="-120"/>
              </a:rPr>
              <a:t>net</a:t>
            </a:r>
            <a:r>
              <a:rPr lang="en-US" sz="1600" dirty="0">
                <a:solidFill>
                  <a:srgbClr val="4A5560"/>
                </a:solidFill>
                <a:latin typeface="Arial" pitchFamily="34" charset="0"/>
                <a:ea typeface="Arial" pitchFamily="34" charset="-122"/>
                <a:cs typeface="Arial" pitchFamily="34" charset="-120"/>
              </a:rPr>
              <a:t>, then applies the sigmoid σ(x) = 1 / (1 + e^−x) to get </a:t>
            </a:r>
            <a:r>
              <a:rPr lang="en-US" sz="1600" b="1" dirty="0">
                <a:solidFill>
                  <a:srgbClr val="4A5560"/>
                </a:solidFill>
                <a:latin typeface="Arial" pitchFamily="34" charset="0"/>
                <a:ea typeface="Arial" pitchFamily="34" charset="-122"/>
                <a:cs typeface="Arial" pitchFamily="34" charset="-120"/>
              </a:rPr>
              <a:t>out</a:t>
            </a:r>
            <a:r>
              <a:rPr lang="en-US" sz="1600" dirty="0">
                <a:solidFill>
                  <a:srgbClr val="4A5560"/>
                </a:solidFill>
                <a:latin typeface="Arial" pitchFamily="34" charset="0"/>
                <a:ea typeface="Arial" pitchFamily="34" charset="-122"/>
                <a:cs typeface="Arial" pitchFamily="34" charset="-120"/>
              </a:rPr>
              <a:t>.</a:t>
            </a:r>
            <a:endParaRPr lang="en-US" sz="1600" dirty="0"/>
          </a:p>
        </p:txBody>
      </p:sp>
      <p:sp>
        <p:nvSpPr>
          <p:cNvPr id="5" name="Shape 3"/>
          <p:cNvSpPr/>
          <p:nvPr/>
        </p:nvSpPr>
        <p:spPr>
          <a:xfrm>
            <a:off x="815975" y="2690416"/>
            <a:ext cx="5175250" cy="2237317"/>
          </a:xfrm>
          <a:prstGeom prst="roundRect">
            <a:avLst>
              <a:gd name="adj" fmla="val 4399"/>
            </a:avLst>
          </a:prstGeom>
          <a:solidFill>
            <a:srgbClr val="FDFCF8"/>
          </a:solidFill>
          <a:ln w="6350">
            <a:solidFill>
              <a:srgbClr val="DAD5C8"/>
            </a:solidFill>
            <a:prstDash val="solid"/>
          </a:ln>
        </p:spPr>
      </p:sp>
      <p:sp>
        <p:nvSpPr>
          <p:cNvPr id="6" name="Text 4"/>
          <p:cNvSpPr/>
          <p:nvPr/>
        </p:nvSpPr>
        <p:spPr>
          <a:xfrm>
            <a:off x="1071033" y="2894674"/>
            <a:ext cx="48050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8501C"/>
                </a:solidFill>
                <a:latin typeface="Georgia" pitchFamily="34" charset="0"/>
                <a:ea typeface="Georgia" pitchFamily="34" charset="-122"/>
                <a:cs typeface="Georgia" pitchFamily="34" charset="-120"/>
              </a:rPr>
              <a:t>Neuron h1</a:t>
            </a:r>
            <a:endParaRPr lang="en-US" sz="2000" dirty="0"/>
          </a:p>
        </p:txBody>
      </p:sp>
      <p:sp>
        <p:nvSpPr>
          <p:cNvPr id="7" name="Text 5"/>
          <p:cNvSpPr/>
          <p:nvPr/>
        </p:nvSpPr>
        <p:spPr>
          <a:xfrm>
            <a:off x="1071033" y="3275674"/>
            <a:ext cx="480508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net_h1 = w1·i1 + w2·i2 + b1</a:t>
            </a:r>
            <a:endParaRPr lang="en-US" sz="1600" dirty="0"/>
          </a:p>
        </p:txBody>
      </p:sp>
      <p:sp>
        <p:nvSpPr>
          <p:cNvPr id="8" name="Text 6"/>
          <p:cNvSpPr/>
          <p:nvPr/>
        </p:nvSpPr>
        <p:spPr>
          <a:xfrm>
            <a:off x="1071033" y="3656674"/>
            <a:ext cx="480508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 0.15×0.05 + 0.20×0.10 + 0.35</a:t>
            </a:r>
            <a:endParaRPr lang="en-US" sz="1600" dirty="0"/>
          </a:p>
        </p:txBody>
      </p:sp>
      <p:sp>
        <p:nvSpPr>
          <p:cNvPr id="9" name="Text 7"/>
          <p:cNvSpPr/>
          <p:nvPr/>
        </p:nvSpPr>
        <p:spPr>
          <a:xfrm>
            <a:off x="1071033" y="4037674"/>
            <a:ext cx="480508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 0.3775</a:t>
            </a:r>
            <a:endParaRPr lang="en-US" sz="1600" dirty="0"/>
          </a:p>
        </p:txBody>
      </p:sp>
      <p:sp>
        <p:nvSpPr>
          <p:cNvPr id="10" name="Text 8"/>
          <p:cNvSpPr/>
          <p:nvPr/>
        </p:nvSpPr>
        <p:spPr>
          <a:xfrm>
            <a:off x="1071033" y="4418674"/>
            <a:ext cx="4805087"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1B2A38"/>
                </a:solidFill>
                <a:latin typeface="Courier New" pitchFamily="34" charset="0"/>
                <a:ea typeface="Courier New" pitchFamily="34" charset="-122"/>
                <a:cs typeface="Courier New" pitchFamily="34" charset="-120"/>
              </a:rPr>
              <a:t>out_h1 = σ(0.3775) = 0.593269992</a:t>
            </a:r>
            <a:endParaRPr lang="en-US" sz="1600" dirty="0"/>
          </a:p>
        </p:txBody>
      </p:sp>
      <p:sp>
        <p:nvSpPr>
          <p:cNvPr id="11" name="Shape 9"/>
          <p:cNvSpPr/>
          <p:nvPr/>
        </p:nvSpPr>
        <p:spPr>
          <a:xfrm>
            <a:off x="6200775" y="2690416"/>
            <a:ext cx="5175250" cy="2237317"/>
          </a:xfrm>
          <a:prstGeom prst="roundRect">
            <a:avLst>
              <a:gd name="adj" fmla="val 4399"/>
            </a:avLst>
          </a:prstGeom>
          <a:solidFill>
            <a:srgbClr val="FDFCF8"/>
          </a:solidFill>
          <a:ln w="6350">
            <a:solidFill>
              <a:srgbClr val="DAD5C8"/>
            </a:solidFill>
            <a:prstDash val="solid"/>
          </a:ln>
        </p:spPr>
      </p:sp>
      <p:sp>
        <p:nvSpPr>
          <p:cNvPr id="12" name="Text 10"/>
          <p:cNvSpPr/>
          <p:nvPr/>
        </p:nvSpPr>
        <p:spPr>
          <a:xfrm>
            <a:off x="6455833" y="2894674"/>
            <a:ext cx="48050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8501C"/>
                </a:solidFill>
                <a:latin typeface="Georgia" pitchFamily="34" charset="0"/>
                <a:ea typeface="Georgia" pitchFamily="34" charset="-122"/>
                <a:cs typeface="Georgia" pitchFamily="34" charset="-120"/>
              </a:rPr>
              <a:t>Neuron h2</a:t>
            </a:r>
            <a:endParaRPr lang="en-US" sz="2000" dirty="0"/>
          </a:p>
        </p:txBody>
      </p:sp>
      <p:sp>
        <p:nvSpPr>
          <p:cNvPr id="13" name="Text 11"/>
          <p:cNvSpPr/>
          <p:nvPr/>
        </p:nvSpPr>
        <p:spPr>
          <a:xfrm>
            <a:off x="6455833" y="3275674"/>
            <a:ext cx="480508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net_h2 = w3·i1 + w4·i2 + b1</a:t>
            </a:r>
            <a:endParaRPr lang="en-US" sz="1600" dirty="0"/>
          </a:p>
        </p:txBody>
      </p:sp>
      <p:sp>
        <p:nvSpPr>
          <p:cNvPr id="14" name="Text 12"/>
          <p:cNvSpPr/>
          <p:nvPr/>
        </p:nvSpPr>
        <p:spPr>
          <a:xfrm>
            <a:off x="6455833" y="3656674"/>
            <a:ext cx="480508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 0.25×0.05 + 0.30×0.10 + 0.35</a:t>
            </a:r>
            <a:endParaRPr lang="en-US" sz="1600" dirty="0"/>
          </a:p>
        </p:txBody>
      </p:sp>
      <p:sp>
        <p:nvSpPr>
          <p:cNvPr id="15" name="Text 13"/>
          <p:cNvSpPr/>
          <p:nvPr/>
        </p:nvSpPr>
        <p:spPr>
          <a:xfrm>
            <a:off x="6455833" y="4037674"/>
            <a:ext cx="480508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 0.3925</a:t>
            </a:r>
            <a:endParaRPr lang="en-US" sz="1600" dirty="0"/>
          </a:p>
        </p:txBody>
      </p:sp>
      <p:sp>
        <p:nvSpPr>
          <p:cNvPr id="16" name="Text 14"/>
          <p:cNvSpPr/>
          <p:nvPr/>
        </p:nvSpPr>
        <p:spPr>
          <a:xfrm>
            <a:off x="6455833" y="4418674"/>
            <a:ext cx="4805087"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1B2A38"/>
                </a:solidFill>
                <a:latin typeface="Courier New" pitchFamily="34" charset="0"/>
                <a:ea typeface="Courier New" pitchFamily="34" charset="-122"/>
                <a:cs typeface="Courier New" pitchFamily="34" charset="-120"/>
              </a:rPr>
              <a:t>out_h2 = σ(0.3925) = 0.596884378</a:t>
            </a:r>
            <a:endParaRPr lang="en-US" sz="16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E78"/>
                </a:solidFill>
                <a:latin typeface="Arial" pitchFamily="34" charset="0"/>
                <a:ea typeface="Arial" pitchFamily="34" charset="-122"/>
                <a:cs typeface="Arial" pitchFamily="34" charset="-120"/>
              </a:rPr>
              <a:t>IT2011 · Backpropagation, step by step</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E78"/>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C"/>
                </a:solidFill>
                <a:latin typeface="Arial" pitchFamily="34" charset="0"/>
                <a:ea typeface="Arial" pitchFamily="34" charset="-122"/>
                <a:cs typeface="Arial" pitchFamily="34" charset="-120"/>
              </a:rPr>
              <a:t>STEP 1 · FORWARD PASS</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B2A38"/>
                </a:solidFill>
                <a:latin typeface="Georgia" pitchFamily="34" charset="0"/>
                <a:ea typeface="Georgia" pitchFamily="34" charset="-122"/>
                <a:cs typeface="Georgia" pitchFamily="34" charset="-120"/>
              </a:rPr>
              <a:t>Output layer: the same two steps</a:t>
            </a:r>
            <a:endParaRPr lang="en-US" sz="3200" dirty="0"/>
          </a:p>
        </p:txBody>
      </p:sp>
      <p:sp>
        <p:nvSpPr>
          <p:cNvPr id="4" name="Text 2"/>
          <p:cNvSpPr/>
          <p:nvPr/>
        </p:nvSpPr>
        <p:spPr>
          <a:xfrm>
            <a:off x="812800" y="1823641"/>
            <a:ext cx="98107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4A5560"/>
                </a:solidFill>
                <a:latin typeface="Arial" pitchFamily="34" charset="0"/>
                <a:ea typeface="Arial" pitchFamily="34" charset="-122"/>
                <a:cs typeface="Arial" pitchFamily="34" charset="-120"/>
              </a:rPr>
              <a:t>Now the hidden outputs out_h1 and out_h2 act as the inputs.</a:t>
            </a:r>
            <a:endParaRPr lang="en-US" sz="1600" dirty="0"/>
          </a:p>
        </p:txBody>
      </p:sp>
      <p:sp>
        <p:nvSpPr>
          <p:cNvPr id="5" name="Shape 3"/>
          <p:cNvSpPr/>
          <p:nvPr/>
        </p:nvSpPr>
        <p:spPr>
          <a:xfrm>
            <a:off x="815975" y="2385616"/>
            <a:ext cx="5175250" cy="2526837"/>
          </a:xfrm>
          <a:prstGeom prst="roundRect">
            <a:avLst>
              <a:gd name="adj" fmla="val 3895"/>
            </a:avLst>
          </a:prstGeom>
          <a:solidFill>
            <a:srgbClr val="FDFCF8"/>
          </a:solidFill>
          <a:ln w="6350">
            <a:solidFill>
              <a:srgbClr val="DAD5C8"/>
            </a:solidFill>
            <a:prstDash val="solid"/>
          </a:ln>
        </p:spPr>
      </p:sp>
      <p:sp>
        <p:nvSpPr>
          <p:cNvPr id="6" name="Text 4"/>
          <p:cNvSpPr/>
          <p:nvPr/>
        </p:nvSpPr>
        <p:spPr>
          <a:xfrm>
            <a:off x="1071033" y="2589876"/>
            <a:ext cx="48050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7D4F"/>
                </a:solidFill>
                <a:latin typeface="Georgia" pitchFamily="34" charset="0"/>
                <a:ea typeface="Georgia" pitchFamily="34" charset="-122"/>
                <a:cs typeface="Georgia" pitchFamily="34" charset="-120"/>
              </a:rPr>
              <a:t>Neuron o1</a:t>
            </a:r>
            <a:endParaRPr lang="en-US" sz="2000" dirty="0"/>
          </a:p>
        </p:txBody>
      </p:sp>
      <p:sp>
        <p:nvSpPr>
          <p:cNvPr id="7" name="Text 5"/>
          <p:cNvSpPr/>
          <p:nvPr/>
        </p:nvSpPr>
        <p:spPr>
          <a:xfrm>
            <a:off x="1071033" y="2970876"/>
            <a:ext cx="480508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net_o1 = w5·out_h1 + w6·out_h2 + b2</a:t>
            </a:r>
            <a:endParaRPr lang="en-US" sz="1600" dirty="0"/>
          </a:p>
        </p:txBody>
      </p:sp>
      <p:sp>
        <p:nvSpPr>
          <p:cNvPr id="8" name="Text 6"/>
          <p:cNvSpPr/>
          <p:nvPr/>
        </p:nvSpPr>
        <p:spPr>
          <a:xfrm>
            <a:off x="1071033" y="3351876"/>
            <a:ext cx="480508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 0.40×0.5933 + 0.45×0.5969 + 0.60</a:t>
            </a:r>
            <a:endParaRPr lang="en-US" sz="1600" dirty="0"/>
          </a:p>
        </p:txBody>
      </p:sp>
      <p:sp>
        <p:nvSpPr>
          <p:cNvPr id="9" name="Text 7"/>
          <p:cNvSpPr/>
          <p:nvPr/>
        </p:nvSpPr>
        <p:spPr>
          <a:xfrm>
            <a:off x="1071033" y="3732876"/>
            <a:ext cx="480508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 1.105905967</a:t>
            </a:r>
            <a:endParaRPr lang="en-US" sz="1600" dirty="0"/>
          </a:p>
        </p:txBody>
      </p:sp>
      <p:sp>
        <p:nvSpPr>
          <p:cNvPr id="10" name="Text 8"/>
          <p:cNvSpPr/>
          <p:nvPr/>
        </p:nvSpPr>
        <p:spPr>
          <a:xfrm>
            <a:off x="1071033" y="4113876"/>
            <a:ext cx="4805087"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1B2A38"/>
                </a:solidFill>
                <a:latin typeface="Courier New" pitchFamily="34" charset="0"/>
                <a:ea typeface="Courier New" pitchFamily="34" charset="-122"/>
                <a:cs typeface="Courier New" pitchFamily="34" charset="-120"/>
              </a:rPr>
              <a:t>out_o1 = σ(1.1059) = 0.75136507</a:t>
            </a:r>
            <a:endParaRPr lang="en-US" sz="1600" dirty="0"/>
          </a:p>
        </p:txBody>
      </p:sp>
      <p:sp>
        <p:nvSpPr>
          <p:cNvPr id="11" name="Text 9"/>
          <p:cNvSpPr/>
          <p:nvPr/>
        </p:nvSpPr>
        <p:spPr>
          <a:xfrm>
            <a:off x="1071033" y="4494876"/>
            <a:ext cx="48050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C"/>
                </a:solidFill>
                <a:latin typeface="Arial" pitchFamily="34" charset="0"/>
                <a:ea typeface="Arial" pitchFamily="34" charset="-122"/>
                <a:cs typeface="Arial" pitchFamily="34" charset="-120"/>
              </a:rPr>
              <a:t>Target 0.01: far too high</a:t>
            </a:r>
            <a:endParaRPr lang="en-US" sz="1200" dirty="0"/>
          </a:p>
        </p:txBody>
      </p:sp>
      <p:sp>
        <p:nvSpPr>
          <p:cNvPr id="12" name="Shape 10"/>
          <p:cNvSpPr/>
          <p:nvPr/>
        </p:nvSpPr>
        <p:spPr>
          <a:xfrm>
            <a:off x="6200775" y="2385616"/>
            <a:ext cx="5175250" cy="2526837"/>
          </a:xfrm>
          <a:prstGeom prst="roundRect">
            <a:avLst>
              <a:gd name="adj" fmla="val 3895"/>
            </a:avLst>
          </a:prstGeom>
          <a:solidFill>
            <a:srgbClr val="FDFCF8"/>
          </a:solidFill>
          <a:ln w="6350">
            <a:solidFill>
              <a:srgbClr val="DAD5C8"/>
            </a:solidFill>
            <a:prstDash val="solid"/>
          </a:ln>
        </p:spPr>
      </p:sp>
      <p:sp>
        <p:nvSpPr>
          <p:cNvPr id="13" name="Text 11"/>
          <p:cNvSpPr/>
          <p:nvPr/>
        </p:nvSpPr>
        <p:spPr>
          <a:xfrm>
            <a:off x="6455833" y="2589876"/>
            <a:ext cx="48050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7D4F"/>
                </a:solidFill>
                <a:latin typeface="Georgia" pitchFamily="34" charset="0"/>
                <a:ea typeface="Georgia" pitchFamily="34" charset="-122"/>
                <a:cs typeface="Georgia" pitchFamily="34" charset="-120"/>
              </a:rPr>
              <a:t>Neuron o2</a:t>
            </a:r>
            <a:endParaRPr lang="en-US" sz="2000" dirty="0"/>
          </a:p>
        </p:txBody>
      </p:sp>
      <p:sp>
        <p:nvSpPr>
          <p:cNvPr id="14" name="Text 12"/>
          <p:cNvSpPr/>
          <p:nvPr/>
        </p:nvSpPr>
        <p:spPr>
          <a:xfrm>
            <a:off x="6455833" y="2970876"/>
            <a:ext cx="480508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net_o2 = w7·out_h1 + w8·out_h2 + b2</a:t>
            </a:r>
            <a:endParaRPr lang="en-US" sz="1600" dirty="0"/>
          </a:p>
        </p:txBody>
      </p:sp>
      <p:sp>
        <p:nvSpPr>
          <p:cNvPr id="15" name="Text 13"/>
          <p:cNvSpPr/>
          <p:nvPr/>
        </p:nvSpPr>
        <p:spPr>
          <a:xfrm>
            <a:off x="6455833" y="3351876"/>
            <a:ext cx="480508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 0.50×0.5933 + 0.55×0.5969 + 0.60</a:t>
            </a:r>
            <a:endParaRPr lang="en-US" sz="1600" dirty="0"/>
          </a:p>
        </p:txBody>
      </p:sp>
      <p:sp>
        <p:nvSpPr>
          <p:cNvPr id="16" name="Text 14"/>
          <p:cNvSpPr/>
          <p:nvPr/>
        </p:nvSpPr>
        <p:spPr>
          <a:xfrm>
            <a:off x="6455833" y="3732876"/>
            <a:ext cx="480508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 1.224921404</a:t>
            </a:r>
            <a:endParaRPr lang="en-US" sz="1600" dirty="0"/>
          </a:p>
        </p:txBody>
      </p:sp>
      <p:sp>
        <p:nvSpPr>
          <p:cNvPr id="17" name="Text 15"/>
          <p:cNvSpPr/>
          <p:nvPr/>
        </p:nvSpPr>
        <p:spPr>
          <a:xfrm>
            <a:off x="6455833" y="4113876"/>
            <a:ext cx="4805087"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1B2A38"/>
                </a:solidFill>
                <a:latin typeface="Courier New" pitchFamily="34" charset="0"/>
                <a:ea typeface="Courier New" pitchFamily="34" charset="-122"/>
                <a:cs typeface="Courier New" pitchFamily="34" charset="-120"/>
              </a:rPr>
              <a:t>out_o2 = σ(1.2249) = 0.772928465</a:t>
            </a:r>
            <a:endParaRPr lang="en-US" sz="1600" dirty="0"/>
          </a:p>
        </p:txBody>
      </p:sp>
      <p:sp>
        <p:nvSpPr>
          <p:cNvPr id="18" name="Text 16"/>
          <p:cNvSpPr/>
          <p:nvPr/>
        </p:nvSpPr>
        <p:spPr>
          <a:xfrm>
            <a:off x="6455833" y="4494876"/>
            <a:ext cx="48050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C"/>
                </a:solidFill>
                <a:latin typeface="Arial" pitchFamily="34" charset="0"/>
                <a:ea typeface="Arial" pitchFamily="34" charset="-122"/>
                <a:cs typeface="Arial" pitchFamily="34" charset="-120"/>
              </a:rPr>
              <a:t>Target 0.99: too low</a:t>
            </a:r>
            <a:endParaRPr lang="en-US" sz="12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E78"/>
                </a:solidFill>
                <a:latin typeface="Arial" pitchFamily="34" charset="0"/>
                <a:ea typeface="Arial" pitchFamily="34" charset="-122"/>
                <a:cs typeface="Arial" pitchFamily="34" charset="-120"/>
              </a:rPr>
              <a:t>IT2011 · Backpropagation, step by step</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E78"/>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AE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C"/>
                </a:solidFill>
                <a:latin typeface="Arial" pitchFamily="34" charset="0"/>
                <a:ea typeface="Arial" pitchFamily="34" charset="-122"/>
                <a:cs typeface="Arial" pitchFamily="34" charset="-120"/>
              </a:rPr>
              <a:t>STEP 2 · ERROR</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B2A38"/>
                </a:solidFill>
                <a:latin typeface="Georgia" pitchFamily="34" charset="0"/>
                <a:ea typeface="Georgia" pitchFamily="34" charset="-122"/>
                <a:cs typeface="Georgia" pitchFamily="34" charset="-120"/>
              </a:rPr>
              <a:t>How wrong is the network?</a:t>
            </a:r>
            <a:endParaRPr lang="en-US" sz="3200" dirty="0"/>
          </a:p>
        </p:txBody>
      </p:sp>
      <p:sp>
        <p:nvSpPr>
          <p:cNvPr id="4" name="Text 2"/>
          <p:cNvSpPr/>
          <p:nvPr/>
        </p:nvSpPr>
        <p:spPr>
          <a:xfrm>
            <a:off x="812800" y="1874441"/>
            <a:ext cx="6383528" cy="368300"/>
          </a:xfrm>
          <a:prstGeom prst="rect">
            <a:avLst/>
          </a:prstGeom>
          <a:noFill/>
          <a:ln/>
        </p:spPr>
        <p:txBody>
          <a:bodyPr wrap="square" lIns="0" tIns="0" rIns="0" bIns="0" rtlCol="0" anchor="t">
            <a:normAutofit/>
          </a:bodyPr>
          <a:lstStyle/>
          <a:p>
            <a:pPr algn="l" indent="0" marL="0">
              <a:lnSpc>
                <a:spcPts val="2700"/>
              </a:lnSpc>
              <a:buNone/>
            </a:pPr>
            <a:r>
              <a:rPr lang="en-US" sz="1800" b="1" dirty="0">
                <a:solidFill>
                  <a:srgbClr val="1B2A38"/>
                </a:solidFill>
                <a:latin typeface="Courier New" pitchFamily="34" charset="0"/>
                <a:ea typeface="Courier New" pitchFamily="34" charset="-122"/>
                <a:cs typeface="Courier New" pitchFamily="34" charset="-120"/>
              </a:rPr>
              <a:t>E_total = Σ ½ (target − out)²</a:t>
            </a:r>
            <a:endParaRPr lang="en-US" sz="1800" dirty="0"/>
          </a:p>
        </p:txBody>
      </p:sp>
      <p:sp>
        <p:nvSpPr>
          <p:cNvPr id="5" name="Shape 3"/>
          <p:cNvSpPr/>
          <p:nvPr/>
        </p:nvSpPr>
        <p:spPr>
          <a:xfrm>
            <a:off x="815975" y="2372916"/>
            <a:ext cx="6191250" cy="1856317"/>
          </a:xfrm>
          <a:prstGeom prst="roundRect">
            <a:avLst>
              <a:gd name="adj" fmla="val 5302"/>
            </a:avLst>
          </a:prstGeom>
          <a:solidFill>
            <a:srgbClr val="FDFCF8"/>
          </a:solidFill>
          <a:ln w="6350">
            <a:solidFill>
              <a:srgbClr val="DAD5C8"/>
            </a:solidFill>
            <a:prstDash val="solid"/>
          </a:ln>
        </p:spPr>
      </p:sp>
      <p:sp>
        <p:nvSpPr>
          <p:cNvPr id="6" name="Text 4"/>
          <p:cNvSpPr/>
          <p:nvPr/>
        </p:nvSpPr>
        <p:spPr>
          <a:xfrm>
            <a:off x="1071033" y="2577176"/>
            <a:ext cx="585156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E_o1 = ½(0.01 − 0.75136507)²</a:t>
            </a:r>
            <a:endParaRPr lang="en-US" sz="1600" dirty="0"/>
          </a:p>
        </p:txBody>
      </p:sp>
      <p:sp>
        <p:nvSpPr>
          <p:cNvPr id="7" name="Text 5"/>
          <p:cNvSpPr/>
          <p:nvPr/>
        </p:nvSpPr>
        <p:spPr>
          <a:xfrm>
            <a:off x="1071033" y="2958176"/>
            <a:ext cx="585156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     = 0.274811083</a:t>
            </a:r>
            <a:endParaRPr lang="en-US" sz="1600" dirty="0"/>
          </a:p>
        </p:txBody>
      </p:sp>
      <p:sp>
        <p:nvSpPr>
          <p:cNvPr id="8" name="Text 6"/>
          <p:cNvSpPr/>
          <p:nvPr/>
        </p:nvSpPr>
        <p:spPr>
          <a:xfrm>
            <a:off x="1071033" y="3339176"/>
            <a:ext cx="585156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E_o2 = ½(0.99 − 0.772928465)²</a:t>
            </a:r>
            <a:endParaRPr lang="en-US" sz="1600" dirty="0"/>
          </a:p>
        </p:txBody>
      </p:sp>
      <p:sp>
        <p:nvSpPr>
          <p:cNvPr id="9" name="Text 7"/>
          <p:cNvSpPr/>
          <p:nvPr/>
        </p:nvSpPr>
        <p:spPr>
          <a:xfrm>
            <a:off x="1071033" y="3720176"/>
            <a:ext cx="5851567"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     = 0.023560026</a:t>
            </a:r>
            <a:endParaRPr lang="en-US" sz="1600" dirty="0"/>
          </a:p>
        </p:txBody>
      </p:sp>
      <p:sp>
        <p:nvSpPr>
          <p:cNvPr id="10" name="Text 8"/>
          <p:cNvSpPr/>
          <p:nvPr/>
        </p:nvSpPr>
        <p:spPr>
          <a:xfrm>
            <a:off x="812800" y="4384808"/>
            <a:ext cx="63835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The ½ is there only for convenience: it cancels the 2 when we differentiate.</a:t>
            </a:r>
            <a:endParaRPr lang="en-US" sz="1200" dirty="0"/>
          </a:p>
        </p:txBody>
      </p:sp>
      <p:sp>
        <p:nvSpPr>
          <p:cNvPr id="11" name="Shape 9"/>
          <p:cNvSpPr/>
          <p:nvPr/>
        </p:nvSpPr>
        <p:spPr>
          <a:xfrm>
            <a:off x="7315200" y="1874441"/>
            <a:ext cx="4064000" cy="2864908"/>
          </a:xfrm>
          <a:prstGeom prst="roundRect">
            <a:avLst>
              <a:gd name="adj" fmla="val 3546"/>
            </a:avLst>
          </a:prstGeom>
          <a:solidFill>
            <a:srgbClr val="1B2A38"/>
          </a:solidFill>
          <a:ln/>
        </p:spPr>
      </p:sp>
      <p:sp>
        <p:nvSpPr>
          <p:cNvPr id="12" name="Text 10"/>
          <p:cNvSpPr/>
          <p:nvPr/>
        </p:nvSpPr>
        <p:spPr>
          <a:xfrm>
            <a:off x="7620000" y="2179241"/>
            <a:ext cx="355803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DC"/>
                </a:solidFill>
                <a:latin typeface="Arial" pitchFamily="34" charset="0"/>
                <a:ea typeface="Arial" pitchFamily="34" charset="-122"/>
                <a:cs typeface="Arial" pitchFamily="34" charset="-120"/>
              </a:rPr>
              <a:t>Total error</a:t>
            </a:r>
            <a:endParaRPr lang="en-US" sz="1600" dirty="0"/>
          </a:p>
        </p:txBody>
      </p:sp>
      <p:sp>
        <p:nvSpPr>
          <p:cNvPr id="13" name="Text 11"/>
          <p:cNvSpPr/>
          <p:nvPr/>
        </p:nvSpPr>
        <p:spPr>
          <a:xfrm>
            <a:off x="7620000" y="2565270"/>
            <a:ext cx="3558032" cy="136644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0A36B"/>
                </a:solidFill>
                <a:latin typeface="Georgia" pitchFamily="34" charset="0"/>
                <a:ea typeface="Georgia" pitchFamily="34" charset="-122"/>
                <a:cs typeface="Georgia" pitchFamily="34" charset="-120"/>
              </a:rPr>
              <a:t>0.298371109</a:t>
            </a:r>
            <a:endParaRPr lang="en-US" sz="4800" dirty="0"/>
          </a:p>
        </p:txBody>
      </p:sp>
      <p:sp>
        <p:nvSpPr>
          <p:cNvPr id="14" name="Text 12"/>
          <p:cNvSpPr/>
          <p:nvPr/>
        </p:nvSpPr>
        <p:spPr>
          <a:xfrm>
            <a:off x="7620000" y="4007910"/>
            <a:ext cx="355803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Arial" pitchFamily="34" charset="0"/>
                <a:ea typeface="Arial" pitchFamily="34" charset="-122"/>
                <a:cs typeface="Arial" pitchFamily="34" charset="-120"/>
              </a:rPr>
              <a:t>This is the number every weight update will try to shrink.</a:t>
            </a:r>
            <a:endParaRPr lang="en-US" sz="12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E78"/>
                </a:solidFill>
                <a:latin typeface="Arial" pitchFamily="34" charset="0"/>
                <a:ea typeface="Arial" pitchFamily="34" charset="-122"/>
                <a:cs typeface="Arial" pitchFamily="34" charset="-120"/>
              </a:rPr>
              <a:t>IT2011 · Backpropagation, step by step</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E78"/>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63A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D9BF"/>
                </a:solidFill>
                <a:latin typeface="Arial" pitchFamily="34" charset="0"/>
                <a:ea typeface="Arial" pitchFamily="34" charset="-122"/>
                <a:cs typeface="Arial" pitchFamily="34" charset="-120"/>
              </a:rPr>
              <a:t>STEP 3 · BACKWARD PASS · OUTPUT LAYER</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6F4EE"/>
                </a:solidFill>
                <a:latin typeface="Georgia" pitchFamily="34" charset="0"/>
                <a:ea typeface="Georgia" pitchFamily="34" charset="-122"/>
                <a:cs typeface="Georgia" pitchFamily="34" charset="-120"/>
              </a:rPr>
              <a:t>The key idea: a chain of three questions</a:t>
            </a:r>
            <a:endParaRPr lang="en-US" sz="3200" dirty="0"/>
          </a:p>
        </p:txBody>
      </p:sp>
      <p:sp>
        <p:nvSpPr>
          <p:cNvPr id="4" name="Shape 2"/>
          <p:cNvSpPr/>
          <p:nvPr/>
        </p:nvSpPr>
        <p:spPr>
          <a:xfrm>
            <a:off x="812800" y="1823641"/>
            <a:ext cx="10566400" cy="749300"/>
          </a:xfrm>
          <a:prstGeom prst="roundRect">
            <a:avLst>
              <a:gd name="adj" fmla="val 13559"/>
            </a:avLst>
          </a:prstGeom>
          <a:solidFill>
            <a:srgbClr val="1F4A7C"/>
          </a:solidFill>
          <a:ln/>
        </p:spPr>
      </p:sp>
      <p:sp>
        <p:nvSpPr>
          <p:cNvPr id="5" name="Text 3"/>
          <p:cNvSpPr/>
          <p:nvPr/>
        </p:nvSpPr>
        <p:spPr>
          <a:xfrm>
            <a:off x="1066800" y="2026841"/>
            <a:ext cx="10360152" cy="368300"/>
          </a:xfrm>
          <a:prstGeom prst="rect">
            <a:avLst/>
          </a:prstGeom>
          <a:noFill/>
          <a:ln/>
        </p:spPr>
        <p:txBody>
          <a:bodyPr wrap="square" lIns="0" tIns="0" rIns="0" bIns="0" rtlCol="0" anchor="t">
            <a:normAutofit/>
          </a:bodyPr>
          <a:lstStyle/>
          <a:p>
            <a:pPr algn="l" indent="0" marL="0">
              <a:lnSpc>
                <a:spcPts val="2700"/>
              </a:lnSpc>
              <a:buNone/>
            </a:pPr>
            <a:r>
              <a:rPr lang="en-US" sz="1800" b="1" dirty="0">
                <a:solidFill>
                  <a:srgbClr val="F6F4EE"/>
                </a:solidFill>
                <a:latin typeface="Courier New" pitchFamily="34" charset="0"/>
                <a:ea typeface="Courier New" pitchFamily="34" charset="-122"/>
                <a:cs typeface="Courier New" pitchFamily="34" charset="-120"/>
              </a:rPr>
              <a:t>∂E_total/∂w5 = ∂E_total/∂out_o1 × ∂out_o1/∂net_o1 × ∂net_o1/∂w5</a:t>
            </a:r>
            <a:endParaRPr lang="en-US" sz="1800" dirty="0"/>
          </a:p>
        </p:txBody>
      </p:sp>
      <p:sp>
        <p:nvSpPr>
          <p:cNvPr id="6" name="Shape 4"/>
          <p:cNvSpPr/>
          <p:nvPr/>
        </p:nvSpPr>
        <p:spPr>
          <a:xfrm>
            <a:off x="812800" y="2826941"/>
            <a:ext cx="3386667" cy="1747308"/>
          </a:xfrm>
          <a:prstGeom prst="roundRect">
            <a:avLst>
              <a:gd name="adj" fmla="val 5815"/>
            </a:avLst>
          </a:prstGeom>
          <a:solidFill>
            <a:srgbClr val="234F85"/>
          </a:solidFill>
          <a:ln/>
        </p:spPr>
      </p:sp>
      <p:sp>
        <p:nvSpPr>
          <p:cNvPr id="7" name="Text 5"/>
          <p:cNvSpPr/>
          <p:nvPr/>
        </p:nvSpPr>
        <p:spPr>
          <a:xfrm>
            <a:off x="1016000" y="3030141"/>
            <a:ext cx="3069675"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D9BF"/>
                </a:solidFill>
                <a:latin typeface="Courier New" pitchFamily="34" charset="0"/>
                <a:ea typeface="Courier New" pitchFamily="34" charset="-122"/>
                <a:cs typeface="Courier New" pitchFamily="34" charset="-120"/>
              </a:rPr>
              <a:t>∂E_total/∂out_o1</a:t>
            </a:r>
            <a:endParaRPr lang="en-US" sz="1600" dirty="0"/>
          </a:p>
        </p:txBody>
      </p:sp>
      <p:sp>
        <p:nvSpPr>
          <p:cNvPr id="8" name="Text 6"/>
          <p:cNvSpPr/>
          <p:nvPr/>
        </p:nvSpPr>
        <p:spPr>
          <a:xfrm>
            <a:off x="1016000" y="3416170"/>
            <a:ext cx="3069675"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6F2"/>
                </a:solidFill>
                <a:latin typeface="Arial" pitchFamily="34" charset="0"/>
                <a:ea typeface="Arial" pitchFamily="34" charset="-122"/>
                <a:cs typeface="Arial" pitchFamily="34" charset="-120"/>
              </a:rPr>
              <a:t>How much does the error change when out_o1 changes?</a:t>
            </a:r>
            <a:endParaRPr lang="en-US" sz="1600" dirty="0"/>
          </a:p>
        </p:txBody>
      </p:sp>
      <p:sp>
        <p:nvSpPr>
          <p:cNvPr id="9" name="Text 7"/>
          <p:cNvSpPr/>
          <p:nvPr/>
        </p:nvSpPr>
        <p:spPr>
          <a:xfrm>
            <a:off x="1016000" y="4086622"/>
            <a:ext cx="306967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Courier New" pitchFamily="34" charset="0"/>
                <a:ea typeface="Courier New" pitchFamily="34" charset="-122"/>
                <a:cs typeface="Courier New" pitchFamily="34" charset="-120"/>
              </a:rPr>
              <a:t>= −(target − out_o1)</a:t>
            </a:r>
            <a:endParaRPr lang="en-US" sz="1600" dirty="0"/>
          </a:p>
        </p:txBody>
      </p:sp>
      <p:sp>
        <p:nvSpPr>
          <p:cNvPr id="10" name="Shape 8"/>
          <p:cNvSpPr/>
          <p:nvPr/>
        </p:nvSpPr>
        <p:spPr>
          <a:xfrm>
            <a:off x="4402667" y="2826941"/>
            <a:ext cx="3386667" cy="1747308"/>
          </a:xfrm>
          <a:prstGeom prst="roundRect">
            <a:avLst>
              <a:gd name="adj" fmla="val 5815"/>
            </a:avLst>
          </a:prstGeom>
          <a:solidFill>
            <a:srgbClr val="234F85"/>
          </a:solidFill>
          <a:ln/>
        </p:spPr>
      </p:sp>
      <p:sp>
        <p:nvSpPr>
          <p:cNvPr id="11" name="Text 9"/>
          <p:cNvSpPr/>
          <p:nvPr/>
        </p:nvSpPr>
        <p:spPr>
          <a:xfrm>
            <a:off x="4605867" y="3030141"/>
            <a:ext cx="3069675"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D9BF"/>
                </a:solidFill>
                <a:latin typeface="Courier New" pitchFamily="34" charset="0"/>
                <a:ea typeface="Courier New" pitchFamily="34" charset="-122"/>
                <a:cs typeface="Courier New" pitchFamily="34" charset="-120"/>
              </a:rPr>
              <a:t>∂out_o1/∂net_o1</a:t>
            </a:r>
            <a:endParaRPr lang="en-US" sz="1600" dirty="0"/>
          </a:p>
        </p:txBody>
      </p:sp>
      <p:sp>
        <p:nvSpPr>
          <p:cNvPr id="12" name="Text 10"/>
          <p:cNvSpPr/>
          <p:nvPr/>
        </p:nvSpPr>
        <p:spPr>
          <a:xfrm>
            <a:off x="4605867" y="3416170"/>
            <a:ext cx="3069675"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6F2"/>
                </a:solidFill>
                <a:latin typeface="Arial" pitchFamily="34" charset="0"/>
                <a:ea typeface="Arial" pitchFamily="34" charset="-122"/>
                <a:cs typeface="Arial" pitchFamily="34" charset="-120"/>
              </a:rPr>
              <a:t>How much does out_o1 change when its net input changes?</a:t>
            </a:r>
            <a:endParaRPr lang="en-US" sz="1600" dirty="0"/>
          </a:p>
        </p:txBody>
      </p:sp>
      <p:sp>
        <p:nvSpPr>
          <p:cNvPr id="13" name="Text 11"/>
          <p:cNvSpPr/>
          <p:nvPr/>
        </p:nvSpPr>
        <p:spPr>
          <a:xfrm>
            <a:off x="4605867" y="4086622"/>
            <a:ext cx="306967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Courier New" pitchFamily="34" charset="0"/>
                <a:ea typeface="Courier New" pitchFamily="34" charset="-122"/>
                <a:cs typeface="Courier New" pitchFamily="34" charset="-120"/>
              </a:rPr>
              <a:t>= out_o1(1 − out_o1)</a:t>
            </a:r>
            <a:endParaRPr lang="en-US" sz="1600" dirty="0"/>
          </a:p>
        </p:txBody>
      </p:sp>
      <p:sp>
        <p:nvSpPr>
          <p:cNvPr id="14" name="Shape 12"/>
          <p:cNvSpPr/>
          <p:nvPr/>
        </p:nvSpPr>
        <p:spPr>
          <a:xfrm>
            <a:off x="7992534" y="2826941"/>
            <a:ext cx="3386667" cy="1747308"/>
          </a:xfrm>
          <a:prstGeom prst="roundRect">
            <a:avLst>
              <a:gd name="adj" fmla="val 5815"/>
            </a:avLst>
          </a:prstGeom>
          <a:solidFill>
            <a:srgbClr val="234F85"/>
          </a:solidFill>
          <a:ln/>
        </p:spPr>
      </p:sp>
      <p:sp>
        <p:nvSpPr>
          <p:cNvPr id="15" name="Text 13"/>
          <p:cNvSpPr/>
          <p:nvPr/>
        </p:nvSpPr>
        <p:spPr>
          <a:xfrm>
            <a:off x="8195734" y="3030141"/>
            <a:ext cx="3069675"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D9BF"/>
                </a:solidFill>
                <a:latin typeface="Courier New" pitchFamily="34" charset="0"/>
                <a:ea typeface="Courier New" pitchFamily="34" charset="-122"/>
                <a:cs typeface="Courier New" pitchFamily="34" charset="-120"/>
              </a:rPr>
              <a:t>∂net_o1/∂w5</a:t>
            </a:r>
            <a:endParaRPr lang="en-US" sz="1600" dirty="0"/>
          </a:p>
        </p:txBody>
      </p:sp>
      <p:sp>
        <p:nvSpPr>
          <p:cNvPr id="16" name="Text 14"/>
          <p:cNvSpPr/>
          <p:nvPr/>
        </p:nvSpPr>
        <p:spPr>
          <a:xfrm>
            <a:off x="8195734" y="3416170"/>
            <a:ext cx="3069675"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6F2"/>
                </a:solidFill>
                <a:latin typeface="Arial" pitchFamily="34" charset="0"/>
                <a:ea typeface="Arial" pitchFamily="34" charset="-122"/>
                <a:cs typeface="Arial" pitchFamily="34" charset="-120"/>
              </a:rPr>
              <a:t>How much does net_o1 change when w5 changes?</a:t>
            </a:r>
            <a:endParaRPr lang="en-US" sz="1600" dirty="0"/>
          </a:p>
        </p:txBody>
      </p:sp>
      <p:sp>
        <p:nvSpPr>
          <p:cNvPr id="17" name="Text 15"/>
          <p:cNvSpPr/>
          <p:nvPr/>
        </p:nvSpPr>
        <p:spPr>
          <a:xfrm>
            <a:off x="8195734" y="4086622"/>
            <a:ext cx="306967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Courier New" pitchFamily="34" charset="0"/>
                <a:ea typeface="Courier New" pitchFamily="34" charset="-122"/>
                <a:cs typeface="Courier New" pitchFamily="34" charset="-120"/>
              </a:rPr>
              <a:t>= out_h1</a:t>
            </a:r>
            <a:endParaRPr lang="en-US" sz="16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6F2"/>
                </a:solidFill>
                <a:latin typeface="Arial" pitchFamily="34" charset="0"/>
                <a:ea typeface="Arial" pitchFamily="34" charset="-122"/>
                <a:cs typeface="Arial" pitchFamily="34" charset="-120"/>
              </a:rPr>
              <a:t>IT2011 · Backpropagation, step by step</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CE6F2"/>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C"/>
                </a:solidFill>
                <a:latin typeface="Arial" pitchFamily="34" charset="0"/>
                <a:ea typeface="Arial" pitchFamily="34" charset="-122"/>
                <a:cs typeface="Arial" pitchFamily="34" charset="-120"/>
              </a:rPr>
              <a:t>STEP 3 · BACKWARD PASS · OUTPUT LAYER</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B2A38"/>
                </a:solidFill>
                <a:latin typeface="Georgia" pitchFamily="34" charset="0"/>
                <a:ea typeface="Georgia" pitchFamily="34" charset="-122"/>
                <a:cs typeface="Georgia" pitchFamily="34" charset="-120"/>
              </a:rPr>
              <a:t>Worked through for w5</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6341"/>
          <a:ext cx="10553700" cy="1543844"/>
        </p:xfrm>
        <a:graphic>
          <a:graphicData uri="http://schemas.openxmlformats.org/drawingml/2006/table">
            <a:tbl>
              <a:tblPr/>
              <a:tblGrid>
                <a:gridCol w="3166110"/>
                <a:gridCol w="4749165"/>
                <a:gridCol w="2638425"/>
              </a:tblGrid>
              <a:tr h="385961">
                <a:tc>
                  <a:txBody>
                    <a:bodyPr/>
                    <a:lstStyle/>
                    <a:p>
                      <a:pPr indent="0" marL="0">
                        <a:lnSpc>
                          <a:spcPts val="1960"/>
                        </a:lnSpc>
                        <a:buNone/>
                      </a:pPr>
                      <a:r>
                        <a:rPr lang="en-US" sz="1400" b="1" dirty="0">
                          <a:solidFill>
                            <a:srgbClr val="1B2A38"/>
                          </a:solidFill>
                          <a:latin typeface="Courier New" pitchFamily="34" charset="0"/>
                          <a:ea typeface="Courier New" pitchFamily="34" charset="-122"/>
                          <a:cs typeface="Courier New" pitchFamily="34" charset="-120"/>
                        </a:rPr>
                        <a:t>Factor</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CF5"/>
                    </a:solidFill>
                  </a:tcPr>
                </a:tc>
                <a:tc>
                  <a:txBody>
                    <a:bodyPr/>
                    <a:lstStyle/>
                    <a:p>
                      <a:pPr indent="0" marL="0">
                        <a:lnSpc>
                          <a:spcPts val="1960"/>
                        </a:lnSpc>
                        <a:buNone/>
                      </a:pPr>
                      <a:r>
                        <a:rPr lang="en-US" sz="1400" b="1" dirty="0">
                          <a:solidFill>
                            <a:srgbClr val="1B2A38"/>
                          </a:solidFill>
                          <a:latin typeface="Courier New" pitchFamily="34" charset="0"/>
                          <a:ea typeface="Courier New" pitchFamily="34" charset="-122"/>
                          <a:cs typeface="Courier New" pitchFamily="34" charset="-120"/>
                        </a:rPr>
                        <a:t>Computed as</a:t>
                      </a:r>
                      <a:endParaRPr lang="en-US" sz="1400" dirty="0">
                        <a:latin typeface="Courier New" charset="0"/>
                        <a:ea typeface="Courier New" charset="0"/>
                        <a:cs typeface="Courier New" charset="0"/>
                      </a:endParaRPr>
                    </a:p>
                  </a:txBody>
                  <a:tcPr marL="62230" marR="62230" marT="62230" marB="62230" anchor="t">
                    <a:lnL w="12700" cap="flat" cmpd="sng" algn="ctr">
                      <a:solidFill>
                        <a:srgbClr val="B6BCC3"/>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CF5"/>
                    </a:solidFill>
                  </a:tcPr>
                </a:tc>
                <a:tc>
                  <a:txBody>
                    <a:bodyPr/>
                    <a:lstStyle/>
                    <a:p>
                      <a:pPr algn="r" indent="0" marL="0">
                        <a:lnSpc>
                          <a:spcPts val="1960"/>
                        </a:lnSpc>
                        <a:buNone/>
                      </a:pPr>
                      <a:r>
                        <a:rPr lang="en-US" sz="1400" b="1" dirty="0">
                          <a:solidFill>
                            <a:srgbClr val="1B2A38"/>
                          </a:solidFill>
                          <a:latin typeface="Courier New" pitchFamily="34" charset="0"/>
                          <a:ea typeface="Courier New" pitchFamily="34" charset="-122"/>
                          <a:cs typeface="Courier New" pitchFamily="34" charset="-120"/>
                        </a:rPr>
                        <a:t>Value</a:t>
                      </a:r>
                      <a:endParaRPr lang="en-US" sz="1400" dirty="0">
                        <a:latin typeface="Courier New" charset="0"/>
                        <a:ea typeface="Courier New" charset="0"/>
                        <a:cs typeface="Courier New" charset="0"/>
                      </a:endParaRPr>
                    </a:p>
                  </a:txBody>
                  <a:tcPr marL="62230" marR="62230" marT="62230" marB="62230" anchor="t">
                    <a:lnL w="12700" cap="flat" cmpd="sng" algn="ctr">
                      <a:solidFill>
                        <a:srgbClr val="B6BCC3"/>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CF5"/>
                    </a:solidFill>
                  </a:tcPr>
                </a:tc>
              </a:tr>
              <a:tr h="385961">
                <a:tc>
                  <a:txBody>
                    <a:bodyPr/>
                    <a:lstStyle/>
                    <a:p>
                      <a:pP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∂E_total/∂out_o1</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−(0.01 − 0.75136507)</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0.74136507</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∂out_o1/∂net_o1</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0.75136507 × (1 − 0.75136507)</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0.186815602</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∂net_o1/∂w5</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out_h1</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0.593269992</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Shape 2"/>
          <p:cNvSpPr/>
          <p:nvPr/>
        </p:nvSpPr>
        <p:spPr>
          <a:xfrm>
            <a:off x="815975" y="3637359"/>
            <a:ext cx="10560050" cy="1094317"/>
          </a:xfrm>
          <a:prstGeom prst="roundRect">
            <a:avLst>
              <a:gd name="adj" fmla="val 8994"/>
            </a:avLst>
          </a:prstGeom>
          <a:solidFill>
            <a:srgbClr val="FDFCF8"/>
          </a:solidFill>
          <a:ln w="6350">
            <a:solidFill>
              <a:srgbClr val="DAD5C8"/>
            </a:solidFill>
            <a:prstDash val="solid"/>
          </a:ln>
        </p:spPr>
      </p:sp>
      <p:sp>
        <p:nvSpPr>
          <p:cNvPr id="6" name="Text 3"/>
          <p:cNvSpPr/>
          <p:nvPr/>
        </p:nvSpPr>
        <p:spPr>
          <a:xfrm>
            <a:off x="1071033" y="3841620"/>
            <a:ext cx="1035143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∂E_total/∂w5 = 0.74136507 × 0.186815602 × 0.593269992 = </a:t>
            </a:r>
            <a:r>
              <a:rPr lang="en-US" sz="1600" b="1" dirty="0">
                <a:solidFill>
                  <a:srgbClr val="1B2A38"/>
                </a:solidFill>
                <a:latin typeface="Courier New" pitchFamily="34" charset="0"/>
                <a:ea typeface="Courier New" pitchFamily="34" charset="-122"/>
                <a:cs typeface="Courier New" pitchFamily="34" charset="-120"/>
              </a:rPr>
              <a:t>0.082167041</a:t>
            </a:r>
            <a:endParaRPr lang="en-US" sz="1600" dirty="0"/>
          </a:p>
        </p:txBody>
      </p:sp>
      <p:sp>
        <p:nvSpPr>
          <p:cNvPr id="7" name="Text 4"/>
          <p:cNvSpPr/>
          <p:nvPr/>
        </p:nvSpPr>
        <p:spPr>
          <a:xfrm>
            <a:off x="1071033" y="4222620"/>
            <a:ext cx="1035143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w5⁺ = w5 − η·∂E_total/∂w5 = 0.40 − 0.5 × 0.082167041 = </a:t>
            </a:r>
            <a:r>
              <a:rPr lang="en-US" sz="1600" b="1" dirty="0">
                <a:solidFill>
                  <a:srgbClr val="1B2A38"/>
                </a:solidFill>
                <a:latin typeface="Courier New" pitchFamily="34" charset="0"/>
                <a:ea typeface="Courier New" pitchFamily="34" charset="-122"/>
                <a:cs typeface="Courier New" pitchFamily="34" charset="-120"/>
              </a:rPr>
              <a:t>0.35891648</a:t>
            </a:r>
            <a:endParaRPr lang="en-US" sz="1600" dirty="0"/>
          </a:p>
        </p:txBody>
      </p:sp>
      <p:sp>
        <p:nvSpPr>
          <p:cNvPr id="8" name="Text 5"/>
          <p:cNvSpPr/>
          <p:nvPr/>
        </p:nvSpPr>
        <p:spPr>
          <a:xfrm>
            <a:off x="812800" y="4988855"/>
            <a:ext cx="98107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The first two factors together form the output neuron's </a:t>
            </a:r>
            <a:r>
              <a:rPr lang="en-US" sz="1200" b="1" dirty="0">
                <a:solidFill>
                  <a:srgbClr val="4A5560"/>
                </a:solidFill>
                <a:latin typeface="Arial" pitchFamily="34" charset="0"/>
                <a:ea typeface="Arial" pitchFamily="34" charset="-122"/>
                <a:cs typeface="Arial" pitchFamily="34" charset="-120"/>
              </a:rPr>
              <a:t>delta</a:t>
            </a:r>
            <a:r>
              <a:rPr lang="en-US" sz="1200" dirty="0">
                <a:solidFill>
                  <a:srgbClr val="4A5560"/>
                </a:solidFill>
                <a:latin typeface="Arial" pitchFamily="34" charset="0"/>
                <a:ea typeface="Arial" pitchFamily="34" charset="-122"/>
                <a:cs typeface="Arial" pitchFamily="34" charset="-120"/>
              </a:rPr>
              <a:t>: δ_o1 = 0.74136507 × 0.186815602 = 0.138498562. We will reuse it in the hidden layer.</a:t>
            </a:r>
            <a:endParaRPr lang="en-US" sz="1200" dirty="0"/>
          </a:p>
        </p:txBody>
      </p:sp>
      <p:sp>
        <p:nvSpPr>
          <p:cNvPr id="9"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E78"/>
                </a:solidFill>
                <a:latin typeface="Arial" pitchFamily="34" charset="0"/>
                <a:ea typeface="Arial" pitchFamily="34" charset="-122"/>
                <a:cs typeface="Arial" pitchFamily="34" charset="-120"/>
              </a:rPr>
              <a:t>IT2011 · Backpropagation, step by step</a:t>
            </a:r>
            <a:endParaRPr lang="en-US" sz="1200" dirty="0"/>
          </a:p>
        </p:txBody>
      </p:sp>
      <p:sp>
        <p:nvSpPr>
          <p:cNvPr id="10"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E78"/>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C"/>
                </a:solidFill>
                <a:latin typeface="Arial" pitchFamily="34" charset="0"/>
                <a:ea typeface="Arial" pitchFamily="34" charset="-122"/>
                <a:cs typeface="Arial" pitchFamily="34" charset="-120"/>
              </a:rPr>
              <a:t>STEP 3 · BACKWARD PASS · OUTPUT LAYER</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B2A38"/>
                </a:solidFill>
                <a:latin typeface="Georgia" pitchFamily="34" charset="0"/>
                <a:ea typeface="Georgia" pitchFamily="34" charset="-122"/>
                <a:cs typeface="Georgia" pitchFamily="34" charset="-120"/>
              </a:rPr>
              <a:t>All four output-layer weights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6341"/>
          <a:ext cx="10553700" cy="2196703"/>
        </p:xfrm>
        <a:graphic>
          <a:graphicData uri="http://schemas.openxmlformats.org/drawingml/2006/table">
            <a:tbl>
              <a:tblPr/>
              <a:tblGrid>
                <a:gridCol w="1477518"/>
                <a:gridCol w="2110740"/>
                <a:gridCol w="2743962"/>
                <a:gridCol w="1688592"/>
                <a:gridCol w="2532888"/>
              </a:tblGrid>
              <a:tr h="439341">
                <a:tc>
                  <a:txBody>
                    <a:bodyPr/>
                    <a:lstStyle/>
                    <a:p>
                      <a:pPr indent="0" marL="0">
                        <a:lnSpc>
                          <a:spcPts val="2240"/>
                        </a:lnSpc>
                        <a:buNone/>
                      </a:pPr>
                      <a:r>
                        <a:rPr lang="en-US" sz="1600" b="1" dirty="0">
                          <a:solidFill>
                            <a:srgbClr val="1B2A38"/>
                          </a:solidFill>
                          <a:latin typeface="Courier New" pitchFamily="34" charset="0"/>
                          <a:ea typeface="Courier New" pitchFamily="34" charset="-122"/>
                          <a:cs typeface="Courier New" pitchFamily="34" charset="-120"/>
                        </a:rPr>
                        <a:t>Weight</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B5BF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FB8"/>
                      </a:solidFill>
                      <a:prstDash val="solid"/>
                      <a:round/>
                      <a:headEnd type="none" w="med" len="med"/>
                      <a:tailEnd type="none" w="med" len="med"/>
                    </a:lnB>
                    <a:solidFill>
                      <a:srgbClr val="E3EFE6"/>
                    </a:solidFill>
                  </a:tcPr>
                </a:tc>
                <a:tc>
                  <a:txBody>
                    <a:bodyPr/>
                    <a:lstStyle/>
                    <a:p>
                      <a:pPr indent="0" marL="0">
                        <a:lnSpc>
                          <a:spcPts val="2240"/>
                        </a:lnSpc>
                        <a:buNone/>
                      </a:pPr>
                      <a:r>
                        <a:rPr lang="en-US" sz="1600" b="1" dirty="0">
                          <a:solidFill>
                            <a:srgbClr val="1B2A38"/>
                          </a:solidFill>
                          <a:latin typeface="Courier New" pitchFamily="34" charset="0"/>
                          <a:ea typeface="Courier New" pitchFamily="34" charset="-122"/>
                          <a:cs typeface="Courier New" pitchFamily="34" charset="-120"/>
                        </a:rPr>
                        <a:t>Connects</a:t>
                      </a:r>
                      <a:endParaRPr lang="en-US" sz="1600" dirty="0">
                        <a:latin typeface="Courier New" charset="0"/>
                        <a:ea typeface="Courier New" charset="0"/>
                        <a:cs typeface="Courier New" charset="0"/>
                      </a:endParaRPr>
                    </a:p>
                  </a:txBody>
                  <a:tcPr marL="71120" marR="71120" marT="71120" marB="71120" anchor="t">
                    <a:lnL w="12700" cap="flat" cmpd="sng" algn="ctr">
                      <a:solidFill>
                        <a:srgbClr val="B5BFB8"/>
                      </a:solidFill>
                      <a:prstDash val="solid"/>
                      <a:round/>
                      <a:headEnd type="none" w="med" len="med"/>
                      <a:tailEnd type="none" w="med" len="med"/>
                    </a:lnL>
                    <a:lnR w="12700" cap="flat" cmpd="sng" algn="ctr">
                      <a:solidFill>
                        <a:srgbClr val="B5BF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FB8"/>
                      </a:solidFill>
                      <a:prstDash val="solid"/>
                      <a:round/>
                      <a:headEnd type="none" w="med" len="med"/>
                      <a:tailEnd type="none" w="med" len="med"/>
                    </a:lnB>
                    <a:solidFill>
                      <a:srgbClr val="E3EFE6"/>
                    </a:solidFill>
                  </a:tcPr>
                </a:tc>
                <a:tc>
                  <a:txBody>
                    <a:bodyPr/>
                    <a:lstStyle/>
                    <a:p>
                      <a:pPr algn="r" indent="0" marL="0">
                        <a:lnSpc>
                          <a:spcPts val="2240"/>
                        </a:lnSpc>
                        <a:buNone/>
                      </a:pPr>
                      <a:r>
                        <a:rPr lang="en-US" sz="1600" b="1" dirty="0">
                          <a:solidFill>
                            <a:srgbClr val="1B2A38"/>
                          </a:solidFill>
                          <a:latin typeface="Courier New" pitchFamily="34" charset="0"/>
                          <a:ea typeface="Courier New" pitchFamily="34" charset="-122"/>
                          <a:cs typeface="Courier New" pitchFamily="34" charset="-120"/>
                        </a:rPr>
                        <a:t>∂E_total/∂w</a:t>
                      </a:r>
                      <a:endParaRPr lang="en-US" sz="1600" dirty="0">
                        <a:latin typeface="Courier New" charset="0"/>
                        <a:ea typeface="Courier New" charset="0"/>
                        <a:cs typeface="Courier New" charset="0"/>
                      </a:endParaRPr>
                    </a:p>
                  </a:txBody>
                  <a:tcPr marL="71120" marR="71120" marT="71120" marB="71120" anchor="t">
                    <a:lnL w="12700" cap="flat" cmpd="sng" algn="ctr">
                      <a:solidFill>
                        <a:srgbClr val="B5BFB8"/>
                      </a:solidFill>
                      <a:prstDash val="solid"/>
                      <a:round/>
                      <a:headEnd type="none" w="med" len="med"/>
                      <a:tailEnd type="none" w="med" len="med"/>
                    </a:lnL>
                    <a:lnR w="12700" cap="flat" cmpd="sng" algn="ctr">
                      <a:solidFill>
                        <a:srgbClr val="B5BF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FB8"/>
                      </a:solidFill>
                      <a:prstDash val="solid"/>
                      <a:round/>
                      <a:headEnd type="none" w="med" len="med"/>
                      <a:tailEnd type="none" w="med" len="med"/>
                    </a:lnB>
                    <a:solidFill>
                      <a:srgbClr val="E3EFE6"/>
                    </a:solidFill>
                  </a:tcPr>
                </a:tc>
                <a:tc>
                  <a:txBody>
                    <a:bodyPr/>
                    <a:lstStyle/>
                    <a:p>
                      <a:pPr algn="r" indent="0" marL="0">
                        <a:lnSpc>
                          <a:spcPts val="2240"/>
                        </a:lnSpc>
                        <a:buNone/>
                      </a:pPr>
                      <a:r>
                        <a:rPr lang="en-US" sz="1600" b="1" dirty="0">
                          <a:solidFill>
                            <a:srgbClr val="1B2A38"/>
                          </a:solidFill>
                          <a:latin typeface="Courier New" pitchFamily="34" charset="0"/>
                          <a:ea typeface="Courier New" pitchFamily="34" charset="-122"/>
                          <a:cs typeface="Courier New" pitchFamily="34" charset="-120"/>
                        </a:rPr>
                        <a:t>Old</a:t>
                      </a:r>
                      <a:endParaRPr lang="en-US" sz="1600" dirty="0">
                        <a:latin typeface="Courier New" charset="0"/>
                        <a:ea typeface="Courier New" charset="0"/>
                        <a:cs typeface="Courier New" charset="0"/>
                      </a:endParaRPr>
                    </a:p>
                  </a:txBody>
                  <a:tcPr marL="71120" marR="71120" marT="71120" marB="71120" anchor="t">
                    <a:lnL w="12700" cap="flat" cmpd="sng" algn="ctr">
                      <a:solidFill>
                        <a:srgbClr val="B5BFB8"/>
                      </a:solidFill>
                      <a:prstDash val="solid"/>
                      <a:round/>
                      <a:headEnd type="none" w="med" len="med"/>
                      <a:tailEnd type="none" w="med" len="med"/>
                    </a:lnL>
                    <a:lnR w="12700" cap="flat" cmpd="sng" algn="ctr">
                      <a:solidFill>
                        <a:srgbClr val="B5BF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FB8"/>
                      </a:solidFill>
                      <a:prstDash val="solid"/>
                      <a:round/>
                      <a:headEnd type="none" w="med" len="med"/>
                      <a:tailEnd type="none" w="med" len="med"/>
                    </a:lnB>
                    <a:solidFill>
                      <a:srgbClr val="E3EFE6"/>
                    </a:solidFill>
                  </a:tcPr>
                </a:tc>
                <a:tc>
                  <a:txBody>
                    <a:bodyPr/>
                    <a:lstStyle/>
                    <a:p>
                      <a:pPr algn="r" indent="0" marL="0">
                        <a:lnSpc>
                          <a:spcPts val="2240"/>
                        </a:lnSpc>
                        <a:buNone/>
                      </a:pPr>
                      <a:r>
                        <a:rPr lang="en-US" sz="1600" b="1" dirty="0">
                          <a:solidFill>
                            <a:srgbClr val="1B2A38"/>
                          </a:solidFill>
                          <a:latin typeface="Courier New" pitchFamily="34" charset="0"/>
                          <a:ea typeface="Courier New" pitchFamily="34" charset="-122"/>
                          <a:cs typeface="Courier New" pitchFamily="34" charset="-120"/>
                        </a:rPr>
                        <a:t>New</a:t>
                      </a:r>
                      <a:endParaRPr lang="en-US" sz="1600" dirty="0">
                        <a:latin typeface="Courier New" charset="0"/>
                        <a:ea typeface="Courier New" charset="0"/>
                        <a:cs typeface="Courier New" charset="0"/>
                      </a:endParaRPr>
                    </a:p>
                  </a:txBody>
                  <a:tcPr marL="71120" marR="71120" marT="71120" marB="71120" anchor="t">
                    <a:lnL w="12700" cap="flat" cmpd="sng" algn="ctr">
                      <a:solidFill>
                        <a:srgbClr val="B5BFB8"/>
                      </a:solidFill>
                      <a:prstDash val="solid"/>
                      <a:round/>
                      <a:headEnd type="none" w="med" len="med"/>
                      <a:tailEnd type="none" w="med" len="med"/>
                    </a:lnL>
                    <a:lnR w="12700" cap="flat" cmpd="sng" algn="ctr">
                      <a:solidFill>
                        <a:srgbClr val="B5BF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FB8"/>
                      </a:solidFill>
                      <a:prstDash val="solid"/>
                      <a:round/>
                      <a:headEnd type="none" w="med" len="med"/>
                      <a:tailEnd type="none" w="med" len="med"/>
                    </a:lnB>
                    <a:solidFill>
                      <a:srgbClr val="E3EFE6"/>
                    </a:solidFill>
                  </a:tcPr>
                </a:tc>
              </a:tr>
              <a:tr h="439341">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w5</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FB8"/>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h1 → o1</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FB8"/>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0.082167041</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FB8"/>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0.40</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FB8"/>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0.35891648</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FB8"/>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341">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w6</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h2 → o1</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0.082667628</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0.45</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0.408666186</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341">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w7</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h1 → o2</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−0.022602540</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0.50</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0.511301270</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341">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w8</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h2 → o2</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−0.022740242</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0.55</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0.561370121</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Shape 2"/>
          <p:cNvSpPr/>
          <p:nvPr/>
        </p:nvSpPr>
        <p:spPr>
          <a:xfrm>
            <a:off x="815975" y="4290219"/>
            <a:ext cx="10560050" cy="1292291"/>
          </a:xfrm>
          <a:prstGeom prst="roundRect">
            <a:avLst>
              <a:gd name="adj" fmla="val 7616"/>
            </a:avLst>
          </a:prstGeom>
          <a:solidFill>
            <a:srgbClr val="FDFCF8"/>
          </a:solidFill>
          <a:ln w="6350">
            <a:solidFill>
              <a:srgbClr val="DAD5C8"/>
            </a:solidFill>
            <a:prstDash val="solid"/>
          </a:ln>
        </p:spPr>
      </p:sp>
      <p:sp>
        <p:nvSpPr>
          <p:cNvPr id="6" name="Text 3"/>
          <p:cNvSpPr/>
          <p:nvPr/>
        </p:nvSpPr>
        <p:spPr>
          <a:xfrm>
            <a:off x="1071033" y="4494479"/>
            <a:ext cx="10351432" cy="594254"/>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8"/>
                </a:solidFill>
                <a:latin typeface="Arial" pitchFamily="34" charset="0"/>
                <a:ea typeface="Arial" pitchFamily="34" charset="-122"/>
                <a:cs typeface="Arial" pitchFamily="34" charset="-120"/>
              </a:rPr>
              <a:t>Hold the new values aside.</a:t>
            </a:r>
            <a:r>
              <a:rPr lang="en-US" sz="1600" dirty="0">
                <a:solidFill>
                  <a:srgbClr val="1B2A38"/>
                </a:solidFill>
                <a:latin typeface="Arial" pitchFamily="34" charset="0"/>
                <a:ea typeface="Arial" pitchFamily="34" charset="-122"/>
                <a:cs typeface="Arial" pitchFamily="34" charset="-120"/>
              </a:rPr>
              <a:t> The hidden-layer step still uses the </a:t>
            </a:r>
            <a:r>
              <a:rPr lang="en-US" sz="1600" b="1" dirty="0">
                <a:solidFill>
                  <a:srgbClr val="1B2A38"/>
                </a:solidFill>
                <a:latin typeface="Arial" pitchFamily="34" charset="0"/>
                <a:ea typeface="Arial" pitchFamily="34" charset="-122"/>
                <a:cs typeface="Arial" pitchFamily="34" charset="-120"/>
              </a:rPr>
              <a:t>original</a:t>
            </a:r>
            <a:r>
              <a:rPr lang="en-US" sz="1600" dirty="0">
                <a:solidFill>
                  <a:srgbClr val="1B2A38"/>
                </a:solidFill>
                <a:latin typeface="Arial" pitchFamily="34" charset="0"/>
                <a:ea typeface="Arial" pitchFamily="34" charset="-122"/>
                <a:cs typeface="Arial" pitchFamily="34" charset="-120"/>
              </a:rPr>
              <a:t> w5–w8. All eight weights are updated together at the end.</a:t>
            </a:r>
            <a:endParaRPr lang="en-US" sz="1600" dirty="0"/>
          </a:p>
        </p:txBody>
      </p:sp>
      <p:sp>
        <p:nvSpPr>
          <p:cNvPr id="7" name="Text 4"/>
          <p:cNvSpPr/>
          <p:nvPr/>
        </p:nvSpPr>
        <p:spPr>
          <a:xfrm>
            <a:off x="1071033" y="5164931"/>
            <a:ext cx="103514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w7 and w8 have negative gradients, so they increase, pushing out_o2 up toward its target of 0.99.</a:t>
            </a:r>
            <a:endParaRPr lang="en-US" sz="1200"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E78"/>
                </a:solidFill>
                <a:latin typeface="Arial" pitchFamily="34" charset="0"/>
                <a:ea typeface="Arial" pitchFamily="34" charset="-122"/>
                <a:cs typeface="Arial" pitchFamily="34" charset="-120"/>
              </a:rPr>
              <a:t>IT2011 · Backpropagation, step by step</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E78"/>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C"/>
                </a:solidFill>
                <a:latin typeface="Arial" pitchFamily="34" charset="0"/>
                <a:ea typeface="Arial" pitchFamily="34" charset="-122"/>
                <a:cs typeface="Arial" pitchFamily="34" charset="-120"/>
              </a:rPr>
              <a:t>STEP 3 · BACKWARD PASS · HIDDEN LAYER</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B2A38"/>
                </a:solidFill>
                <a:latin typeface="Georgia" pitchFamily="34" charset="0"/>
                <a:ea typeface="Georgia" pitchFamily="34" charset="-122"/>
                <a:cs typeface="Georgia" pitchFamily="34" charset="-120"/>
              </a:rPr>
              <a:t>Hidden layer: h1 feeds both outputs</a:t>
            </a:r>
            <a:endParaRPr lang="en-US" sz="3200" dirty="0"/>
          </a:p>
        </p:txBody>
      </p:sp>
      <p:sp>
        <p:nvSpPr>
          <p:cNvPr id="4" name="Text 2"/>
          <p:cNvSpPr/>
          <p:nvPr/>
        </p:nvSpPr>
        <p:spPr>
          <a:xfrm>
            <a:off x="812800" y="1823641"/>
            <a:ext cx="1046480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4A5560"/>
                </a:solidFill>
                <a:latin typeface="Arial" pitchFamily="34" charset="0"/>
                <a:ea typeface="Arial" pitchFamily="34" charset="-122"/>
                <a:cs typeface="Arial" pitchFamily="34" charset="-120"/>
              </a:rPr>
              <a:t>A change in out_h1 affects </a:t>
            </a:r>
            <a:r>
              <a:rPr lang="en-US" sz="1600" b="1" dirty="0">
                <a:solidFill>
                  <a:srgbClr val="4A5560"/>
                </a:solidFill>
                <a:latin typeface="Arial" pitchFamily="34" charset="0"/>
                <a:ea typeface="Arial" pitchFamily="34" charset="-122"/>
                <a:cs typeface="Arial" pitchFamily="34" charset="-120"/>
              </a:rPr>
              <a:t>both</a:t>
            </a:r>
            <a:r>
              <a:rPr lang="en-US" sz="1600" dirty="0">
                <a:solidFill>
                  <a:srgbClr val="4A5560"/>
                </a:solidFill>
                <a:latin typeface="Arial" pitchFamily="34" charset="0"/>
                <a:ea typeface="Arial" pitchFamily="34" charset="-122"/>
                <a:cs typeface="Arial" pitchFamily="34" charset="-120"/>
              </a:rPr>
              <a:t> o1 and o2, so its error signal is the sum of both paths, using δ_o1 = 0.138498562 and δ_o2 = −0.038098236.</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699941"/>
          <a:ext cx="10553700" cy="1543844"/>
        </p:xfrm>
        <a:graphic>
          <a:graphicData uri="http://schemas.openxmlformats.org/drawingml/2006/table">
            <a:tbl>
              <a:tblPr/>
              <a:tblGrid>
                <a:gridCol w="3166110"/>
                <a:gridCol w="4749165"/>
                <a:gridCol w="2638425"/>
              </a:tblGrid>
              <a:tr h="385961">
                <a:tc>
                  <a:txBody>
                    <a:bodyPr/>
                    <a:lstStyle/>
                    <a:p>
                      <a:pPr indent="0" marL="0">
                        <a:lnSpc>
                          <a:spcPts val="1960"/>
                        </a:lnSpc>
                        <a:buNone/>
                      </a:pPr>
                      <a:r>
                        <a:rPr lang="en-US" sz="1400" b="1" dirty="0">
                          <a:solidFill>
                            <a:srgbClr val="1B2A38"/>
                          </a:solidFill>
                          <a:latin typeface="Courier New" pitchFamily="34" charset="0"/>
                          <a:ea typeface="Courier New" pitchFamily="34" charset="-122"/>
                          <a:cs typeface="Courier New" pitchFamily="34" charset="-120"/>
                        </a:rPr>
                        <a:t>Factor</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E"/>
                    </a:solidFill>
                  </a:tcPr>
                </a:tc>
                <a:tc>
                  <a:txBody>
                    <a:bodyPr/>
                    <a:lstStyle/>
                    <a:p>
                      <a:pPr indent="0" marL="0">
                        <a:lnSpc>
                          <a:spcPts val="1960"/>
                        </a:lnSpc>
                        <a:buNone/>
                      </a:pPr>
                      <a:r>
                        <a:rPr lang="en-US" sz="1400" b="1" dirty="0">
                          <a:solidFill>
                            <a:srgbClr val="1B2A38"/>
                          </a:solidFill>
                          <a:latin typeface="Courier New" pitchFamily="34" charset="0"/>
                          <a:ea typeface="Courier New" pitchFamily="34" charset="-122"/>
                          <a:cs typeface="Courier New" pitchFamily="34" charset="-120"/>
                        </a:rPr>
                        <a:t>Computed as</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E"/>
                    </a:solidFill>
                  </a:tcPr>
                </a:tc>
                <a:tc>
                  <a:txBody>
                    <a:bodyPr/>
                    <a:lstStyle/>
                    <a:p>
                      <a:pPr algn="r" indent="0" marL="0">
                        <a:lnSpc>
                          <a:spcPts val="1960"/>
                        </a:lnSpc>
                        <a:buNone/>
                      </a:pPr>
                      <a:r>
                        <a:rPr lang="en-US" sz="1400" b="1" dirty="0">
                          <a:solidFill>
                            <a:srgbClr val="1B2A38"/>
                          </a:solidFill>
                          <a:latin typeface="Courier New" pitchFamily="34" charset="0"/>
                          <a:ea typeface="Courier New" pitchFamily="34" charset="-122"/>
                          <a:cs typeface="Courier New" pitchFamily="34" charset="-120"/>
                        </a:rPr>
                        <a:t>Value</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E"/>
                    </a:solidFill>
                  </a:tcPr>
                </a:tc>
              </a:tr>
              <a:tr h="385961">
                <a:tc>
                  <a:txBody>
                    <a:bodyPr/>
                    <a:lstStyle/>
                    <a:p>
                      <a:pP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∂E_total/∂out_h1</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δ_o1·w5 + δ_o2·w7</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0.036350306</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∂out_h1/∂net_h1</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out_h1 × (1 − out_h1)</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0.241300709</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∂net_h1/∂w1</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i1</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B2A38"/>
                          </a:solidFill>
                          <a:latin typeface="Courier New" pitchFamily="34" charset="0"/>
                          <a:ea typeface="Courier New" pitchFamily="34" charset="-122"/>
                          <a:cs typeface="Courier New" pitchFamily="34" charset="-120"/>
                        </a:rPr>
                        <a:t>0.05</a:t>
                      </a:r>
                      <a:endParaRPr lang="en-US" sz="1400" dirty="0">
                        <a:latin typeface="Courier New" charset="0"/>
                        <a:ea typeface="Courier New" charset="0"/>
                        <a:cs typeface="Courier New"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6" name="Shape 3"/>
          <p:cNvSpPr/>
          <p:nvPr/>
        </p:nvSpPr>
        <p:spPr>
          <a:xfrm>
            <a:off x="815975" y="4500959"/>
            <a:ext cx="10560050" cy="1094317"/>
          </a:xfrm>
          <a:prstGeom prst="roundRect">
            <a:avLst>
              <a:gd name="adj" fmla="val 8994"/>
            </a:avLst>
          </a:prstGeom>
          <a:solidFill>
            <a:srgbClr val="FDFCF8"/>
          </a:solidFill>
          <a:ln w="6350">
            <a:solidFill>
              <a:srgbClr val="DAD5C8"/>
            </a:solidFill>
            <a:prstDash val="solid"/>
          </a:ln>
        </p:spPr>
      </p:sp>
      <p:sp>
        <p:nvSpPr>
          <p:cNvPr id="7" name="Text 4"/>
          <p:cNvSpPr/>
          <p:nvPr/>
        </p:nvSpPr>
        <p:spPr>
          <a:xfrm>
            <a:off x="1071033" y="4705220"/>
            <a:ext cx="1035143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∂E_total/∂w1 = 0.036350306 × 0.241300709 × 0.05 = </a:t>
            </a:r>
            <a:r>
              <a:rPr lang="en-US" sz="1600" b="1" dirty="0">
                <a:solidFill>
                  <a:srgbClr val="1B2A38"/>
                </a:solidFill>
                <a:latin typeface="Courier New" pitchFamily="34" charset="0"/>
                <a:ea typeface="Courier New" pitchFamily="34" charset="-122"/>
                <a:cs typeface="Courier New" pitchFamily="34" charset="-120"/>
              </a:rPr>
              <a:t>0.000438568</a:t>
            </a:r>
            <a:endParaRPr lang="en-US" sz="1600" dirty="0"/>
          </a:p>
        </p:txBody>
      </p:sp>
      <p:sp>
        <p:nvSpPr>
          <p:cNvPr id="8" name="Text 5"/>
          <p:cNvSpPr/>
          <p:nvPr/>
        </p:nvSpPr>
        <p:spPr>
          <a:xfrm>
            <a:off x="1071033" y="5086220"/>
            <a:ext cx="1035143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8"/>
                </a:solidFill>
                <a:latin typeface="Courier New" pitchFamily="34" charset="0"/>
                <a:ea typeface="Courier New" pitchFamily="34" charset="-122"/>
                <a:cs typeface="Courier New" pitchFamily="34" charset="-120"/>
              </a:rPr>
              <a:t>w1⁺ = 0.15 − 0.5 × 0.000438568 = </a:t>
            </a:r>
            <a:r>
              <a:rPr lang="en-US" sz="1600" b="1" dirty="0">
                <a:solidFill>
                  <a:srgbClr val="1B2A38"/>
                </a:solidFill>
                <a:latin typeface="Courier New" pitchFamily="34" charset="0"/>
                <a:ea typeface="Courier New" pitchFamily="34" charset="-122"/>
                <a:cs typeface="Courier New" pitchFamily="34" charset="-120"/>
              </a:rPr>
              <a:t>0.149780716</a:t>
            </a:r>
            <a:endParaRPr lang="en-US" sz="1600" dirty="0"/>
          </a:p>
        </p:txBody>
      </p:sp>
      <p:sp>
        <p:nvSpPr>
          <p:cNvPr id="9"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E78"/>
                </a:solidFill>
                <a:latin typeface="Arial" pitchFamily="34" charset="0"/>
                <a:ea typeface="Arial" pitchFamily="34" charset="-122"/>
                <a:cs typeface="Arial" pitchFamily="34" charset="-120"/>
              </a:rPr>
              <a:t>IT2011 · Backpropagation, step by step</a:t>
            </a:r>
            <a:endParaRPr lang="en-US" sz="1200" dirty="0"/>
          </a:p>
        </p:txBody>
      </p:sp>
      <p:sp>
        <p:nvSpPr>
          <p:cNvPr id="10"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E78"/>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C"/>
                </a:solidFill>
                <a:latin typeface="Arial" pitchFamily="34" charset="0"/>
                <a:ea typeface="Arial" pitchFamily="34" charset="-122"/>
                <a:cs typeface="Arial" pitchFamily="34" charset="-120"/>
              </a:rPr>
              <a:t>STEP 3 · BACKWARD PASS · HIDDEN LAYER</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B2A38"/>
                </a:solidFill>
                <a:latin typeface="Georgia" pitchFamily="34" charset="0"/>
                <a:ea typeface="Georgia" pitchFamily="34" charset="-122"/>
                <a:cs typeface="Georgia" pitchFamily="34" charset="-120"/>
              </a:rPr>
              <a:t>All four hidden-layer weights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6341"/>
          <a:ext cx="10553700" cy="2196703"/>
        </p:xfrm>
        <a:graphic>
          <a:graphicData uri="http://schemas.openxmlformats.org/drawingml/2006/table">
            <a:tbl>
              <a:tblPr/>
              <a:tblGrid>
                <a:gridCol w="1477518"/>
                <a:gridCol w="2110740"/>
                <a:gridCol w="2743962"/>
                <a:gridCol w="1688592"/>
                <a:gridCol w="2532888"/>
              </a:tblGrid>
              <a:tr h="439341">
                <a:tc>
                  <a:txBody>
                    <a:bodyPr/>
                    <a:lstStyle/>
                    <a:p>
                      <a:pPr indent="0" marL="0">
                        <a:lnSpc>
                          <a:spcPts val="2240"/>
                        </a:lnSpc>
                        <a:buNone/>
                      </a:pPr>
                      <a:r>
                        <a:rPr lang="en-US" sz="1600" b="1" dirty="0">
                          <a:solidFill>
                            <a:srgbClr val="1B2A38"/>
                          </a:solidFill>
                          <a:latin typeface="Courier New" pitchFamily="34" charset="0"/>
                          <a:ea typeface="Courier New" pitchFamily="34" charset="-122"/>
                          <a:cs typeface="Courier New" pitchFamily="34" charset="-120"/>
                        </a:rPr>
                        <a:t>Weight</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E"/>
                    </a:solidFill>
                  </a:tcPr>
                </a:tc>
                <a:tc>
                  <a:txBody>
                    <a:bodyPr/>
                    <a:lstStyle/>
                    <a:p>
                      <a:pPr indent="0" marL="0">
                        <a:lnSpc>
                          <a:spcPts val="2240"/>
                        </a:lnSpc>
                        <a:buNone/>
                      </a:pPr>
                      <a:r>
                        <a:rPr lang="en-US" sz="1600" b="1" dirty="0">
                          <a:solidFill>
                            <a:srgbClr val="1B2A38"/>
                          </a:solidFill>
                          <a:latin typeface="Courier New" pitchFamily="34" charset="0"/>
                          <a:ea typeface="Courier New" pitchFamily="34" charset="-122"/>
                          <a:cs typeface="Courier New" pitchFamily="34" charset="-120"/>
                        </a:rPr>
                        <a:t>Connects</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E"/>
                    </a:solidFill>
                  </a:tcPr>
                </a:tc>
                <a:tc>
                  <a:txBody>
                    <a:bodyPr/>
                    <a:lstStyle/>
                    <a:p>
                      <a:pPr algn="r" indent="0" marL="0">
                        <a:lnSpc>
                          <a:spcPts val="2240"/>
                        </a:lnSpc>
                        <a:buNone/>
                      </a:pPr>
                      <a:r>
                        <a:rPr lang="en-US" sz="1600" b="1" dirty="0">
                          <a:solidFill>
                            <a:srgbClr val="1B2A38"/>
                          </a:solidFill>
                          <a:latin typeface="Courier New" pitchFamily="34" charset="0"/>
                          <a:ea typeface="Courier New" pitchFamily="34" charset="-122"/>
                          <a:cs typeface="Courier New" pitchFamily="34" charset="-120"/>
                        </a:rPr>
                        <a:t>∂E_total/∂w</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E"/>
                    </a:solidFill>
                  </a:tcPr>
                </a:tc>
                <a:tc>
                  <a:txBody>
                    <a:bodyPr/>
                    <a:lstStyle/>
                    <a:p>
                      <a:pPr algn="r" indent="0" marL="0">
                        <a:lnSpc>
                          <a:spcPts val="2240"/>
                        </a:lnSpc>
                        <a:buNone/>
                      </a:pPr>
                      <a:r>
                        <a:rPr lang="en-US" sz="1600" b="1" dirty="0">
                          <a:solidFill>
                            <a:srgbClr val="1B2A38"/>
                          </a:solidFill>
                          <a:latin typeface="Courier New" pitchFamily="34" charset="0"/>
                          <a:ea typeface="Courier New" pitchFamily="34" charset="-122"/>
                          <a:cs typeface="Courier New" pitchFamily="34" charset="-120"/>
                        </a:rPr>
                        <a:t>Old</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E"/>
                    </a:solidFill>
                  </a:tcPr>
                </a:tc>
                <a:tc>
                  <a:txBody>
                    <a:bodyPr/>
                    <a:lstStyle/>
                    <a:p>
                      <a:pPr algn="r" indent="0" marL="0">
                        <a:lnSpc>
                          <a:spcPts val="2240"/>
                        </a:lnSpc>
                        <a:buNone/>
                      </a:pPr>
                      <a:r>
                        <a:rPr lang="en-US" sz="1600" b="1" dirty="0">
                          <a:solidFill>
                            <a:srgbClr val="1B2A38"/>
                          </a:solidFill>
                          <a:latin typeface="Courier New" pitchFamily="34" charset="0"/>
                          <a:ea typeface="Courier New" pitchFamily="34" charset="-122"/>
                          <a:cs typeface="Courier New" pitchFamily="34" charset="-120"/>
                        </a:rPr>
                        <a:t>New</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E"/>
                    </a:solidFill>
                  </a:tcPr>
                </a:tc>
              </a:tr>
              <a:tr h="439341">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w1</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i1 → h1</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0.000438568</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0.15</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0.149780716</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341">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w2</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i2 → h1</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0.000877135</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0.20</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0.19956143</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341">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w3</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i1 → h2</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0.000497713</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0.25</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0.24975114</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341">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w4</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i2 → h2</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0.000995425</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0.30</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2240"/>
                        </a:lnSpc>
                        <a:buNone/>
                      </a:pPr>
                      <a:r>
                        <a:rPr lang="en-US" sz="1600" dirty="0">
                          <a:solidFill>
                            <a:srgbClr val="1B2A38"/>
                          </a:solidFill>
                          <a:latin typeface="Courier New" pitchFamily="34" charset="0"/>
                          <a:ea typeface="Courier New" pitchFamily="34" charset="-122"/>
                          <a:cs typeface="Courier New" pitchFamily="34" charset="-120"/>
                        </a:rPr>
                        <a:t>0.29950229</a:t>
                      </a:r>
                      <a:endParaRPr lang="en-US" sz="1600" dirty="0">
                        <a:latin typeface="Courier New" charset="0"/>
                        <a:ea typeface="Courier New" charset="0"/>
                        <a:cs typeface="Courier New"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Shape 2"/>
          <p:cNvSpPr/>
          <p:nvPr/>
        </p:nvSpPr>
        <p:spPr>
          <a:xfrm>
            <a:off x="815975" y="4290219"/>
            <a:ext cx="10560050" cy="1221184"/>
          </a:xfrm>
          <a:prstGeom prst="roundRect">
            <a:avLst>
              <a:gd name="adj" fmla="val 8060"/>
            </a:avLst>
          </a:prstGeom>
          <a:solidFill>
            <a:srgbClr val="FDFCF8"/>
          </a:solidFill>
          <a:ln w="6350">
            <a:solidFill>
              <a:srgbClr val="DAD5C8"/>
            </a:solidFill>
            <a:prstDash val="solid"/>
          </a:ln>
        </p:spPr>
      </p:sp>
      <p:sp>
        <p:nvSpPr>
          <p:cNvPr id="6" name="Text 3"/>
          <p:cNvSpPr/>
          <p:nvPr/>
        </p:nvSpPr>
        <p:spPr>
          <a:xfrm>
            <a:off x="1071033" y="4494479"/>
            <a:ext cx="10351432"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8"/>
                </a:solidFill>
                <a:latin typeface="Arial" pitchFamily="34" charset="0"/>
                <a:ea typeface="Arial" pitchFamily="34" charset="-122"/>
                <a:cs typeface="Arial" pitchFamily="34" charset="-120"/>
              </a:rPr>
              <a:t>Notice the size:</a:t>
            </a:r>
            <a:r>
              <a:rPr lang="en-US" sz="1600" dirty="0">
                <a:solidFill>
                  <a:srgbClr val="1B2A38"/>
                </a:solidFill>
                <a:latin typeface="Arial" pitchFamily="34" charset="0"/>
                <a:ea typeface="Arial" pitchFamily="34" charset="-122"/>
                <a:cs typeface="Arial" pitchFamily="34" charset="-120"/>
              </a:rPr>
              <a:t> these gradients are about 100× smaller than those for w5–w8.</a:t>
            </a:r>
            <a:endParaRPr lang="en-US" sz="1600" dirty="0"/>
          </a:p>
        </p:txBody>
      </p:sp>
      <p:sp>
        <p:nvSpPr>
          <p:cNvPr id="7" name="Text 4"/>
          <p:cNvSpPr/>
          <p:nvPr/>
        </p:nvSpPr>
        <p:spPr>
          <a:xfrm>
            <a:off x="1071033" y="4880508"/>
            <a:ext cx="1035143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Every layer we pass back through multiplies by a sigmoid slope of at most 0.25 (and here by small inputs too). This is an early glimpse of the vanishing-gradient problem in deep networks.</a:t>
            </a:r>
            <a:endParaRPr lang="en-US" sz="1200"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E78"/>
                </a:solidFill>
                <a:latin typeface="Arial" pitchFamily="34" charset="0"/>
                <a:ea typeface="Arial" pitchFamily="34" charset="-122"/>
                <a:cs typeface="Arial" pitchFamily="34" charset="-120"/>
              </a:rPr>
              <a:t>IT2011 · Backpropagation, step by step</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E78"/>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AE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501C"/>
                </a:solidFill>
                <a:latin typeface="Arial" pitchFamily="34" charset="0"/>
                <a:ea typeface="Arial" pitchFamily="34" charset="-122"/>
                <a:cs typeface="Arial" pitchFamily="34" charset="-120"/>
              </a:rPr>
              <a:t>STEP 4 · UPDATE AND REPEAT</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B2A38"/>
                </a:solidFill>
                <a:latin typeface="Georgia" pitchFamily="34" charset="0"/>
                <a:ea typeface="Georgia" pitchFamily="34" charset="-122"/>
                <a:cs typeface="Georgia" pitchFamily="34" charset="-120"/>
              </a:rPr>
              <a:t>Repeat, and the error melts away</a:t>
            </a:r>
            <a:endParaRPr lang="en-US" sz="3200" dirty="0"/>
          </a:p>
        </p:txBody>
      </p:sp>
      <p:sp>
        <p:nvSpPr>
          <p:cNvPr id="4" name="Text 2"/>
          <p:cNvSpPr/>
          <p:nvPr/>
        </p:nvSpPr>
        <p:spPr>
          <a:xfrm>
            <a:off x="812800" y="1823641"/>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Total error before training</a:t>
            </a:r>
            <a:endParaRPr lang="en-US" sz="1200" dirty="0"/>
          </a:p>
        </p:txBody>
      </p:sp>
      <p:sp>
        <p:nvSpPr>
          <p:cNvPr id="5" name="Text 3"/>
          <p:cNvSpPr/>
          <p:nvPr/>
        </p:nvSpPr>
        <p:spPr>
          <a:xfrm>
            <a:off x="812800" y="2062361"/>
            <a:ext cx="4185920"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A38"/>
                </a:solidFill>
                <a:latin typeface="Georgia" pitchFamily="34" charset="0"/>
                <a:ea typeface="Georgia" pitchFamily="34" charset="-122"/>
                <a:cs typeface="Georgia" pitchFamily="34" charset="-120"/>
              </a:rPr>
              <a:t>0.298371109</a:t>
            </a:r>
            <a:endParaRPr lang="en-US" sz="3200" dirty="0"/>
          </a:p>
        </p:txBody>
      </p:sp>
      <p:sp>
        <p:nvSpPr>
          <p:cNvPr id="6" name="Text 4"/>
          <p:cNvSpPr/>
          <p:nvPr/>
        </p:nvSpPr>
        <p:spPr>
          <a:xfrm>
            <a:off x="812800" y="2661779"/>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After 1 update</a:t>
            </a:r>
            <a:endParaRPr lang="en-US" sz="1200" dirty="0"/>
          </a:p>
        </p:txBody>
      </p:sp>
      <p:sp>
        <p:nvSpPr>
          <p:cNvPr id="7" name="Text 5"/>
          <p:cNvSpPr/>
          <p:nvPr/>
        </p:nvSpPr>
        <p:spPr>
          <a:xfrm>
            <a:off x="812800" y="2900499"/>
            <a:ext cx="4185920"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A38"/>
                </a:solidFill>
                <a:latin typeface="Georgia" pitchFamily="34" charset="0"/>
                <a:ea typeface="Georgia" pitchFamily="34" charset="-122"/>
                <a:cs typeface="Georgia" pitchFamily="34" charset="-120"/>
              </a:rPr>
              <a:t>≈ 0.29103</a:t>
            </a:r>
            <a:endParaRPr lang="en-US" sz="3200" dirty="0"/>
          </a:p>
        </p:txBody>
      </p:sp>
      <p:sp>
        <p:nvSpPr>
          <p:cNvPr id="8" name="Text 6"/>
          <p:cNvSpPr/>
          <p:nvPr/>
        </p:nvSpPr>
        <p:spPr>
          <a:xfrm>
            <a:off x="812800" y="3499910"/>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After 10,000 updates</a:t>
            </a:r>
            <a:endParaRPr lang="en-US" sz="1200" dirty="0"/>
          </a:p>
        </p:txBody>
      </p:sp>
      <p:sp>
        <p:nvSpPr>
          <p:cNvPr id="9" name="Text 7"/>
          <p:cNvSpPr/>
          <p:nvPr/>
        </p:nvSpPr>
        <p:spPr>
          <a:xfrm>
            <a:off x="812800" y="3738631"/>
            <a:ext cx="4185920"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8501C"/>
                </a:solidFill>
                <a:latin typeface="Georgia" pitchFamily="34" charset="0"/>
                <a:ea typeface="Georgia" pitchFamily="34" charset="-122"/>
                <a:cs typeface="Georgia" pitchFamily="34" charset="-120"/>
              </a:rPr>
              <a:t>≈ 0.000035</a:t>
            </a:r>
            <a:endParaRPr lang="en-US" sz="3200" dirty="0"/>
          </a:p>
        </p:txBody>
      </p:sp>
      <p:sp>
        <p:nvSpPr>
          <p:cNvPr id="10" name="Text 8"/>
          <p:cNvSpPr/>
          <p:nvPr/>
        </p:nvSpPr>
        <p:spPr>
          <a:xfrm>
            <a:off x="812800" y="4338042"/>
            <a:ext cx="41859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Outputs ≈ 0.0159 and 0.9841, against targets 0.01 and 0.99.</a:t>
            </a:r>
            <a:endParaRPr lang="en-US" sz="1200" dirty="0"/>
          </a:p>
        </p:txBody>
      </p:sp>
      <p:sp>
        <p:nvSpPr>
          <p:cNvPr id="11" name="Shape 9"/>
          <p:cNvSpPr/>
          <p:nvPr/>
        </p:nvSpPr>
        <p:spPr>
          <a:xfrm>
            <a:off x="5181600" y="1823641"/>
            <a:ext cx="6197600" cy="2941042"/>
          </a:xfrm>
          <a:prstGeom prst="roundRect">
            <a:avLst>
              <a:gd name="adj" fmla="val 3455"/>
            </a:avLst>
          </a:prstGeom>
          <a:solidFill>
            <a:srgbClr val="1B2A38"/>
          </a:solidFill>
          <a:ln/>
        </p:spPr>
      </p:sp>
      <p:sp>
        <p:nvSpPr>
          <p:cNvPr id="12" name="Text 10"/>
          <p:cNvSpPr/>
          <p:nvPr/>
        </p:nvSpPr>
        <p:spPr>
          <a:xfrm>
            <a:off x="5486400" y="2077641"/>
            <a:ext cx="57556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0A36B"/>
                </a:solidFill>
                <a:latin typeface="Georgia" pitchFamily="34" charset="0"/>
                <a:ea typeface="Georgia" pitchFamily="34" charset="-122"/>
                <a:cs typeface="Georgia" pitchFamily="34" charset="-120"/>
              </a:rPr>
              <a:t>The recipe</a:t>
            </a:r>
            <a:endParaRPr lang="en-US" sz="2000" dirty="0"/>
          </a:p>
        </p:txBody>
      </p:sp>
      <p:sp>
        <p:nvSpPr>
          <p:cNvPr id="13" name="Text 11"/>
          <p:cNvSpPr/>
          <p:nvPr/>
        </p:nvSpPr>
        <p:spPr>
          <a:xfrm>
            <a:off x="5486400" y="2509441"/>
            <a:ext cx="5755640" cy="1325827"/>
          </a:xfrm>
          <a:prstGeom prst="rect">
            <a:avLst/>
          </a:prstGeom>
          <a:noFill/>
          <a:ln/>
        </p:spPr>
        <p:txBody>
          <a:bodyPr wrap="square" lIns="0" tIns="0" rIns="0" bIns="0" rtlCol="0" anchor="t">
            <a:normAutofit/>
          </a:bodyPr>
          <a:lstStyle/>
          <a:p>
            <a:pPr algn="l" marL="243840" indent="-243840">
              <a:lnSpc>
                <a:spcPts val="2560"/>
              </a:lnSpc>
              <a:buSzPct val="100000"/>
              <a:buFontTx/>
              <a:buAutoNum type="arabicPeriod" startAt="1"/>
            </a:pPr>
            <a:r>
              <a:rPr lang="en-US" sz="1600" dirty="0">
                <a:solidFill>
                  <a:srgbClr val="F6F4EE"/>
                </a:solidFill>
                <a:latin typeface="Arial" pitchFamily="34" charset="0"/>
                <a:ea typeface="Arial" pitchFamily="34" charset="-122"/>
                <a:cs typeface="Arial" pitchFamily="34" charset="-120"/>
              </a:rPr>
              <a:t>Forward: compute net and out for every neuron</a:t>
            </a:r>
            <a:endParaRPr lang="en-US" sz="1600" dirty="0"/>
          </a:p>
          <a:p>
            <a:pPr algn="l" marL="243840" indent="-243840">
              <a:lnSpc>
                <a:spcPts val="2560"/>
              </a:lnSpc>
              <a:buSzPct val="100000"/>
              <a:buFontTx/>
              <a:buAutoNum type="arabicPeriod" startAt="1"/>
            </a:pPr>
            <a:r>
              <a:rPr lang="en-US" sz="1600" dirty="0">
                <a:solidFill>
                  <a:srgbClr val="F6F4EE"/>
                </a:solidFill>
                <a:latin typeface="Arial" pitchFamily="34" charset="0"/>
                <a:ea typeface="Arial" pitchFamily="34" charset="-122"/>
                <a:cs typeface="Arial" pitchFamily="34" charset="-120"/>
              </a:rPr>
              <a:t>Error: E_total = Σ ½(target − out)²</a:t>
            </a:r>
            <a:endParaRPr lang="en-US" sz="1600" dirty="0"/>
          </a:p>
          <a:p>
            <a:pPr algn="l" marL="243840" indent="-243840">
              <a:lnSpc>
                <a:spcPts val="2560"/>
              </a:lnSpc>
              <a:buSzPct val="100000"/>
              <a:buFontTx/>
              <a:buAutoNum type="arabicPeriod" startAt="1"/>
            </a:pPr>
            <a:r>
              <a:rPr lang="en-US" sz="1600" dirty="0">
                <a:solidFill>
                  <a:srgbClr val="F6F4EE"/>
                </a:solidFill>
                <a:latin typeface="Arial" pitchFamily="34" charset="0"/>
                <a:ea typeface="Arial" pitchFamily="34" charset="-122"/>
                <a:cs typeface="Arial" pitchFamily="34" charset="-120"/>
              </a:rPr>
              <a:t>Backward: chain rule gives ∂E/∂w, reusing each δ</a:t>
            </a:r>
            <a:endParaRPr lang="en-US" sz="1600" dirty="0"/>
          </a:p>
          <a:p>
            <a:pPr algn="l" marL="243840" indent="-243840">
              <a:lnSpc>
                <a:spcPts val="2560"/>
              </a:lnSpc>
              <a:buSzPct val="100000"/>
              <a:buFontTx/>
              <a:buAutoNum type="arabicPeriod" startAt="1"/>
            </a:pPr>
            <a:r>
              <a:rPr lang="en-US" sz="1600" dirty="0">
                <a:solidFill>
                  <a:srgbClr val="F6F4EE"/>
                </a:solidFill>
                <a:latin typeface="Arial" pitchFamily="34" charset="0"/>
                <a:ea typeface="Arial" pitchFamily="34" charset="-122"/>
                <a:cs typeface="Arial" pitchFamily="34" charset="-120"/>
              </a:rPr>
              <a:t>Update all weights at once: w ← w − η·∂E/∂w</a:t>
            </a:r>
            <a:endParaRPr lang="en-US" sz="1600" dirty="0"/>
          </a:p>
        </p:txBody>
      </p:sp>
      <p:sp>
        <p:nvSpPr>
          <p:cNvPr id="14" name="Text 12"/>
          <p:cNvSpPr/>
          <p:nvPr/>
        </p:nvSpPr>
        <p:spPr>
          <a:xfrm>
            <a:off x="812800" y="5018683"/>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Simplification: as in the original tutorial, the biases b1 and b2 stay fixed in this example. In practice they are learned too.</a:t>
            </a:r>
            <a:endParaRPr lang="en-US" sz="12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E78"/>
                </a:solidFill>
                <a:latin typeface="Arial" pitchFamily="34" charset="0"/>
                <a:ea typeface="Arial" pitchFamily="34" charset="-122"/>
                <a:cs typeface="Arial" pitchFamily="34" charset="-120"/>
              </a:rPr>
              <a:t>IT2011 · Backpropagation, step by step · Example after M. Mazur (2015)</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E78"/>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Backpropagation Step by Step</dc:title>
  <dc:subject>PptxGenJS Presentation</dc:subject>
  <dc:creator>PptxGenJS</dc:creator>
  <cp:lastModifiedBy>PptxGenJS</cp:lastModifiedBy>
  <cp:revision>1</cp:revision>
  <dcterms:created xsi:type="dcterms:W3CDTF">2026-09-28T03:09:48Z</dcterms:created>
  <dcterms:modified xsi:type="dcterms:W3CDTF">2026-09-28T03:09:48Z</dcterms:modified>
</cp:coreProperties>
</file>