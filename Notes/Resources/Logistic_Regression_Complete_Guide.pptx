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4" name="Shape 2"/>
          <p:cNvSpPr/>
          <p:nvPr/>
        </p:nvSpPr>
        <p:spPr>
          <a:xfrm>
            <a:off x="173736" y="0"/>
            <a:ext cx="118872" cy="514350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5" name="Shape 3"/>
          <p:cNvSpPr/>
          <p:nvPr/>
        </p:nvSpPr>
        <p:spPr>
          <a:xfrm>
            <a:off x="347472" y="0"/>
            <a:ext cx="118872" cy="514350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974336"/>
            <a:ext cx="9144000" cy="0"/>
          </a:xfrm>
          <a:prstGeom prst="line">
            <a:avLst/>
          </a:prstGeom>
          <a:noFill/>
          <a:ln w="50800">
            <a:solidFill>
              <a:srgbClr val="F5A8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91440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5A8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Complete Walkthrough with Simple Examples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6576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 — Binary Classification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0584" cy="514350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4" name="Shape 2"/>
          <p:cNvSpPr/>
          <p:nvPr/>
        </p:nvSpPr>
        <p:spPr>
          <a:xfrm>
            <a:off x="155448" y="0"/>
            <a:ext cx="100584" cy="514350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5" name="Shape 3"/>
          <p:cNvSpPr/>
          <p:nvPr/>
        </p:nvSpPr>
        <p:spPr>
          <a:xfrm>
            <a:off x="310896" y="0"/>
            <a:ext cx="100584" cy="514350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974336"/>
            <a:ext cx="9144000" cy="0"/>
          </a:xfrm>
          <a:prstGeom prst="line">
            <a:avLst/>
          </a:prstGeom>
          <a:noFill/>
          <a:ln w="50800">
            <a:solidFill>
              <a:srgbClr val="F5A8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37160"/>
            <a:ext cx="8458200" cy="86868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4592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A2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Why Can't We Use Linear Regression for Classification?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02920" y="1133856"/>
            <a:ext cx="2468880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13385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1536192"/>
            <a:ext cx="3977640" cy="2286000"/>
          </a:xfrm>
          <a:prstGeom prst="rect">
            <a:avLst/>
          </a:prstGeom>
          <a:solidFill>
            <a:srgbClr val="FFF5F5"/>
          </a:solidFill>
          <a:ln w="12700">
            <a:solidFill>
              <a:srgbClr val="F1A9A0"/>
            </a:solidFill>
            <a:prstDash val="solid"/>
          </a:ln>
          <a:effectLst>
            <a:outerShdw sx="100000" sy="100000" kx="0" ky="0" algn="bl" rotWithShape="0" blurRad="38100" dist="12700" dir="2700000">
              <a:srgbClr val="CCCCCC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1536192"/>
            <a:ext cx="3977640" cy="40233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536192"/>
            <a:ext cx="3794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Linear Regression Output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8368" y="2029968"/>
            <a:ext cx="3657600" cy="1700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continuous values: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 = β₀ + β₁x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give results like: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ŷ = −0.3  (below 0!)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ŷ = 1.4   (above 1!)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make no sense as probabilities.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probability MUST be between 0 and 1.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54880" y="1536192"/>
            <a:ext cx="3977640" cy="2286000"/>
          </a:xfrm>
          <a:prstGeom prst="rect">
            <a:avLst/>
          </a:prstGeom>
          <a:solidFill>
            <a:srgbClr val="F0FFF4"/>
          </a:solidFill>
          <a:ln w="12700">
            <a:solidFill>
              <a:srgbClr val="A9DFBF"/>
            </a:solidFill>
            <a:prstDash val="solid"/>
          </a:ln>
          <a:effectLst>
            <a:outerShdw sx="100000" sy="100000" kx="0" ky="0" algn="bl" rotWithShape="0" blurRad="38100" dist="12700" dir="2700000">
              <a:srgbClr val="CCCCCC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536192"/>
            <a:ext cx="3977640" cy="402336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536192"/>
            <a:ext cx="3794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Logistic Regression Output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10328" y="2029968"/>
            <a:ext cx="3657600" cy="1700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 PROBABILITY (0 to 1):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σ(β₀ + β₁x)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Sigmoid function: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Squashes any value into 0–1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 = 0.82 means 82% chance of class 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 = 0.15 means 15% chance of class 1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apply a threshold (usually 0.5).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3950208"/>
            <a:ext cx="8229600" cy="530352"/>
          </a:xfrm>
          <a:prstGeom prst="rect">
            <a:avLst/>
          </a:prstGeom>
          <a:solidFill>
            <a:srgbClr val="FFF8E1"/>
          </a:solidFill>
          <a:ln w="12700">
            <a:solidFill>
              <a:srgbClr val="F5A800"/>
            </a:solidFill>
            <a:prstDash val="solid"/>
          </a:ln>
          <a:effectLst>
            <a:outerShdw sx="100000" sy="100000" kx="0" ky="0" algn="bl" rotWithShape="0" blurRad="38100" dist="12700" dir="2700000">
              <a:srgbClr val="CCCCCC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8368" y="400507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Simple Rule: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148840" y="4005072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a NUMBER → use Linear Regression.     Predicting a CATEGORY (Yes/No) → use Logistic Regression.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0584" cy="514350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4" name="Shape 2"/>
          <p:cNvSpPr/>
          <p:nvPr/>
        </p:nvSpPr>
        <p:spPr>
          <a:xfrm>
            <a:off x="155448" y="0"/>
            <a:ext cx="100584" cy="514350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5" name="Shape 3"/>
          <p:cNvSpPr/>
          <p:nvPr/>
        </p:nvSpPr>
        <p:spPr>
          <a:xfrm>
            <a:off x="310896" y="0"/>
            <a:ext cx="100584" cy="514350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974336"/>
            <a:ext cx="9144000" cy="0"/>
          </a:xfrm>
          <a:prstGeom prst="line">
            <a:avLst/>
          </a:prstGeom>
          <a:noFill/>
          <a:ln w="50800">
            <a:solidFill>
              <a:srgbClr val="F5A8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37160"/>
            <a:ext cx="8458200" cy="86868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4592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A2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Sigmoid Function — The Heart of Logistic Regression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02920" y="1133856"/>
            <a:ext cx="2468880" cy="292608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13385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371600" y="1536192"/>
            <a:ext cx="6400800" cy="713232"/>
          </a:xfrm>
          <a:prstGeom prst="rect">
            <a:avLst/>
          </a:prstGeom>
          <a:solidFill>
            <a:srgbClr val="FFF8E1"/>
          </a:solidFill>
          <a:ln w="12700">
            <a:solidFill>
              <a:srgbClr val="F5A800"/>
            </a:solidFill>
            <a:prstDash val="solid"/>
          </a:ln>
          <a:effectLst>
            <a:outerShdw sx="100000" sy="100000" kx="0" ky="0" algn="bl" rotWithShape="0" blurRad="38100" dist="12700" dir="2700000">
              <a:srgbClr val="CCCCCC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554480" y="1591056"/>
            <a:ext cx="6035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1A1A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σ(z) = 1 / (1 + e⁻ᶻ)       where  z = β₀ + β₁x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02920" y="2395728"/>
            <a:ext cx="4069080" cy="804672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  <a:effectLst>
            <a:outerShdw sx="100000" sy="100000" kx="0" ky="0" algn="bl" rotWithShape="0" blurRad="38100" dist="12700" dir="2700000">
              <a:srgbClr val="CCCCCC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2395728"/>
            <a:ext cx="4069080" cy="8229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50545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always between 0 and 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279806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65A8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0 &lt; σ(z) &lt; 1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18888" y="2395728"/>
            <a:ext cx="4069080" cy="804672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  <a:effectLst>
            <a:outerShdw sx="100000" sy="100000" kx="0" ky="0" algn="bl" rotWithShape="0" blurRad="38100" dist="12700" dir="2700000">
              <a:srgbClr val="CCCCCC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18888" y="2395728"/>
            <a:ext cx="4069080" cy="82296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56048" y="250545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z = 0 (decision boundary)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56048" y="279806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348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σ(0) = 0.5  →  50/50 chance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3328416"/>
            <a:ext cx="4069080" cy="804672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  <a:effectLst>
            <a:outerShdw sx="100000" sy="100000" kx="0" ky="0" algn="bl" rotWithShape="0" blurRad="38100" dist="12700" dir="2700000">
              <a:srgbClr val="CCCCCC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2920" y="3328416"/>
            <a:ext cx="4069080" cy="82296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43814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z → +∞ (very positive)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373075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6B3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σ(z) → 1  →  Predict Class 1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18888" y="3328416"/>
            <a:ext cx="4069080" cy="804672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  <a:effectLst>
            <a:outerShdw sx="100000" sy="100000" kx="0" ky="0" algn="bl" rotWithShape="0" blurRad="38100" dist="12700" dir="2700000">
              <a:srgbClr val="CCCCCC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18888" y="3328416"/>
            <a:ext cx="4069080" cy="8229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56048" y="343814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z → −∞ (very negative)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56048" y="373075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039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σ(z) → 0  →  Predict Class 0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2920" y="4370832"/>
            <a:ext cx="8229600" cy="475488"/>
          </a:xfrm>
          <a:prstGeom prst="rect">
            <a:avLst/>
          </a:prstGeom>
          <a:solidFill>
            <a:srgbClr val="E8F4F8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38100" dist="12700" dir="2700000">
              <a:srgbClr val="CCCCCC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58368" y="4425696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Sigmoid takes ANY number (−∞ to +∞) and compresses it into a probability between 0 and 1. This is what makes logistic regression work for classification.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0584" cy="514350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4" name="Shape 2"/>
          <p:cNvSpPr/>
          <p:nvPr/>
        </p:nvSpPr>
        <p:spPr>
          <a:xfrm>
            <a:off x="155448" y="0"/>
            <a:ext cx="100584" cy="514350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5" name="Shape 3"/>
          <p:cNvSpPr/>
          <p:nvPr/>
        </p:nvSpPr>
        <p:spPr>
          <a:xfrm>
            <a:off x="310896" y="0"/>
            <a:ext cx="100584" cy="514350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974336"/>
            <a:ext cx="9144000" cy="0"/>
          </a:xfrm>
          <a:prstGeom prst="line">
            <a:avLst/>
          </a:prstGeom>
          <a:noFill/>
          <a:ln w="50800">
            <a:solidFill>
              <a:srgbClr val="F5A8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37160"/>
            <a:ext cx="8458200" cy="86868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4592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A2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Example — Spam Email Detection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02920" y="1133856"/>
            <a:ext cx="2468880" cy="292608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13385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SCENARIO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1536192"/>
            <a:ext cx="8229600" cy="749808"/>
          </a:xfrm>
          <a:prstGeom prst="rect">
            <a:avLst/>
          </a:prstGeom>
          <a:solidFill>
            <a:srgbClr val="FFF8E1"/>
          </a:solidFill>
          <a:ln w="12700">
            <a:solidFill>
              <a:srgbClr val="F5A800"/>
            </a:solidFill>
            <a:prstDash val="solid"/>
          </a:ln>
          <a:effectLst>
            <a:outerShdw sx="100000" sy="100000" kx="0" ky="0" algn="bl" rotWithShape="0" blurRad="38100" dist="12700" dir="2700000">
              <a:srgbClr val="CCCCCC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1591056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An email provider wants to classify emails as Spam (1) or Not Spam (0).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193852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feature: number of suspicious words found in the email. They have 8 labelled examples.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2395728"/>
            <a:ext cx="640080" cy="310896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395728"/>
            <a:ext cx="5852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170432" y="2395728"/>
            <a:ext cx="2011680" cy="310896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97864" y="2395728"/>
            <a:ext cx="19568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Words (x)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9544" y="2395728"/>
            <a:ext cx="1188720" cy="310896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36976" y="2395728"/>
            <a:ext cx="11338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Spam? (y)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425696" y="2395728"/>
            <a:ext cx="1371600" cy="310896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53128" y="2395728"/>
            <a:ext cx="13167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" y="2706624"/>
            <a:ext cx="640080" cy="246888"/>
          </a:xfrm>
          <a:prstGeom prst="rect">
            <a:avLst/>
          </a:prstGeom>
          <a:solidFill>
            <a:srgbClr val="F0FFF4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2706624"/>
            <a:ext cx="58521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170432" y="2706624"/>
            <a:ext cx="2011680" cy="246888"/>
          </a:xfrm>
          <a:prstGeom prst="rect">
            <a:avLst/>
          </a:prstGeom>
          <a:solidFill>
            <a:srgbClr val="F0FFF4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97864" y="2706624"/>
            <a:ext cx="195681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9544" y="2706624"/>
            <a:ext cx="1188720" cy="246888"/>
          </a:xfrm>
          <a:prstGeom prst="rect">
            <a:avLst/>
          </a:prstGeom>
          <a:solidFill>
            <a:srgbClr val="F0FFF4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36976" y="2706624"/>
            <a:ext cx="113385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425696" y="2706624"/>
            <a:ext cx="1371600" cy="246888"/>
          </a:xfrm>
          <a:prstGeom prst="rect">
            <a:avLst/>
          </a:prstGeom>
          <a:solidFill>
            <a:srgbClr val="F0FFF4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53128" y="2706624"/>
            <a:ext cx="131673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Spam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02920" y="2953512"/>
            <a:ext cx="640080" cy="246888"/>
          </a:xfrm>
          <a:prstGeom prst="rect">
            <a:avLst/>
          </a:prstGeom>
          <a:solidFill>
            <a:srgbClr val="F0FFF4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" y="2953512"/>
            <a:ext cx="58521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1170432" y="2953512"/>
            <a:ext cx="2011680" cy="246888"/>
          </a:xfrm>
          <a:prstGeom prst="rect">
            <a:avLst/>
          </a:prstGeom>
          <a:solidFill>
            <a:srgbClr val="F0FFF4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97864" y="2953512"/>
            <a:ext cx="195681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09544" y="2953512"/>
            <a:ext cx="1188720" cy="246888"/>
          </a:xfrm>
          <a:prstGeom prst="rect">
            <a:avLst/>
          </a:prstGeom>
          <a:solidFill>
            <a:srgbClr val="F0FFF4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36976" y="2953512"/>
            <a:ext cx="113385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425696" y="2953512"/>
            <a:ext cx="1371600" cy="246888"/>
          </a:xfrm>
          <a:prstGeom prst="rect">
            <a:avLst/>
          </a:prstGeom>
          <a:solidFill>
            <a:srgbClr val="F0FFF4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53128" y="2953512"/>
            <a:ext cx="131673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Spam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02920" y="3200400"/>
            <a:ext cx="640080" cy="246888"/>
          </a:xfrm>
          <a:prstGeom prst="rect">
            <a:avLst/>
          </a:prstGeom>
          <a:solidFill>
            <a:srgbClr val="F0FFF4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0352" y="3200400"/>
            <a:ext cx="58521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1170432" y="3200400"/>
            <a:ext cx="2011680" cy="246888"/>
          </a:xfrm>
          <a:prstGeom prst="rect">
            <a:avLst/>
          </a:prstGeom>
          <a:solidFill>
            <a:srgbClr val="F0FFF4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97864" y="3200400"/>
            <a:ext cx="195681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209544" y="3200400"/>
            <a:ext cx="1188720" cy="246888"/>
          </a:xfrm>
          <a:prstGeom prst="rect">
            <a:avLst/>
          </a:prstGeom>
          <a:solidFill>
            <a:srgbClr val="F0FFF4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36976" y="3200400"/>
            <a:ext cx="113385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425696" y="3200400"/>
            <a:ext cx="1371600" cy="246888"/>
          </a:xfrm>
          <a:prstGeom prst="rect">
            <a:avLst/>
          </a:prstGeom>
          <a:solidFill>
            <a:srgbClr val="F0FFF4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453128" y="3200400"/>
            <a:ext cx="131673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Spam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02920" y="3447288"/>
            <a:ext cx="640080" cy="246888"/>
          </a:xfrm>
          <a:prstGeom prst="rect">
            <a:avLst/>
          </a:prstGeom>
          <a:solidFill>
            <a:srgbClr val="FFF0F0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30352" y="3447288"/>
            <a:ext cx="58521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1170432" y="3447288"/>
            <a:ext cx="2011680" cy="246888"/>
          </a:xfrm>
          <a:prstGeom prst="rect">
            <a:avLst/>
          </a:prstGeom>
          <a:solidFill>
            <a:srgbClr val="FFF0F0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197864" y="3447288"/>
            <a:ext cx="195681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209544" y="3447288"/>
            <a:ext cx="1188720" cy="246888"/>
          </a:xfrm>
          <a:prstGeom prst="rect">
            <a:avLst/>
          </a:prstGeom>
          <a:solidFill>
            <a:srgbClr val="FFF0F0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36976" y="3447288"/>
            <a:ext cx="113385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425696" y="3447288"/>
            <a:ext cx="1371600" cy="246888"/>
          </a:xfrm>
          <a:prstGeom prst="rect">
            <a:avLst/>
          </a:prstGeom>
          <a:solidFill>
            <a:srgbClr val="FFF0F0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453128" y="3447288"/>
            <a:ext cx="131673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502920" y="3694176"/>
            <a:ext cx="640080" cy="246888"/>
          </a:xfrm>
          <a:prstGeom prst="rect">
            <a:avLst/>
          </a:prstGeom>
          <a:solidFill>
            <a:srgbClr val="FFF0F0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30352" y="3694176"/>
            <a:ext cx="58521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1170432" y="3694176"/>
            <a:ext cx="2011680" cy="246888"/>
          </a:xfrm>
          <a:prstGeom prst="rect">
            <a:avLst/>
          </a:prstGeom>
          <a:solidFill>
            <a:srgbClr val="FFF0F0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197864" y="3694176"/>
            <a:ext cx="195681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3209544" y="3694176"/>
            <a:ext cx="1188720" cy="246888"/>
          </a:xfrm>
          <a:prstGeom prst="rect">
            <a:avLst/>
          </a:prstGeom>
          <a:solidFill>
            <a:srgbClr val="FFF0F0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236976" y="3694176"/>
            <a:ext cx="113385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4425696" y="3694176"/>
            <a:ext cx="1371600" cy="246888"/>
          </a:xfrm>
          <a:prstGeom prst="rect">
            <a:avLst/>
          </a:prstGeom>
          <a:solidFill>
            <a:srgbClr val="FFF0F0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453128" y="3694176"/>
            <a:ext cx="131673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502920" y="3941064"/>
            <a:ext cx="640080" cy="246888"/>
          </a:xfrm>
          <a:prstGeom prst="rect">
            <a:avLst/>
          </a:prstGeom>
          <a:solidFill>
            <a:srgbClr val="FFF0F0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30352" y="3941064"/>
            <a:ext cx="58521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1170432" y="3941064"/>
            <a:ext cx="2011680" cy="246888"/>
          </a:xfrm>
          <a:prstGeom prst="rect">
            <a:avLst/>
          </a:prstGeom>
          <a:solidFill>
            <a:srgbClr val="FFF0F0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197864" y="3941064"/>
            <a:ext cx="195681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3209544" y="3941064"/>
            <a:ext cx="1188720" cy="246888"/>
          </a:xfrm>
          <a:prstGeom prst="rect">
            <a:avLst/>
          </a:prstGeom>
          <a:solidFill>
            <a:srgbClr val="FFF0F0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236976" y="3941064"/>
            <a:ext cx="113385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4425696" y="3941064"/>
            <a:ext cx="1371600" cy="246888"/>
          </a:xfrm>
          <a:prstGeom prst="rect">
            <a:avLst/>
          </a:prstGeom>
          <a:solidFill>
            <a:srgbClr val="FFF0F0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453128" y="3941064"/>
            <a:ext cx="131673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502920" y="4187952"/>
            <a:ext cx="640080" cy="246888"/>
          </a:xfrm>
          <a:prstGeom prst="rect">
            <a:avLst/>
          </a:prstGeom>
          <a:solidFill>
            <a:srgbClr val="FFF0F0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30352" y="4187952"/>
            <a:ext cx="58521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1170432" y="4187952"/>
            <a:ext cx="2011680" cy="246888"/>
          </a:xfrm>
          <a:prstGeom prst="rect">
            <a:avLst/>
          </a:prstGeom>
          <a:solidFill>
            <a:srgbClr val="FFF0F0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197864" y="4187952"/>
            <a:ext cx="195681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3209544" y="4187952"/>
            <a:ext cx="1188720" cy="246888"/>
          </a:xfrm>
          <a:prstGeom prst="rect">
            <a:avLst/>
          </a:prstGeom>
          <a:solidFill>
            <a:srgbClr val="FFF0F0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236976" y="4187952"/>
            <a:ext cx="113385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4425696" y="4187952"/>
            <a:ext cx="1371600" cy="246888"/>
          </a:xfrm>
          <a:prstGeom prst="rect">
            <a:avLst/>
          </a:prstGeom>
          <a:solidFill>
            <a:srgbClr val="FFF0F0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453128" y="4187952"/>
            <a:ext cx="131673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502920" y="4434840"/>
            <a:ext cx="640080" cy="246888"/>
          </a:xfrm>
          <a:prstGeom prst="rect">
            <a:avLst/>
          </a:prstGeom>
          <a:solidFill>
            <a:srgbClr val="F0FFF4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30352" y="4434840"/>
            <a:ext cx="58521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1170432" y="4434840"/>
            <a:ext cx="2011680" cy="246888"/>
          </a:xfrm>
          <a:prstGeom prst="rect">
            <a:avLst/>
          </a:prstGeom>
          <a:solidFill>
            <a:srgbClr val="F0FFF4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197864" y="4434840"/>
            <a:ext cx="195681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3209544" y="4434840"/>
            <a:ext cx="1188720" cy="246888"/>
          </a:xfrm>
          <a:prstGeom prst="rect">
            <a:avLst/>
          </a:prstGeom>
          <a:solidFill>
            <a:srgbClr val="F0FFF4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236976" y="4434840"/>
            <a:ext cx="113385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4425696" y="4434840"/>
            <a:ext cx="1371600" cy="246888"/>
          </a:xfrm>
          <a:prstGeom prst="rect">
            <a:avLst/>
          </a:prstGeom>
          <a:solidFill>
            <a:srgbClr val="F0FFF4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453128" y="4434840"/>
            <a:ext cx="131673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Spam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5943600" y="2395728"/>
            <a:ext cx="2834640" cy="2450592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  <a:effectLst>
            <a:outerShdw sx="100000" sy="100000" kx="0" ky="0" algn="bl" rotWithShape="0" blurRad="38100" dist="12700" dir="2700000">
              <a:srgbClr val="CCCCCC">
                <a:alpha val="30000"/>
              </a:srgbClr>
            </a:outerShdw>
          </a:effectLst>
        </p:spPr>
      </p:sp>
      <p:sp>
        <p:nvSpPr>
          <p:cNvPr id="87" name="Shape 85"/>
          <p:cNvSpPr/>
          <p:nvPr/>
        </p:nvSpPr>
        <p:spPr>
          <a:xfrm>
            <a:off x="5943600" y="2395728"/>
            <a:ext cx="2834640" cy="82296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080760" y="250545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Observations:</a:t>
            </a:r>
            <a:endParaRPr lang="en-US" sz="1100" dirty="0"/>
          </a:p>
        </p:txBody>
      </p:sp>
      <p:sp>
        <p:nvSpPr>
          <p:cNvPr id="89" name="Text 87"/>
          <p:cNvSpPr/>
          <p:nvPr/>
        </p:nvSpPr>
        <p:spPr>
          <a:xfrm>
            <a:off x="6080760" y="28346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Output is binary: 0 or 1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6080760" y="327355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More suspicious words → more likely spam</a:t>
            </a:r>
            <a:endParaRPr lang="en-US" sz="1000" dirty="0"/>
          </a:p>
        </p:txBody>
      </p:sp>
      <p:sp>
        <p:nvSpPr>
          <p:cNvPr id="91" name="Text 89"/>
          <p:cNvSpPr/>
          <p:nvPr/>
        </p:nvSpPr>
        <p:spPr>
          <a:xfrm>
            <a:off x="6080760" y="371246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Need probability, not a number</a:t>
            </a:r>
            <a:endParaRPr lang="en-US" sz="1000" dirty="0"/>
          </a:p>
        </p:txBody>
      </p:sp>
      <p:sp>
        <p:nvSpPr>
          <p:cNvPr id="92" name="Text 90"/>
          <p:cNvSpPr/>
          <p:nvPr/>
        </p:nvSpPr>
        <p:spPr>
          <a:xfrm>
            <a:off x="6080760" y="4151376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→ Use Sigmoid function!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0584" cy="514350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4" name="Shape 2"/>
          <p:cNvSpPr/>
          <p:nvPr/>
        </p:nvSpPr>
        <p:spPr>
          <a:xfrm>
            <a:off x="155448" y="0"/>
            <a:ext cx="100584" cy="514350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5" name="Shape 3"/>
          <p:cNvSpPr/>
          <p:nvPr/>
        </p:nvSpPr>
        <p:spPr>
          <a:xfrm>
            <a:off x="310896" y="0"/>
            <a:ext cx="100584" cy="514350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974336"/>
            <a:ext cx="9144000" cy="0"/>
          </a:xfrm>
          <a:prstGeom prst="line">
            <a:avLst/>
          </a:prstGeom>
          <a:noFill/>
          <a:ln w="50800">
            <a:solidFill>
              <a:srgbClr val="F5A8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37160"/>
            <a:ext cx="8458200" cy="86868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4592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A2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Step-by-Step — How Logistic Regression Predicts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02920" y="1133856"/>
            <a:ext cx="2468880" cy="292608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13385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4-STEP PROCESS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1536192"/>
            <a:ext cx="8229600" cy="566928"/>
          </a:xfrm>
          <a:prstGeom prst="rect">
            <a:avLst/>
          </a:prstGeom>
          <a:solidFill>
            <a:srgbClr val="FFF8E1"/>
          </a:solidFill>
          <a:ln w="12700">
            <a:solidFill>
              <a:srgbClr val="F5A800"/>
            </a:solidFill>
            <a:prstDash val="solid"/>
          </a:ln>
          <a:effectLst>
            <a:outerShdw sx="100000" sy="100000" kx="0" ky="0" algn="bl" rotWithShape="0" blurRad="38100" dist="12700" dir="2700000">
              <a:srgbClr val="CCCCCC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1591056"/>
            <a:ext cx="7863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 the model learned:    β₀ = −4    β₁ = 1.0    (found by maximising likelihood, not OLS)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2212848"/>
            <a:ext cx="2029968" cy="1536192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  <a:effectLst>
            <a:outerShdw sx="100000" sy="100000" kx="0" ky="0" algn="bl" rotWithShape="0" blurRad="38100" dist="12700" dir="2700000">
              <a:srgbClr val="CCCCCC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2212848"/>
            <a:ext cx="2029968" cy="914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35024" y="2340864"/>
            <a:ext cx="365760" cy="3657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35024" y="23408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" y="2761488"/>
            <a:ext cx="18470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z (linear part)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94360" y="3090672"/>
            <a:ext cx="18470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β₀ + β₁x = −4 + 1.0 × x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532888" y="2834640"/>
            <a:ext cx="146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2679192" y="2212848"/>
            <a:ext cx="2029968" cy="1536192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  <a:effectLst>
            <a:outerShdw sx="100000" sy="100000" kx="0" ky="0" algn="bl" rotWithShape="0" blurRad="38100" dist="12700" dir="2700000">
              <a:srgbClr val="CCCCCC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679192" y="2212848"/>
            <a:ext cx="2029968" cy="9144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11296" y="2340864"/>
            <a:ext cx="365760" cy="365760"/>
          </a:xfrm>
          <a:prstGeom prst="ellipse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11296" y="23408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770632" y="2761488"/>
            <a:ext cx="18470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Sigmoid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770632" y="3090672"/>
            <a:ext cx="18470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1 / (1 + e⁻ᶻ)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09160" y="2834640"/>
            <a:ext cx="146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4855464" y="2212848"/>
            <a:ext cx="2029968" cy="1536192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  <a:effectLst>
            <a:outerShdw sx="100000" sy="100000" kx="0" ky="0" algn="bl" rotWithShape="0" blurRad="38100" dist="12700" dir="2700000">
              <a:srgbClr val="CCCCCC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55464" y="2212848"/>
            <a:ext cx="2029968" cy="91440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87568" y="2340864"/>
            <a:ext cx="365760" cy="365760"/>
          </a:xfrm>
          <a:prstGeom prst="ellipse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87568" y="23408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946904" y="2761488"/>
            <a:ext cx="18470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Probability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946904" y="3090672"/>
            <a:ext cx="18470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chance email is spam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885432" y="2834640"/>
            <a:ext cx="146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7031736" y="2212848"/>
            <a:ext cx="2029968" cy="1536192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  <a:effectLst>
            <a:outerShdw sx="100000" sy="100000" kx="0" ky="0" algn="bl" rotWithShape="0" blurRad="38100" dist="12700" dir="2700000">
              <a:srgbClr val="CCCCCC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031736" y="2212848"/>
            <a:ext cx="2029968" cy="9144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863840" y="2340864"/>
            <a:ext cx="365760" cy="365760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863840" y="23408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123176" y="2761488"/>
            <a:ext cx="18470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Threshold (0.5)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123176" y="3090672"/>
            <a:ext cx="18470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≥ 0.5 → Spam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0.5 → Not Spam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02920" y="3858768"/>
            <a:ext cx="1097280" cy="310896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0352" y="3858768"/>
            <a:ext cx="10424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(words)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1627632" y="3858768"/>
            <a:ext cx="1645920" cy="310896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655064" y="3858768"/>
            <a:ext cx="15910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−4+1×x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300984" y="3858768"/>
            <a:ext cx="1371600" cy="310896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328416" y="3858768"/>
            <a:ext cx="13167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σ(z)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700016" y="3858768"/>
            <a:ext cx="1645920" cy="310896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27448" y="3858768"/>
            <a:ext cx="15910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02920" y="4169664"/>
            <a:ext cx="1097280" cy="201168"/>
          </a:xfrm>
          <a:prstGeom prst="rect">
            <a:avLst/>
          </a:prstGeom>
          <a:solidFill>
            <a:srgbClr val="F0FFF4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0352" y="4169664"/>
            <a:ext cx="10424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1627632" y="4169664"/>
            <a:ext cx="1645920" cy="201168"/>
          </a:xfrm>
          <a:prstGeom prst="rect">
            <a:avLst/>
          </a:prstGeom>
          <a:solidFill>
            <a:srgbClr val="F0FFF4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655064" y="4169664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300984" y="4169664"/>
            <a:ext cx="1371600" cy="201168"/>
          </a:xfrm>
          <a:prstGeom prst="rect">
            <a:avLst/>
          </a:prstGeom>
          <a:solidFill>
            <a:srgbClr val="F0FFF4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328416" y="4169664"/>
            <a:ext cx="13167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0.047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700016" y="4169664"/>
            <a:ext cx="1645920" cy="201168"/>
          </a:xfrm>
          <a:prstGeom prst="rect">
            <a:avLst/>
          </a:prstGeom>
          <a:solidFill>
            <a:srgbClr val="F0FFF4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27448" y="4169664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Spam ✅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02920" y="4370832"/>
            <a:ext cx="1097280" cy="201168"/>
          </a:xfrm>
          <a:prstGeom prst="rect">
            <a:avLst/>
          </a:prstGeom>
          <a:solidFill>
            <a:srgbClr val="F0FFF4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30352" y="4370832"/>
            <a:ext cx="10424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1627632" y="4370832"/>
            <a:ext cx="1645920" cy="201168"/>
          </a:xfrm>
          <a:prstGeom prst="rect">
            <a:avLst/>
          </a:prstGeom>
          <a:solidFill>
            <a:srgbClr val="F0FFF4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655064" y="437083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300984" y="4370832"/>
            <a:ext cx="1371600" cy="201168"/>
          </a:xfrm>
          <a:prstGeom prst="rect">
            <a:avLst/>
          </a:prstGeom>
          <a:solidFill>
            <a:srgbClr val="F0FFF4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328416" y="4370832"/>
            <a:ext cx="13167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0.269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700016" y="4370832"/>
            <a:ext cx="1645920" cy="201168"/>
          </a:xfrm>
          <a:prstGeom prst="rect">
            <a:avLst/>
          </a:prstGeom>
          <a:solidFill>
            <a:srgbClr val="F0FFF4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727448" y="437083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Spam ✅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502920" y="4572000"/>
            <a:ext cx="1097280" cy="201168"/>
          </a:xfrm>
          <a:prstGeom prst="rect">
            <a:avLst/>
          </a:prstGeom>
          <a:solidFill>
            <a:srgbClr val="FFF8E1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30352" y="4572000"/>
            <a:ext cx="10424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1627632" y="4572000"/>
            <a:ext cx="1645920" cy="201168"/>
          </a:xfrm>
          <a:prstGeom prst="rect">
            <a:avLst/>
          </a:prstGeom>
          <a:solidFill>
            <a:srgbClr val="FFF8E1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655064" y="4572000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3300984" y="4572000"/>
            <a:ext cx="1371600" cy="201168"/>
          </a:xfrm>
          <a:prstGeom prst="rect">
            <a:avLst/>
          </a:prstGeom>
          <a:solidFill>
            <a:srgbClr val="FFF8E1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328416" y="4572000"/>
            <a:ext cx="13167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0.500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4700016" y="4572000"/>
            <a:ext cx="1645920" cy="201168"/>
          </a:xfrm>
          <a:prstGeom prst="rect">
            <a:avLst/>
          </a:prstGeom>
          <a:solidFill>
            <a:srgbClr val="FFF8E1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727448" y="4572000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⚠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502920" y="4773168"/>
            <a:ext cx="1097280" cy="201168"/>
          </a:xfrm>
          <a:prstGeom prst="rect">
            <a:avLst/>
          </a:prstGeom>
          <a:solidFill>
            <a:srgbClr val="FFF0F0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30352" y="4773168"/>
            <a:ext cx="10424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1627632" y="4773168"/>
            <a:ext cx="1645920" cy="201168"/>
          </a:xfrm>
          <a:prstGeom prst="rect">
            <a:avLst/>
          </a:prstGeom>
          <a:solidFill>
            <a:srgbClr val="FFF0F0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655064" y="4773168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3300984" y="4773168"/>
            <a:ext cx="1371600" cy="201168"/>
          </a:xfrm>
          <a:prstGeom prst="rect">
            <a:avLst/>
          </a:prstGeom>
          <a:solidFill>
            <a:srgbClr val="FFF0F0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328416" y="4773168"/>
            <a:ext cx="13167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0.731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4700016" y="4773168"/>
            <a:ext cx="1645920" cy="201168"/>
          </a:xfrm>
          <a:prstGeom prst="rect">
            <a:avLst/>
          </a:prstGeom>
          <a:solidFill>
            <a:srgbClr val="FFF0F0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727448" y="4773168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❌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502920" y="4974336"/>
            <a:ext cx="1097280" cy="201168"/>
          </a:xfrm>
          <a:prstGeom prst="rect">
            <a:avLst/>
          </a:prstGeom>
          <a:solidFill>
            <a:srgbClr val="FFF0F0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30352" y="4974336"/>
            <a:ext cx="10424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1627632" y="4974336"/>
            <a:ext cx="1645920" cy="201168"/>
          </a:xfrm>
          <a:prstGeom prst="rect">
            <a:avLst/>
          </a:prstGeom>
          <a:solidFill>
            <a:srgbClr val="FFF0F0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1655064" y="4974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3300984" y="4974336"/>
            <a:ext cx="1371600" cy="201168"/>
          </a:xfrm>
          <a:prstGeom prst="rect">
            <a:avLst/>
          </a:prstGeom>
          <a:solidFill>
            <a:srgbClr val="FFF0F0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328416" y="4974336"/>
            <a:ext cx="13167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0.953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4700016" y="4974336"/>
            <a:ext cx="1645920" cy="201168"/>
          </a:xfrm>
          <a:prstGeom prst="rect">
            <a:avLst/>
          </a:prstGeom>
          <a:solidFill>
            <a:srgbClr val="FFF0F0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727448" y="4974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❌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6492240" y="3858768"/>
            <a:ext cx="2286000" cy="1078992"/>
          </a:xfrm>
          <a:prstGeom prst="rect">
            <a:avLst/>
          </a:prstGeom>
          <a:solidFill>
            <a:srgbClr val="E8F4F8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38100" dist="12700" dir="2700000">
              <a:srgbClr val="CCCCCC">
                <a:alpha val="30000"/>
              </a:srgbClr>
            </a:outerShdw>
          </a:effectLst>
        </p:spPr>
      </p:sp>
      <p:sp>
        <p:nvSpPr>
          <p:cNvPr id="89" name="Text 87"/>
          <p:cNvSpPr/>
          <p:nvPr/>
        </p:nvSpPr>
        <p:spPr>
          <a:xfrm>
            <a:off x="6583680" y="3931920"/>
            <a:ext cx="21031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how the probability smoothly transitions from ~0 to ~1 as suspicious words increase!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0584" cy="514350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4" name="Shape 2"/>
          <p:cNvSpPr/>
          <p:nvPr/>
        </p:nvSpPr>
        <p:spPr>
          <a:xfrm>
            <a:off x="155448" y="0"/>
            <a:ext cx="100584" cy="514350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5" name="Shape 3"/>
          <p:cNvSpPr/>
          <p:nvPr/>
        </p:nvSpPr>
        <p:spPr>
          <a:xfrm>
            <a:off x="310896" y="0"/>
            <a:ext cx="100584" cy="514350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974336"/>
            <a:ext cx="9144000" cy="0"/>
          </a:xfrm>
          <a:prstGeom prst="line">
            <a:avLst/>
          </a:prstGeom>
          <a:noFill/>
          <a:ln w="50800">
            <a:solidFill>
              <a:srgbClr val="F5A8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37160"/>
            <a:ext cx="8458200" cy="86868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4592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A2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Decision Boundary — Where the Model Draws the Line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02920" y="1133856"/>
            <a:ext cx="2468880" cy="292608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13385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THRESHOLD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1536192"/>
            <a:ext cx="8229600" cy="749808"/>
          </a:xfrm>
          <a:prstGeom prst="rect">
            <a:avLst/>
          </a:prstGeom>
          <a:solidFill>
            <a:srgbClr val="FFF8E1"/>
          </a:solidFill>
          <a:ln w="12700">
            <a:solidFill>
              <a:srgbClr val="F5A800"/>
            </a:solidFill>
            <a:prstDash val="solid"/>
          </a:ln>
          <a:effectLst>
            <a:outerShdw sx="100000" sy="100000" kx="0" ky="0" algn="bl" rotWithShape="0" blurRad="38100" dist="12700" dir="2700000">
              <a:srgbClr val="CCCCCC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1591056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boundary is where P = 0.5,  which means  z = 0.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193852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C348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Solve:   z = 0  →  −4 + 1×x = 0  →  x = 4      The boundary is at 4 suspicious words.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2395728"/>
            <a:ext cx="8229600" cy="1828800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  <a:effectLst>
            <a:outerShdw sx="100000" sy="100000" kx="0" ky="0" algn="bl" rotWithShape="0" blurRad="38100" dist="12700" dir="2700000">
              <a:srgbClr val="CCCCCC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2852928"/>
            <a:ext cx="3200400" cy="274320"/>
          </a:xfrm>
          <a:prstGeom prst="rect">
            <a:avLst/>
          </a:prstGeom>
          <a:solidFill>
            <a:srgbClr val="D5F5E3"/>
          </a:solidFill>
          <a:ln w="12700">
            <a:solidFill>
              <a:srgbClr val="D5F5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285292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SPAM  (x &lt; 4)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852928"/>
            <a:ext cx="3291840" cy="274320"/>
          </a:xfrm>
          <a:prstGeom prst="rect">
            <a:avLst/>
          </a:prstGeom>
          <a:solidFill>
            <a:srgbClr val="FADBD8"/>
          </a:solidFill>
          <a:ln w="12700">
            <a:solidFill>
              <a:srgbClr val="FADB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28529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 (x ≥ 4)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22960" y="3310128"/>
            <a:ext cx="7223760" cy="0"/>
          </a:xfrm>
          <a:prstGeom prst="line">
            <a:avLst/>
          </a:prstGeom>
          <a:noFill/>
          <a:ln w="25400">
            <a:solidFill>
              <a:srgbClr val="1A1A2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3218688"/>
            <a:ext cx="0" cy="18288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419856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029968" y="3218688"/>
            <a:ext cx="0" cy="18288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92808" y="3419856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36976" y="3218688"/>
            <a:ext cx="0" cy="18288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99816" y="3419856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443984" y="3218688"/>
            <a:ext cx="0" cy="18288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06824" y="3419856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650992" y="3218688"/>
            <a:ext cx="0" cy="18288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3419856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858000" y="3218688"/>
            <a:ext cx="0" cy="18288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20840" y="3419856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065008" y="3218688"/>
            <a:ext cx="0" cy="18288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927848" y="3419856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443984" y="2761488"/>
            <a:ext cx="0" cy="713232"/>
          </a:xfrm>
          <a:prstGeom prst="line">
            <a:avLst/>
          </a:prstGeom>
          <a:noFill/>
          <a:ln w="38100">
            <a:solidFill>
              <a:srgbClr val="F5A800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4041648" y="2432304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4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5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02920" y="3749040"/>
            <a:ext cx="1993392" cy="438912"/>
          </a:xfrm>
          <a:prstGeom prst="rect">
            <a:avLst/>
          </a:prstGeom>
          <a:solidFill>
            <a:srgbClr val="F0FFF4"/>
          </a:solidFill>
          <a:ln w="12700">
            <a:solidFill>
              <a:srgbClr val="A9DFBF"/>
            </a:solidFill>
            <a:prstDash val="solid"/>
          </a:ln>
          <a:effectLst>
            <a:outerShdw sx="100000" sy="100000" kx="0" ky="0" algn="bl" rotWithShape="0" blurRad="38100" dist="12700" dir="2700000">
              <a:srgbClr val="CCCCCC">
                <a:alpha val="3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94360" y="3785616"/>
            <a:ext cx="1810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x=2: P=0.12 → Not Spam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587752" y="3749040"/>
            <a:ext cx="1993392" cy="438912"/>
          </a:xfrm>
          <a:prstGeom prst="rect">
            <a:avLst/>
          </a:prstGeom>
          <a:solidFill>
            <a:srgbClr val="F0FFF4"/>
          </a:solidFill>
          <a:ln w="12700">
            <a:solidFill>
              <a:srgbClr val="A9DFBF"/>
            </a:solidFill>
            <a:prstDash val="solid"/>
          </a:ln>
          <a:effectLst>
            <a:outerShdw sx="100000" sy="100000" kx="0" ky="0" algn="bl" rotWithShape="0" blurRad="38100" dist="12700" dir="2700000">
              <a:srgbClr val="CCCCCC">
                <a:alpha val="3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2679192" y="3785616"/>
            <a:ext cx="1810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x=3: P=0.27 → Not Spam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672584" y="3749040"/>
            <a:ext cx="1993392" cy="438912"/>
          </a:xfrm>
          <a:prstGeom prst="rect">
            <a:avLst/>
          </a:prstGeom>
          <a:solidFill>
            <a:srgbClr val="FFF0F0"/>
          </a:solidFill>
          <a:ln w="12700">
            <a:solidFill>
              <a:srgbClr val="F1948A"/>
            </a:solidFill>
            <a:prstDash val="solid"/>
          </a:ln>
          <a:effectLst>
            <a:outerShdw sx="100000" sy="100000" kx="0" ky="0" algn="bl" rotWithShape="0" blurRad="38100" dist="12700" dir="2700000">
              <a:srgbClr val="CCCCCC">
                <a:alpha val="3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764024" y="3785616"/>
            <a:ext cx="1810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x=5: P=0.73 → Spam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757416" y="3749040"/>
            <a:ext cx="1993392" cy="438912"/>
          </a:xfrm>
          <a:prstGeom prst="rect">
            <a:avLst/>
          </a:prstGeom>
          <a:solidFill>
            <a:srgbClr val="FFF0F0"/>
          </a:solidFill>
          <a:ln w="12700">
            <a:solidFill>
              <a:srgbClr val="F1948A"/>
            </a:solidFill>
            <a:prstDash val="solid"/>
          </a:ln>
          <a:effectLst>
            <a:outerShdw sx="100000" sy="100000" kx="0" ky="0" algn="bl" rotWithShape="0" blurRad="38100" dist="12700" dir="2700000">
              <a:srgbClr val="CCCCCC">
                <a:alpha val="3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848856" y="3785616"/>
            <a:ext cx="1810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x=7: P=0.95 → Spam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0584" cy="514350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4" name="Shape 2"/>
          <p:cNvSpPr/>
          <p:nvPr/>
        </p:nvSpPr>
        <p:spPr>
          <a:xfrm>
            <a:off x="155448" y="0"/>
            <a:ext cx="100584" cy="514350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5" name="Shape 3"/>
          <p:cNvSpPr/>
          <p:nvPr/>
        </p:nvSpPr>
        <p:spPr>
          <a:xfrm>
            <a:off x="310896" y="0"/>
            <a:ext cx="100584" cy="514350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974336"/>
            <a:ext cx="9144000" cy="0"/>
          </a:xfrm>
          <a:prstGeom prst="line">
            <a:avLst/>
          </a:prstGeom>
          <a:noFill/>
          <a:ln w="50800">
            <a:solidFill>
              <a:srgbClr val="F5A8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37160"/>
            <a:ext cx="8458200" cy="86868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4592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A2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Evaluating the Model — Confusion Matrix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02920" y="1133856"/>
            <a:ext cx="2468880" cy="29260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13385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PERFORMANCE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1536192"/>
            <a:ext cx="4114800" cy="2926080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  <a:effectLst>
            <a:outerShdw sx="100000" sy="100000" kx="0" ky="0" algn="bl" rotWithShape="0" blurRad="38100" dist="12700" dir="2700000">
              <a:srgbClr val="CCCCCC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1536192"/>
            <a:ext cx="4114800" cy="82296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459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874520" y="1975104"/>
            <a:ext cx="1280160" cy="310896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74520" y="1975104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Pred: Neg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0" y="1975104"/>
            <a:ext cx="1280160" cy="31089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1975104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Pred: Pos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" y="2340864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" y="3035808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874520" y="2340864"/>
            <a:ext cx="1280160" cy="640080"/>
          </a:xfrm>
          <a:prstGeom prst="rect">
            <a:avLst/>
          </a:prstGeom>
          <a:solidFill>
            <a:srgbClr val="D5F5E3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74520" y="2340864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(Correct!)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0" y="2340864"/>
            <a:ext cx="1280160" cy="640080"/>
          </a:xfrm>
          <a:prstGeom prst="rect">
            <a:avLst/>
          </a:prstGeom>
          <a:solidFill>
            <a:srgbClr val="FADBD8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0" y="2340864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(Type I Error)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874520" y="3035808"/>
            <a:ext cx="1280160" cy="640080"/>
          </a:xfrm>
          <a:prstGeom prst="rect">
            <a:avLst/>
          </a:prstGeom>
          <a:solidFill>
            <a:srgbClr val="FADBD8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74520" y="3035808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(Type II Error)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0" y="3035808"/>
            <a:ext cx="1280160" cy="640080"/>
          </a:xfrm>
          <a:prstGeom prst="rect">
            <a:avLst/>
          </a:prstGeom>
          <a:solidFill>
            <a:srgbClr val="D5F5E3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0" y="3035808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(Correct!)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00600" y="1536192"/>
            <a:ext cx="3977640" cy="2926080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  <a:effectLst>
            <a:outerShdw sx="100000" sy="100000" kx="0" ky="0" algn="bl" rotWithShape="0" blurRad="38100" dist="12700" dir="2700000">
              <a:srgbClr val="CCCCCC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00600" y="1536192"/>
            <a:ext cx="3977640" cy="82296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56048" y="16459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956048" y="1993392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080760" y="1993392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65A8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(TP+TN) / Total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956048" y="2231136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correctness. Can be misleading with imbalanced data.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956048" y="2615184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Precision: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080760" y="2615184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65A8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TP / (TP+FP)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956048" y="285292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those predicted positive, how many are actually positive?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956048" y="3236976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Recall: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080760" y="3236976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65A8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TP / (TP+FN)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956048" y="347472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actual positives, how many did we catch?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956048" y="3858768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Score: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080760" y="3858768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65A8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2×P×R / (P+R)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956048" y="409651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Harmonic mean of precision &amp; recall. Best single metric.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0584" cy="514350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4" name="Shape 2"/>
          <p:cNvSpPr/>
          <p:nvPr/>
        </p:nvSpPr>
        <p:spPr>
          <a:xfrm>
            <a:off x="155448" y="0"/>
            <a:ext cx="100584" cy="514350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5" name="Shape 3"/>
          <p:cNvSpPr/>
          <p:nvPr/>
        </p:nvSpPr>
        <p:spPr>
          <a:xfrm>
            <a:off x="310896" y="0"/>
            <a:ext cx="100584" cy="514350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974336"/>
            <a:ext cx="9144000" cy="0"/>
          </a:xfrm>
          <a:prstGeom prst="line">
            <a:avLst/>
          </a:prstGeom>
          <a:noFill/>
          <a:ln w="50800">
            <a:solidFill>
              <a:srgbClr val="F5A8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37160"/>
            <a:ext cx="8458200" cy="86868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4592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A2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Tuning the Threshold — It's Not Always 0.5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02920" y="1133856"/>
            <a:ext cx="2468880" cy="292608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13385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INSIGHT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1536192"/>
            <a:ext cx="8229600" cy="658368"/>
          </a:xfrm>
          <a:prstGeom prst="rect">
            <a:avLst/>
          </a:prstGeom>
          <a:solidFill>
            <a:srgbClr val="FFF8E1"/>
          </a:solidFill>
          <a:ln w="12700">
            <a:solidFill>
              <a:srgbClr val="F5A800"/>
            </a:solidFill>
            <a:prstDash val="solid"/>
          </a:ln>
          <a:effectLst>
            <a:outerShdw sx="100000" sy="100000" kx="0" ky="0" algn="bl" rotWithShape="0" blurRad="38100" dist="12700" dir="2700000">
              <a:srgbClr val="CCCCCC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1591056"/>
            <a:ext cx="7863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 threshold is 0.5, but the best threshold depends on the cost of different mistakes.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2304288"/>
            <a:ext cx="2743200" cy="2743200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  <a:effectLst>
            <a:outerShdw sx="100000" sy="100000" kx="0" ky="0" algn="bl" rotWithShape="0" blurRad="38100" dist="12700" dir="2700000">
              <a:srgbClr val="CCCCCC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2304288"/>
            <a:ext cx="274320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30428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Medical Diagnosis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276148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threshold (e.g. 0.3)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3054096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a disease (FN) is far worse than a false alarm (FP). We'd rather test extra patients than miss a sick one.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94360" y="4041648"/>
            <a:ext cx="2560320" cy="475488"/>
          </a:xfrm>
          <a:prstGeom prst="rect">
            <a:avLst/>
          </a:prstGeom>
          <a:solidFill>
            <a:srgbClr val="FFF8E1"/>
          </a:solidFill>
          <a:ln w="12700">
            <a:solidFill>
              <a:srgbClr val="F5A800"/>
            </a:solidFill>
            <a:prstDash val="solid"/>
          </a:ln>
          <a:effectLst>
            <a:outerShdw sx="100000" sy="100000" kx="0" ky="0" algn="bl" rotWithShape="0" blurRad="38100" dist="12700" dir="2700000">
              <a:srgbClr val="CCCCCC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5800" y="4078224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positives caught,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missed cases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383280" y="2304288"/>
            <a:ext cx="2743200" cy="2743200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  <a:effectLst>
            <a:outerShdw sx="100000" sy="100000" kx="0" ky="0" algn="bl" rotWithShape="0" blurRad="38100" dist="12700" dir="2700000">
              <a:srgbClr val="CCCCCC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383280" y="2304288"/>
            <a:ext cx="2743200" cy="384048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230428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Spam Detection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74720" y="276148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threshold (0.5)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0" y="3054096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balanced trade-off. Missing spam is annoying, but marking a good email as spam (FP) is also bad.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474720" y="4041648"/>
            <a:ext cx="2560320" cy="475488"/>
          </a:xfrm>
          <a:prstGeom prst="rect">
            <a:avLst/>
          </a:prstGeom>
          <a:solidFill>
            <a:srgbClr val="FFF8E1"/>
          </a:solidFill>
          <a:ln w="12700">
            <a:solidFill>
              <a:srgbClr val="F5A800"/>
            </a:solidFill>
            <a:prstDash val="solid"/>
          </a:ln>
          <a:effectLst>
            <a:outerShdw sx="100000" sy="100000" kx="0" ky="0" algn="bl" rotWithShape="0" blurRad="38100" dist="12700" dir="2700000">
              <a:srgbClr val="CCCCCC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566160" y="4078224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precision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recall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263640" y="2304288"/>
            <a:ext cx="2743200" cy="2743200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  <a:effectLst>
            <a:outerShdw sx="100000" sy="100000" kx="0" ky="0" algn="bl" rotWithShape="0" blurRad="38100" dist="12700" dir="2700000">
              <a:srgbClr val="CCCCCC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63640" y="2304288"/>
            <a:ext cx="274320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5080" y="230428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Fraud Detection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55080" y="276148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threshold (e.g. 0.2)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55080" y="3054096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Letting a fraudulent transaction through is very costly. Better to flag and manually review more transactions.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355080" y="4041648"/>
            <a:ext cx="2560320" cy="475488"/>
          </a:xfrm>
          <a:prstGeom prst="rect">
            <a:avLst/>
          </a:prstGeom>
          <a:solidFill>
            <a:srgbClr val="FFF8E1"/>
          </a:solidFill>
          <a:ln w="12700">
            <a:solidFill>
              <a:srgbClr val="F5A800"/>
            </a:solidFill>
            <a:prstDash val="solid"/>
          </a:ln>
          <a:effectLst>
            <a:outerShdw sx="100000" sy="100000" kx="0" ky="0" algn="bl" rotWithShape="0" blurRad="38100" dist="12700" dir="2700000">
              <a:srgbClr val="CCCCCC">
                <a:alpha val="3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446520" y="4078224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recall,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false alarms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0584" cy="514350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4" name="Shape 2"/>
          <p:cNvSpPr/>
          <p:nvPr/>
        </p:nvSpPr>
        <p:spPr>
          <a:xfrm>
            <a:off x="155448" y="0"/>
            <a:ext cx="100584" cy="514350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5" name="Shape 3"/>
          <p:cNvSpPr/>
          <p:nvPr/>
        </p:nvSpPr>
        <p:spPr>
          <a:xfrm>
            <a:off x="310896" y="0"/>
            <a:ext cx="100584" cy="514350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974336"/>
            <a:ext cx="9144000" cy="0"/>
          </a:xfrm>
          <a:prstGeom prst="line">
            <a:avLst/>
          </a:prstGeom>
          <a:noFill/>
          <a:ln w="50800">
            <a:solidFill>
              <a:srgbClr val="F5A8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37160"/>
            <a:ext cx="8458200" cy="86868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4592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A2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Beyond Binary — Multiclass Logistic Regression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02920" y="1133856"/>
            <a:ext cx="2468880" cy="2926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13385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EXTENDING TO 3+ CLASSES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1536192"/>
            <a:ext cx="3977640" cy="1920240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  <a:effectLst>
            <a:outerShdw sx="100000" sy="100000" kx="0" ky="0" algn="bl" rotWithShape="0" blurRad="38100" dist="12700" dir="2700000">
              <a:srgbClr val="CCCCCC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1536192"/>
            <a:ext cx="3977640" cy="82296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1645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One-vs-Rest (OvR)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8368" y="1975104"/>
            <a:ext cx="365760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K separate binary classifiers: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Class A vs (B+C+D)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Class B vs (A+C+D)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Class C vs (A+B+D)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Class D vs (A+B+C)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class with the highest probability.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54880" y="1536192"/>
            <a:ext cx="4023360" cy="1920240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  <a:effectLst>
            <a:outerShdw sx="100000" sy="100000" kx="0" ky="0" algn="bl" rotWithShape="0" blurRad="38100" dist="12700" dir="2700000">
              <a:srgbClr val="CCCCCC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536192"/>
            <a:ext cx="4023360" cy="82296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10328" y="1645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(Multinomial)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10328" y="1975104"/>
            <a:ext cx="365760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Generalises sigmoid to K classes: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P(class k) = eᶻᵏ / Σeᶻⱼ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probabilities sum to 1.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 default in sklearn's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LogisticRegression(multi_class='multinomial').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3584448"/>
            <a:ext cx="8229600" cy="658368"/>
          </a:xfrm>
          <a:prstGeom prst="rect">
            <a:avLst/>
          </a:prstGeom>
          <a:solidFill>
            <a:srgbClr val="FFF8E1"/>
          </a:solidFill>
          <a:ln w="12700">
            <a:solidFill>
              <a:srgbClr val="F5A800"/>
            </a:solidFill>
            <a:prstDash val="solid"/>
          </a:ln>
          <a:effectLst>
            <a:outerShdw sx="100000" sy="100000" kx="0" ky="0" algn="bl" rotWithShape="0" blurRad="38100" dist="12700" dir="2700000">
              <a:srgbClr val="CCCCCC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8368" y="363931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Classifying iris flowers into 3 species: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8368" y="3913632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P(Setosa) = 0.85,  P(Versicolor) = 0.12,  P(Virginica) = 0.03  →  Predict: Setosa  ✅   (sum = 1.0)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0584" cy="514350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4" name="Shape 2"/>
          <p:cNvSpPr/>
          <p:nvPr/>
        </p:nvSpPr>
        <p:spPr>
          <a:xfrm>
            <a:off x="155448" y="0"/>
            <a:ext cx="100584" cy="514350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5" name="Shape 3"/>
          <p:cNvSpPr/>
          <p:nvPr/>
        </p:nvSpPr>
        <p:spPr>
          <a:xfrm>
            <a:off x="310896" y="0"/>
            <a:ext cx="100584" cy="514350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974336"/>
            <a:ext cx="9144000" cy="0"/>
          </a:xfrm>
          <a:prstGeom prst="line">
            <a:avLst/>
          </a:prstGeom>
          <a:noFill/>
          <a:ln w="50800">
            <a:solidFill>
              <a:srgbClr val="F5A8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37160"/>
            <a:ext cx="8458200" cy="86868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4592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A2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Logistic Regression — Summary &amp; When to Use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02920" y="1133856"/>
            <a:ext cx="2468880" cy="29260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13385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1536192"/>
            <a:ext cx="3977640" cy="2057400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  <a:effectLst>
            <a:outerShdw sx="100000" sy="100000" kx="0" ky="0" algn="bl" rotWithShape="0" blurRad="38100" dist="12700" dir="2700000">
              <a:srgbClr val="CCCCCC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1536192"/>
            <a:ext cx="3977640" cy="38404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536192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Strengths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8368" y="199339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Simple, fast, and interpretable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58368" y="231343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Outputs real probabilities (not just labels)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8368" y="263347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Works well when classes are linearly separable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58368" y="295351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Low computational cost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58368" y="327355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Good baseline for any classification task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1536192"/>
            <a:ext cx="3977640" cy="2057400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  <a:effectLst>
            <a:outerShdw sx="100000" sy="100000" kx="0" ky="0" algn="bl" rotWithShape="0" blurRad="38100" dist="12700" dir="2700000">
              <a:srgbClr val="CCCCCC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536192"/>
            <a:ext cx="397764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536192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Weaknesses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10328" y="199339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Cannot capture non-linear boundaries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910328" y="231343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Assumes features are roughly independent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910328" y="263347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Sensitive to outliers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910328" y="295351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Needs feature scaling for best results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910328" y="327355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 great for complex, high-dimensional data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02920" y="3730752"/>
            <a:ext cx="8229600" cy="1170432"/>
          </a:xfrm>
          <a:prstGeom prst="rect">
            <a:avLst/>
          </a:prstGeom>
          <a:solidFill>
            <a:srgbClr val="FFF8E1"/>
          </a:solidFill>
          <a:ln w="12700">
            <a:solidFill>
              <a:srgbClr val="F5A800"/>
            </a:solidFill>
            <a:prstDash val="solid"/>
          </a:ln>
          <a:effectLst>
            <a:outerShdw sx="100000" sy="100000" kx="0" ky="0" algn="bl" rotWithShape="0" blurRad="38100" dist="12700" dir="2700000">
              <a:srgbClr val="CCCCCC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58368" y="380390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When to Use Logistic Regression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58368" y="4096512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 (Spam/Not Spam, Disease/Healthy, Pass/Fail)  •  Quick baseline classifier  •  When you need probability outputs  •  Medical diagnosis scoring  •  Credit risk assessment  •  Customer churn prediction  •  A/B test conversion analysis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2026-08-09T16:51:16Z</dcterms:created>
  <dcterms:modified xsi:type="dcterms:W3CDTF">2026-08-09T16:51:16Z</dcterms:modified>
</cp:coreProperties>
</file>