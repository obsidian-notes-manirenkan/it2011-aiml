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4" name="Shape 2"/>
          <p:cNvSpPr/>
          <p:nvPr/>
        </p:nvSpPr>
        <p:spPr>
          <a:xfrm>
            <a:off x="173736" y="0"/>
            <a:ext cx="118872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5" name="Shape 3"/>
          <p:cNvSpPr/>
          <p:nvPr/>
        </p:nvSpPr>
        <p:spPr>
          <a:xfrm>
            <a:off x="347472" y="0"/>
            <a:ext cx="118872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50800">
            <a:solidFill>
              <a:srgbClr val="F5A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91440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(KNN)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A8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Complete Walkthrough with Simple Examples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— Classification &amp; Regression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4" name="Shape 2"/>
          <p:cNvSpPr/>
          <p:nvPr/>
        </p:nvSpPr>
        <p:spPr>
          <a:xfrm>
            <a:off x="155448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5" name="Shape 3"/>
          <p:cNvSpPr/>
          <p:nvPr/>
        </p:nvSpPr>
        <p:spPr>
          <a:xfrm>
            <a:off x="310896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50800">
            <a:solidFill>
              <a:srgbClr val="F5A8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"/>
            <a:ext cx="845820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is KNN? — The Core Idea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 FIRST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536192"/>
            <a:ext cx="8229600" cy="987552"/>
          </a:xfrm>
          <a:prstGeom prst="rect">
            <a:avLst/>
          </a:prstGeom>
          <a:solidFill>
            <a:srgbClr val="FFF8E1"/>
          </a:solidFill>
          <a:ln w="12700">
            <a:solidFill>
              <a:srgbClr val="F5A800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1591056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are the average of the 5 people you spend the most time with."  — Jim Rohn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1993392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works exactly like this: to classify a new data point, look at the K closest training points and let them vote!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670048"/>
            <a:ext cx="2029968" cy="217627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2670048"/>
            <a:ext cx="2029968" cy="91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35024" y="2798064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35024" y="27980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200400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94360" y="3584448"/>
            <a:ext cx="18470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all training data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931920"/>
            <a:ext cx="18470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phase — just memorise. This makes KNN a 'lazy learner'.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79192" y="2670048"/>
            <a:ext cx="2029968" cy="217627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679192" y="2670048"/>
            <a:ext cx="2029968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11296" y="2798064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11296" y="27980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56432" y="3200400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770632" y="3584448"/>
            <a:ext cx="18470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distance to new point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70632" y="3931920"/>
            <a:ext cx="18470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how 'far' the new point is from every stored point.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55464" y="2670048"/>
            <a:ext cx="2029968" cy="217627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55464" y="2670048"/>
            <a:ext cx="2029968" cy="9144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87568" y="2798064"/>
            <a:ext cx="365760" cy="365760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87568" y="27980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632704" y="3200400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946904" y="3584448"/>
            <a:ext cx="18470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K nearest neighbors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46904" y="3931920"/>
            <a:ext cx="18470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all points by distance. Pick the K closest ones.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031736" y="2670048"/>
            <a:ext cx="2029968" cy="217627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031736" y="2670048"/>
            <a:ext cx="2029968" cy="914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63840" y="2798064"/>
            <a:ext cx="365760" cy="36576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63840" y="27980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808976" y="3200400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🗳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123176" y="3584448"/>
            <a:ext cx="18470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vote / average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123176" y="3931920"/>
            <a:ext cx="18470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→ majority class wins.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→ average of neighbors' values.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4" name="Shape 2"/>
          <p:cNvSpPr/>
          <p:nvPr/>
        </p:nvSpPr>
        <p:spPr>
          <a:xfrm>
            <a:off x="155448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5" name="Shape 3"/>
          <p:cNvSpPr/>
          <p:nvPr/>
        </p:nvSpPr>
        <p:spPr>
          <a:xfrm>
            <a:off x="310896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50800">
            <a:solidFill>
              <a:srgbClr val="F5A8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"/>
            <a:ext cx="845820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KNN — A Real-Life Analogy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LIKE A HUMAN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536192"/>
            <a:ext cx="8229600" cy="1051560"/>
          </a:xfrm>
          <a:prstGeom prst="rect">
            <a:avLst/>
          </a:prstGeom>
          <a:solidFill>
            <a:srgbClr val="FFF8E1"/>
          </a:solidFill>
          <a:ln w="12700">
            <a:solidFill>
              <a:srgbClr val="F5A800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1591056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🏘  Scenario: Will you like a new neighborhood?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1956816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moving to a new city. To predict whether you'll enjoy a neighborhood, you ask the 3 nearest people (neighbors!) about their experience. If 2 of 3 love it → you'll probably love it too!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724912"/>
            <a:ext cx="397764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2491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  Human Thinking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724912"/>
            <a:ext cx="3977640" cy="34747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72491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KNN Algorithm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072384"/>
            <a:ext cx="397764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072384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 nearby people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072384"/>
            <a:ext cx="397764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072384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distance to training points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62272" y="3072384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2920" y="3529584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529584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3 closest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529584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529584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K = 3 nearest neighbors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62272" y="3529584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2920" y="3986784"/>
            <a:ext cx="397764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986784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3 say 'Love it!'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986784"/>
            <a:ext cx="397764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986784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class = 'Love it!'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62272" y="3986784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02920" y="4443984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443984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decide: Love it!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4443984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4443984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point classified as 'Love it!'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462272" y="4443984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4" name="Shape 2"/>
          <p:cNvSpPr/>
          <p:nvPr/>
        </p:nvSpPr>
        <p:spPr>
          <a:xfrm>
            <a:off x="155448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5" name="Shape 3"/>
          <p:cNvSpPr/>
          <p:nvPr/>
        </p:nvSpPr>
        <p:spPr>
          <a:xfrm>
            <a:off x="310896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50800">
            <a:solidFill>
              <a:srgbClr val="F5A8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"/>
            <a:ext cx="845820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KNN Classification Example — The Dataset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CLASSIFICATION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536192"/>
            <a:ext cx="8229600" cy="749808"/>
          </a:xfrm>
          <a:prstGeom prst="rect">
            <a:avLst/>
          </a:prstGeom>
          <a:solidFill>
            <a:srgbClr val="FFF8E1"/>
          </a:solidFill>
          <a:ln w="12700">
            <a:solidFill>
              <a:srgbClr val="F5A800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1591056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🍎 🍊  Classify a fruit as Apple or Orange based on Weight (g) and Colour Intensity (1–10).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193852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8 labelled fruits. A new fruit arrives: Weight = 160g, Colour = 6. What is it?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2395728"/>
            <a:ext cx="68580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395728"/>
            <a:ext cx="630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216152" y="2395728"/>
            <a:ext cx="137160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3584" y="2395728"/>
            <a:ext cx="1316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(g)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615184" y="2395728"/>
            <a:ext cx="146304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42616" y="2395728"/>
            <a:ext cx="14081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(1-10)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05656" y="2395728"/>
            <a:ext cx="118872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33088" y="2395728"/>
            <a:ext cx="11338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2706624"/>
            <a:ext cx="685800" cy="256032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2706624"/>
            <a:ext cx="630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216152" y="2706624"/>
            <a:ext cx="1371600" cy="256032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43584" y="2706624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615184" y="2706624"/>
            <a:ext cx="1463040" cy="256032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42616" y="2706624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05656" y="2706624"/>
            <a:ext cx="1188720" cy="256032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33088" y="2706624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2962656"/>
            <a:ext cx="685800" cy="256032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962656"/>
            <a:ext cx="630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216152" y="2962656"/>
            <a:ext cx="1371600" cy="256032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43584" y="2962656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615184" y="2962656"/>
            <a:ext cx="1463040" cy="256032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42616" y="2962656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105656" y="2962656"/>
            <a:ext cx="1188720" cy="256032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33088" y="2962656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2920" y="3218688"/>
            <a:ext cx="685800" cy="256032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3218688"/>
            <a:ext cx="630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216152" y="3218688"/>
            <a:ext cx="1371600" cy="256032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43584" y="3218688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615184" y="3218688"/>
            <a:ext cx="1463040" cy="256032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42616" y="3218688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105656" y="3218688"/>
            <a:ext cx="1188720" cy="256032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33088" y="3218688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02920" y="3474720"/>
            <a:ext cx="685800" cy="256032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0352" y="3474720"/>
            <a:ext cx="630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216152" y="3474720"/>
            <a:ext cx="1371600" cy="256032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243584" y="3474720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615184" y="3474720"/>
            <a:ext cx="1463040" cy="256032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642616" y="3474720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105656" y="3474720"/>
            <a:ext cx="1188720" cy="256032"/>
          </a:xfrm>
          <a:prstGeom prst="rect">
            <a:avLst/>
          </a:prstGeom>
          <a:solidFill>
            <a:srgbClr val="F0FFF4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33088" y="3474720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02920" y="3730752"/>
            <a:ext cx="685800" cy="256032"/>
          </a:xfrm>
          <a:prstGeom prst="rect">
            <a:avLst/>
          </a:prstGeom>
          <a:solidFill>
            <a:srgbClr val="FFF0E8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0352" y="3730752"/>
            <a:ext cx="630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216152" y="3730752"/>
            <a:ext cx="1371600" cy="256032"/>
          </a:xfrm>
          <a:prstGeom prst="rect">
            <a:avLst/>
          </a:prstGeom>
          <a:solidFill>
            <a:srgbClr val="FFF0E8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243584" y="3730752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615184" y="3730752"/>
            <a:ext cx="1463040" cy="256032"/>
          </a:xfrm>
          <a:prstGeom prst="rect">
            <a:avLst/>
          </a:prstGeom>
          <a:solidFill>
            <a:srgbClr val="FFF0E8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642616" y="3730752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105656" y="3730752"/>
            <a:ext cx="1188720" cy="256032"/>
          </a:xfrm>
          <a:prstGeom prst="rect">
            <a:avLst/>
          </a:prstGeom>
          <a:solidFill>
            <a:srgbClr val="FFF0E8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33088" y="3730752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02920" y="3986784"/>
            <a:ext cx="685800" cy="256032"/>
          </a:xfrm>
          <a:prstGeom prst="rect">
            <a:avLst/>
          </a:prstGeom>
          <a:solidFill>
            <a:srgbClr val="FFF0E8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0352" y="3986784"/>
            <a:ext cx="630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1216152" y="3986784"/>
            <a:ext cx="1371600" cy="256032"/>
          </a:xfrm>
          <a:prstGeom prst="rect">
            <a:avLst/>
          </a:prstGeom>
          <a:solidFill>
            <a:srgbClr val="FFF0E8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243584" y="3986784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615184" y="3986784"/>
            <a:ext cx="1463040" cy="256032"/>
          </a:xfrm>
          <a:prstGeom prst="rect">
            <a:avLst/>
          </a:prstGeom>
          <a:solidFill>
            <a:srgbClr val="FFF0E8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642616" y="3986784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105656" y="3986784"/>
            <a:ext cx="1188720" cy="256032"/>
          </a:xfrm>
          <a:prstGeom prst="rect">
            <a:avLst/>
          </a:prstGeom>
          <a:solidFill>
            <a:srgbClr val="FFF0E8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33088" y="3986784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502920" y="4242816"/>
            <a:ext cx="685800" cy="256032"/>
          </a:xfrm>
          <a:prstGeom prst="rect">
            <a:avLst/>
          </a:prstGeom>
          <a:solidFill>
            <a:srgbClr val="FFF0E8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30352" y="4242816"/>
            <a:ext cx="630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1216152" y="4242816"/>
            <a:ext cx="1371600" cy="256032"/>
          </a:xfrm>
          <a:prstGeom prst="rect">
            <a:avLst/>
          </a:prstGeom>
          <a:solidFill>
            <a:srgbClr val="FFF0E8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243584" y="4242816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2615184" y="4242816"/>
            <a:ext cx="1463040" cy="256032"/>
          </a:xfrm>
          <a:prstGeom prst="rect">
            <a:avLst/>
          </a:prstGeom>
          <a:solidFill>
            <a:srgbClr val="FFF0E8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642616" y="4242816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4105656" y="4242816"/>
            <a:ext cx="1188720" cy="256032"/>
          </a:xfrm>
          <a:prstGeom prst="rect">
            <a:avLst/>
          </a:prstGeom>
          <a:solidFill>
            <a:srgbClr val="FFF0E8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33088" y="4242816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502920" y="4498848"/>
            <a:ext cx="685800" cy="256032"/>
          </a:xfrm>
          <a:prstGeom prst="rect">
            <a:avLst/>
          </a:prstGeom>
          <a:solidFill>
            <a:srgbClr val="FFF0E8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30352" y="4498848"/>
            <a:ext cx="630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1216152" y="4498848"/>
            <a:ext cx="1371600" cy="256032"/>
          </a:xfrm>
          <a:prstGeom prst="rect">
            <a:avLst/>
          </a:prstGeom>
          <a:solidFill>
            <a:srgbClr val="FFF0E8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243584" y="4498848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2615184" y="4498848"/>
            <a:ext cx="1463040" cy="256032"/>
          </a:xfrm>
          <a:prstGeom prst="rect">
            <a:avLst/>
          </a:prstGeom>
          <a:solidFill>
            <a:srgbClr val="FFF0E8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642616" y="4498848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4105656" y="4498848"/>
            <a:ext cx="1188720" cy="256032"/>
          </a:xfrm>
          <a:prstGeom prst="rect">
            <a:avLst/>
          </a:prstGeom>
          <a:solidFill>
            <a:srgbClr val="FFF0E8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133088" y="4498848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502920" y="4754880"/>
            <a:ext cx="685800" cy="256032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30352" y="4754880"/>
            <a:ext cx="630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1216152" y="4754880"/>
            <a:ext cx="1371600" cy="256032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243584" y="4754880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2615184" y="4754880"/>
            <a:ext cx="1463040" cy="256032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642616" y="4754880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4105656" y="4754880"/>
            <a:ext cx="1188720" cy="256032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133088" y="4754880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???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5486400" y="2395728"/>
            <a:ext cx="3246120" cy="263347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5486400" y="2395728"/>
            <a:ext cx="3246120" cy="82296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623560" y="25054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to do: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5623560" y="2871216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623560" y="28712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9" name="Text 97"/>
          <p:cNvSpPr/>
          <p:nvPr/>
        </p:nvSpPr>
        <p:spPr>
          <a:xfrm>
            <a:off x="6035040" y="28529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K (let's try K=3)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5623560" y="3401568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623560" y="3401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2" name="Text 100"/>
          <p:cNvSpPr/>
          <p:nvPr/>
        </p:nvSpPr>
        <p:spPr>
          <a:xfrm>
            <a:off x="6035040" y="338328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distance from ? 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training fruit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5623560" y="3931920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62356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5" name="Text 103"/>
          <p:cNvSpPr/>
          <p:nvPr/>
        </p:nvSpPr>
        <p:spPr>
          <a:xfrm>
            <a:off x="6035040" y="391363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3 nearest fruits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5623560" y="4462272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623560" y="44622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08" name="Text 106"/>
          <p:cNvSpPr/>
          <p:nvPr/>
        </p:nvSpPr>
        <p:spPr>
          <a:xfrm>
            <a:off x="6035040" y="444398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class wins!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4" name="Shape 2"/>
          <p:cNvSpPr/>
          <p:nvPr/>
        </p:nvSpPr>
        <p:spPr>
          <a:xfrm>
            <a:off x="155448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5" name="Shape 3"/>
          <p:cNvSpPr/>
          <p:nvPr/>
        </p:nvSpPr>
        <p:spPr>
          <a:xfrm>
            <a:off x="310896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50800">
            <a:solidFill>
              <a:srgbClr val="F5A8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"/>
            <a:ext cx="845820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KNN Classification — Step 1: Calculate Distances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DISTANCE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536192"/>
            <a:ext cx="8229600" cy="749808"/>
          </a:xfrm>
          <a:prstGeom prst="rect">
            <a:avLst/>
          </a:prstGeom>
          <a:solidFill>
            <a:srgbClr val="FFF8E1"/>
          </a:solidFill>
          <a:ln w="12700">
            <a:solidFill>
              <a:srgbClr val="F5A800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1591056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fruit: Weight = 160, Colour = 6.    Formula:  d = √[(x₁−x₂)² + (y₁−y₂)²]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193852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Euclidean distance from the new fruit to every training fruit: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2395728"/>
            <a:ext cx="54864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395728"/>
            <a:ext cx="4937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078992" y="2395728"/>
            <a:ext cx="64008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6424" y="2395728"/>
            <a:ext cx="5852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746504" y="2395728"/>
            <a:ext cx="64008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73936" y="2395728"/>
            <a:ext cx="5852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414016" y="2395728"/>
            <a:ext cx="73152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41448" y="2395728"/>
            <a:ext cx="676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72968" y="2395728"/>
            <a:ext cx="301752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2395728"/>
            <a:ext cx="2962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7920" y="2395728"/>
            <a:ext cx="86868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45352" y="2395728"/>
            <a:ext cx="813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2706624"/>
            <a:ext cx="54864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" y="2706624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78992" y="2706624"/>
            <a:ext cx="64008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2706624"/>
            <a:ext cx="603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746504" y="2706624"/>
            <a:ext cx="64008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64792" y="2706624"/>
            <a:ext cx="603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414016" y="2706624"/>
            <a:ext cx="73152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32304" y="2706624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172968" y="2706624"/>
            <a:ext cx="301752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91256" y="2706624"/>
            <a:ext cx="2980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√[(160−130)²+(6−3)²] = √(900+9)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217920" y="2706624"/>
            <a:ext cx="86868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36208" y="2706624"/>
            <a:ext cx="832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30.15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2920" y="2962656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" y="2962656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078992" y="2962656"/>
            <a:ext cx="6400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97280" y="2962656"/>
            <a:ext cx="603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746504" y="2962656"/>
            <a:ext cx="6400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64792" y="2962656"/>
            <a:ext cx="603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414016" y="2962656"/>
            <a:ext cx="7315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32304" y="2962656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172968" y="2962656"/>
            <a:ext cx="30175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91256" y="2962656"/>
            <a:ext cx="2980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√[(160−140)²+(6−4)²] = √(400+4)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217920" y="2962656"/>
            <a:ext cx="868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36208" y="2962656"/>
            <a:ext cx="832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20.10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02920" y="3218688"/>
            <a:ext cx="54864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1208" y="3218688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078992" y="3218688"/>
            <a:ext cx="64008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97280" y="3218688"/>
            <a:ext cx="603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746504" y="3218688"/>
            <a:ext cx="64008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764792" y="3218688"/>
            <a:ext cx="603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414016" y="3218688"/>
            <a:ext cx="73152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432304" y="3218688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172968" y="3218688"/>
            <a:ext cx="301752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191256" y="3218688"/>
            <a:ext cx="2980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√[(160−150)²+(6−5)²] = √(100+1)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217920" y="3218688"/>
            <a:ext cx="86868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36208" y="3218688"/>
            <a:ext cx="832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10.05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02920" y="3474720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1208" y="3474720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1078992" y="3474720"/>
            <a:ext cx="6400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97280" y="3474720"/>
            <a:ext cx="603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1746504" y="3474720"/>
            <a:ext cx="6400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764792" y="3474720"/>
            <a:ext cx="603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2414016" y="3474720"/>
            <a:ext cx="7315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432304" y="3474720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3172968" y="3474720"/>
            <a:ext cx="30175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191256" y="3474720"/>
            <a:ext cx="2980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√[(160−155)²+(6−4)²] = √(25+4)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6217920" y="3474720"/>
            <a:ext cx="868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236208" y="3474720"/>
            <a:ext cx="832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5.39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502920" y="3730752"/>
            <a:ext cx="54864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21208" y="3730752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1078992" y="3730752"/>
            <a:ext cx="64008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97280" y="3730752"/>
            <a:ext cx="603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1746504" y="3730752"/>
            <a:ext cx="64008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764792" y="3730752"/>
            <a:ext cx="603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2414016" y="3730752"/>
            <a:ext cx="73152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432304" y="3730752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3172968" y="3730752"/>
            <a:ext cx="301752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191256" y="3730752"/>
            <a:ext cx="2980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√[(160−180)²+(6−8)²] = √(400+4)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6217920" y="3730752"/>
            <a:ext cx="86868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236208" y="3730752"/>
            <a:ext cx="832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20.10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502920" y="3986784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21208" y="3986784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1078992" y="3986784"/>
            <a:ext cx="6400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097280" y="3986784"/>
            <a:ext cx="603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1746504" y="3986784"/>
            <a:ext cx="6400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764792" y="3986784"/>
            <a:ext cx="603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2414016" y="3986784"/>
            <a:ext cx="7315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432304" y="3986784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3172968" y="3986784"/>
            <a:ext cx="30175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191256" y="3986784"/>
            <a:ext cx="2980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√[(160−190)²+(6−7)²] = √(900+1)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6217920" y="3986784"/>
            <a:ext cx="868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236208" y="3986784"/>
            <a:ext cx="832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30.02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502920" y="4242816"/>
            <a:ext cx="54864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21208" y="4242816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1078992" y="4242816"/>
            <a:ext cx="64008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097280" y="4242816"/>
            <a:ext cx="603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1746504" y="4242816"/>
            <a:ext cx="64008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764792" y="4242816"/>
            <a:ext cx="603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2414016" y="4242816"/>
            <a:ext cx="73152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432304" y="4242816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3172968" y="4242816"/>
            <a:ext cx="301752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191256" y="4242816"/>
            <a:ext cx="2980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√[(160−200)²+(6−9)²] = √(1600+9)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6217920" y="4242816"/>
            <a:ext cx="86868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236208" y="4242816"/>
            <a:ext cx="832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40.11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502920" y="4498848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21208" y="4498848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1078992" y="4498848"/>
            <a:ext cx="6400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097280" y="4498848"/>
            <a:ext cx="603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</a:t>
            </a:r>
            <a:endParaRPr lang="en-US" sz="950" dirty="0"/>
          </a:p>
        </p:txBody>
      </p:sp>
      <p:sp>
        <p:nvSpPr>
          <p:cNvPr id="114" name="Shape 112"/>
          <p:cNvSpPr/>
          <p:nvPr/>
        </p:nvSpPr>
        <p:spPr>
          <a:xfrm>
            <a:off x="1746504" y="4498848"/>
            <a:ext cx="6400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764792" y="4498848"/>
            <a:ext cx="603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2414016" y="4498848"/>
            <a:ext cx="7315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432304" y="4498848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3172968" y="4498848"/>
            <a:ext cx="30175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191256" y="4498848"/>
            <a:ext cx="2980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√[(160−170)²+(6−7)²] = √(100+1)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6217920" y="4498848"/>
            <a:ext cx="868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236208" y="4498848"/>
            <a:ext cx="832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10.05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7178040" y="2395728"/>
            <a:ext cx="1554480" cy="2359152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123" name="Text 121"/>
          <p:cNvSpPr/>
          <p:nvPr/>
        </p:nvSpPr>
        <p:spPr>
          <a:xfrm>
            <a:off x="7269480" y="31089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sort by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to find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 nearest!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4" name="Shape 2"/>
          <p:cNvSpPr/>
          <p:nvPr/>
        </p:nvSpPr>
        <p:spPr>
          <a:xfrm>
            <a:off x="155448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5" name="Shape 3"/>
          <p:cNvSpPr/>
          <p:nvPr/>
        </p:nvSpPr>
        <p:spPr>
          <a:xfrm>
            <a:off x="310896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50800">
            <a:solidFill>
              <a:srgbClr val="F5A8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"/>
            <a:ext cx="845820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KNN Classification — Step 2: Find K=3 Nearest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DISTANCE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536192"/>
            <a:ext cx="59436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536192"/>
            <a:ext cx="539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124712" y="1536192"/>
            <a:ext cx="192024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52144" y="1536192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072384" y="1536192"/>
            <a:ext cx="100584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99816" y="1536192"/>
            <a:ext cx="950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05656" y="1536192"/>
            <a:ext cx="91440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1536192"/>
            <a:ext cx="8595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47488" y="1536192"/>
            <a:ext cx="100584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1536192"/>
            <a:ext cx="950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Selected?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1847088"/>
            <a:ext cx="594360" cy="292608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1847088"/>
            <a:ext cx="539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124712" y="1847088"/>
            <a:ext cx="1920240" cy="292608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52144" y="1847088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4 (155g, 4)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72384" y="1847088"/>
            <a:ext cx="1005840" cy="292608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99816" y="1847088"/>
            <a:ext cx="950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5.39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05656" y="1847088"/>
            <a:ext cx="914400" cy="292608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33088" y="1847088"/>
            <a:ext cx="859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47488" y="1847088"/>
            <a:ext cx="1005840" cy="292608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1847088"/>
            <a:ext cx="950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2139696"/>
            <a:ext cx="594360" cy="292608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2139696"/>
            <a:ext cx="539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124712" y="2139696"/>
            <a:ext cx="1920240" cy="292608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52144" y="2139696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3 (150g, 5)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072384" y="2139696"/>
            <a:ext cx="1005840" cy="292608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99816" y="2139696"/>
            <a:ext cx="950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10.05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105656" y="2139696"/>
            <a:ext cx="914400" cy="292608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33088" y="2139696"/>
            <a:ext cx="859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47488" y="2139696"/>
            <a:ext cx="1005840" cy="292608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74920" y="2139696"/>
            <a:ext cx="950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" y="2432304"/>
            <a:ext cx="594360" cy="292608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" y="2432304"/>
            <a:ext cx="539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124712" y="2432304"/>
            <a:ext cx="1920240" cy="292608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52144" y="2432304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8 (170g, 7)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072384" y="2432304"/>
            <a:ext cx="1005840" cy="292608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99816" y="2432304"/>
            <a:ext cx="950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10.05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105656" y="2432304"/>
            <a:ext cx="914400" cy="292608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33088" y="2432304"/>
            <a:ext cx="859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047488" y="2432304"/>
            <a:ext cx="1005840" cy="292608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74920" y="2432304"/>
            <a:ext cx="950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02920" y="2724912"/>
            <a:ext cx="594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0352" y="2724912"/>
            <a:ext cx="539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124712" y="2724912"/>
            <a:ext cx="1920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52144" y="2724912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2 (140g, 4)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072384" y="2724912"/>
            <a:ext cx="10058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99816" y="2724912"/>
            <a:ext cx="950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20.10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105656" y="2724912"/>
            <a:ext cx="914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33088" y="2724912"/>
            <a:ext cx="859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047488" y="2724912"/>
            <a:ext cx="10058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74920" y="2724912"/>
            <a:ext cx="950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02920" y="3017520"/>
            <a:ext cx="59436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0352" y="3017520"/>
            <a:ext cx="539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124712" y="3017520"/>
            <a:ext cx="192024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52144" y="3017520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5 (180g, 8)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072384" y="3017520"/>
            <a:ext cx="100584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099816" y="3017520"/>
            <a:ext cx="950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20.10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105656" y="3017520"/>
            <a:ext cx="9144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33088" y="3017520"/>
            <a:ext cx="859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047488" y="3017520"/>
            <a:ext cx="100584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74920" y="3017520"/>
            <a:ext cx="950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02920" y="3310128"/>
            <a:ext cx="594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30352" y="3310128"/>
            <a:ext cx="539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6th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1124712" y="3310128"/>
            <a:ext cx="1920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152144" y="3310128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1 (130g, 3)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3072384" y="3310128"/>
            <a:ext cx="10058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099816" y="3310128"/>
            <a:ext cx="950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30.15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4105656" y="3310128"/>
            <a:ext cx="914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133088" y="3310128"/>
            <a:ext cx="859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5047488" y="3310128"/>
            <a:ext cx="10058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074920" y="3310128"/>
            <a:ext cx="950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502920" y="3602736"/>
            <a:ext cx="59436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30352" y="3602736"/>
            <a:ext cx="539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7th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1124712" y="3602736"/>
            <a:ext cx="192024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152144" y="3602736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6 (190g, 7)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3072384" y="3602736"/>
            <a:ext cx="100584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099816" y="3602736"/>
            <a:ext cx="950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30.02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4105656" y="3602736"/>
            <a:ext cx="9144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133088" y="3602736"/>
            <a:ext cx="859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5047488" y="3602736"/>
            <a:ext cx="100584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074920" y="3602736"/>
            <a:ext cx="950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502920" y="3895344"/>
            <a:ext cx="594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30352" y="3895344"/>
            <a:ext cx="539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8th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1124712" y="3895344"/>
            <a:ext cx="1920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152144" y="3895344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7 (200g, 9)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3072384" y="3895344"/>
            <a:ext cx="10058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099816" y="3895344"/>
            <a:ext cx="950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40.11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4105656" y="3895344"/>
            <a:ext cx="914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133088" y="3895344"/>
            <a:ext cx="859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5047488" y="3895344"/>
            <a:ext cx="10058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074920" y="3895344"/>
            <a:ext cx="950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6172200" y="1536192"/>
            <a:ext cx="2560320" cy="2724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6172200" y="1536192"/>
            <a:ext cx="2560320" cy="82296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309360" y="1645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🗳  The Vote (K=3)</a:t>
            </a:r>
            <a:endParaRPr lang="en-US" sz="1300" dirty="0"/>
          </a:p>
        </p:txBody>
      </p:sp>
      <p:sp>
        <p:nvSpPr>
          <p:cNvPr id="104" name="Shape 102"/>
          <p:cNvSpPr/>
          <p:nvPr/>
        </p:nvSpPr>
        <p:spPr>
          <a:xfrm>
            <a:off x="6309360" y="2011680"/>
            <a:ext cx="2286000" cy="658368"/>
          </a:xfrm>
          <a:prstGeom prst="rect">
            <a:avLst/>
          </a:prstGeom>
          <a:solidFill>
            <a:srgbClr val="F0FFF4"/>
          </a:solidFill>
          <a:ln w="12700">
            <a:solidFill>
              <a:srgbClr val="A9DFBF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105" name="Text 103"/>
          <p:cNvSpPr/>
          <p:nvPr/>
        </p:nvSpPr>
        <p:spPr>
          <a:xfrm>
            <a:off x="6400800" y="206654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🍎  Apple: 2 votes</a:t>
            </a:r>
            <a:endParaRPr lang="en-US" sz="1300" dirty="0"/>
          </a:p>
        </p:txBody>
      </p:sp>
      <p:sp>
        <p:nvSpPr>
          <p:cNvPr id="106" name="Text 104"/>
          <p:cNvSpPr/>
          <p:nvPr/>
        </p:nvSpPr>
        <p:spPr>
          <a:xfrm>
            <a:off x="6400800" y="23408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██████████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6309360" y="2761488"/>
            <a:ext cx="2286000" cy="658368"/>
          </a:xfrm>
          <a:prstGeom prst="rect">
            <a:avLst/>
          </a:prstGeom>
          <a:solidFill>
            <a:srgbClr val="FFF0E8"/>
          </a:solidFill>
          <a:ln w="12700">
            <a:solidFill>
              <a:srgbClr val="F5CBA7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108" name="Text 106"/>
          <p:cNvSpPr/>
          <p:nvPr/>
        </p:nvSpPr>
        <p:spPr>
          <a:xfrm>
            <a:off x="6400800" y="281635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🍊  Orange: 1 vote</a:t>
            </a:r>
            <a:endParaRPr lang="en-US" sz="1300" dirty="0"/>
          </a:p>
        </p:txBody>
      </p:sp>
      <p:sp>
        <p:nvSpPr>
          <p:cNvPr id="109" name="Text 107"/>
          <p:cNvSpPr/>
          <p:nvPr/>
        </p:nvSpPr>
        <p:spPr>
          <a:xfrm>
            <a:off x="6400800" y="30906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█████</a:t>
            </a:r>
            <a:endParaRPr lang="en-US" sz="1200" dirty="0"/>
          </a:p>
        </p:txBody>
      </p:sp>
      <p:sp>
        <p:nvSpPr>
          <p:cNvPr id="110" name="Shape 108"/>
          <p:cNvSpPr/>
          <p:nvPr/>
        </p:nvSpPr>
        <p:spPr>
          <a:xfrm>
            <a:off x="6309360" y="3547872"/>
            <a:ext cx="2286000" cy="621792"/>
          </a:xfrm>
          <a:prstGeom prst="rect">
            <a:avLst/>
          </a:prstGeom>
          <a:solidFill>
            <a:srgbClr val="FFF8E1"/>
          </a:solidFill>
          <a:ln w="12700">
            <a:solidFill>
              <a:srgbClr val="F5A800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111" name="Text 109"/>
          <p:cNvSpPr/>
          <p:nvPr/>
        </p:nvSpPr>
        <p:spPr>
          <a:xfrm>
            <a:off x="6400800" y="3602736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Winner: Apple!</a:t>
            </a:r>
            <a:endParaRPr lang="en-US" sz="1400" dirty="0"/>
          </a:p>
        </p:txBody>
      </p:sp>
      <p:sp>
        <p:nvSpPr>
          <p:cNvPr id="112" name="Shape 110"/>
          <p:cNvSpPr/>
          <p:nvPr/>
        </p:nvSpPr>
        <p:spPr>
          <a:xfrm>
            <a:off x="502920" y="4315968"/>
            <a:ext cx="5486400" cy="566928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113" name="Text 111"/>
          <p:cNvSpPr/>
          <p:nvPr/>
        </p:nvSpPr>
        <p:spPr>
          <a:xfrm>
            <a:off x="658368" y="4370832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fruit (160g, Colour 6) is classified as an Apple because 2 of its 3 nearest neighbors are Apples.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4" name="Shape 2"/>
          <p:cNvSpPr/>
          <p:nvPr/>
        </p:nvSpPr>
        <p:spPr>
          <a:xfrm>
            <a:off x="155448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5" name="Shape 3"/>
          <p:cNvSpPr/>
          <p:nvPr/>
        </p:nvSpPr>
        <p:spPr>
          <a:xfrm>
            <a:off x="310896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50800">
            <a:solidFill>
              <a:srgbClr val="F5A8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"/>
            <a:ext cx="845820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Happens When We Change K?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DIFFERENT 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536192"/>
            <a:ext cx="2029968" cy="3310128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536192"/>
            <a:ext cx="2029968" cy="38404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536192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1993392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Neighbors: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2194560"/>
            <a:ext cx="18470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4 (Apple)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4360" y="2779776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2980944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1755648" cy="329184"/>
          </a:xfrm>
          <a:prstGeom prst="rect">
            <a:avLst/>
          </a:prstGeom>
          <a:solidFill>
            <a:srgbClr val="FFF8E1"/>
          </a:solidFill>
          <a:ln w="12700">
            <a:solidFill>
              <a:srgbClr val="F5A800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" y="3383280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🍎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3749040"/>
            <a:ext cx="184708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looks at the single closest point. Fast but noisy — one outlier can change everything.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679192" y="1536192"/>
            <a:ext cx="2029968" cy="3310128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679192" y="1536192"/>
            <a:ext cx="202996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70632" y="1536192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770632" y="1993392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Neighbors: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70632" y="2194560"/>
            <a:ext cx="18470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4 (Apple)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3 (Apple)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8 (Orange)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770632" y="2779776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70632" y="2980944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Orange: 1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816352" y="3364992"/>
            <a:ext cx="1755648" cy="329184"/>
          </a:xfrm>
          <a:prstGeom prst="rect">
            <a:avLst/>
          </a:prstGeom>
          <a:solidFill>
            <a:srgbClr val="FFF8E1"/>
          </a:solidFill>
          <a:ln w="12700">
            <a:solidFill>
              <a:srgbClr val="F5A800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862072" y="3383280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🍎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770632" y="3749040"/>
            <a:ext cx="184708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choice. Considers local area. Our example gives the same answer as K=1.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55464" y="1536192"/>
            <a:ext cx="2029968" cy="3310128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55464" y="1536192"/>
            <a:ext cx="2029968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46904" y="1536192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946904" y="1993392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Neighbors: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46904" y="2194560"/>
            <a:ext cx="18470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4, 3, 8, 2, 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946904" y="2779776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46904" y="2980944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Orange: 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992624" y="3364992"/>
            <a:ext cx="1755648" cy="329184"/>
          </a:xfrm>
          <a:prstGeom prst="rect">
            <a:avLst/>
          </a:prstGeom>
          <a:solidFill>
            <a:srgbClr val="FFF8E1"/>
          </a:solidFill>
          <a:ln w="12700">
            <a:solidFill>
              <a:srgbClr val="F5A800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038344" y="3383280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🍎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46904" y="3749040"/>
            <a:ext cx="184708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view. More stable. Still Apple — this classification is robust across K values.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031736" y="1536192"/>
            <a:ext cx="2029968" cy="3310128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031736" y="1536192"/>
            <a:ext cx="2029968" cy="38404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23176" y="1536192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7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123176" y="1993392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Neighbors: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123176" y="2194560"/>
            <a:ext cx="18470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4,3,8,2,5,1,6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123176" y="2779776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Vote: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123176" y="2980944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Orange: 3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168896" y="3364992"/>
            <a:ext cx="1755648" cy="329184"/>
          </a:xfrm>
          <a:prstGeom prst="rect">
            <a:avLst/>
          </a:prstGeom>
          <a:solidFill>
            <a:srgbClr val="FFF8E1"/>
          </a:solidFill>
          <a:ln w="12700">
            <a:solidFill>
              <a:srgbClr val="F5A800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214616" y="3383280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🍎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123176" y="3749040"/>
            <a:ext cx="184708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wide view. Smoother boundary. Risk: may miss local patterns in dense areas.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4" name="Shape 2"/>
          <p:cNvSpPr/>
          <p:nvPr/>
        </p:nvSpPr>
        <p:spPr>
          <a:xfrm>
            <a:off x="155448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5" name="Shape 3"/>
          <p:cNvSpPr/>
          <p:nvPr/>
        </p:nvSpPr>
        <p:spPr>
          <a:xfrm>
            <a:off x="310896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50800">
            <a:solidFill>
              <a:srgbClr val="F5A8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"/>
            <a:ext cx="845820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KNN for Regression — Predicting a Number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INSTEAD OF VOTE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536192"/>
            <a:ext cx="8229600" cy="749808"/>
          </a:xfrm>
          <a:prstGeom prst="rect">
            <a:avLst/>
          </a:prstGeom>
          <a:solidFill>
            <a:srgbClr val="FFF8E1"/>
          </a:solidFill>
          <a:ln w="12700">
            <a:solidFill>
              <a:srgbClr val="F5A800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1591056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Predict House Price from Size — Using KNN Regression (K=3)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193852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house: 2200 sq ft. Find the 3 nearest houses by size and average their prices.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395728"/>
            <a:ext cx="640080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395728"/>
            <a:ext cx="5852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170432" y="2395728"/>
            <a:ext cx="1097280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97864" y="2395728"/>
            <a:ext cx="1042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(sq ft)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95144" y="2395728"/>
            <a:ext cx="1005840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22576" y="2395728"/>
            <a:ext cx="950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($K)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28416" y="2395728"/>
            <a:ext cx="2103120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5848" y="2395728"/>
            <a:ext cx="20482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to 2200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58968" y="2395728"/>
            <a:ext cx="731520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2395728"/>
            <a:ext cx="676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2706624"/>
            <a:ext cx="64008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706624"/>
            <a:ext cx="585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170432" y="2706624"/>
            <a:ext cx="109728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97864" y="2706624"/>
            <a:ext cx="1042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95144" y="2706624"/>
            <a:ext cx="100584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22576" y="2706624"/>
            <a:ext cx="950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28416" y="2706624"/>
            <a:ext cx="210312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55848" y="2706624"/>
            <a:ext cx="204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|2200−1500| = 700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458968" y="2706624"/>
            <a:ext cx="73152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2706624"/>
            <a:ext cx="676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2920" y="2962656"/>
            <a:ext cx="640080" cy="256032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2962656"/>
            <a:ext cx="585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170432" y="2962656"/>
            <a:ext cx="1097280" cy="256032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97864" y="2962656"/>
            <a:ext cx="1042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295144" y="2962656"/>
            <a:ext cx="1005840" cy="256032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22576" y="2962656"/>
            <a:ext cx="950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328416" y="2962656"/>
            <a:ext cx="2103120" cy="256032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55848" y="2962656"/>
            <a:ext cx="204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|2200−2000| = 200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458968" y="2962656"/>
            <a:ext cx="731520" cy="256032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0" y="2962656"/>
            <a:ext cx="676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02920" y="3218688"/>
            <a:ext cx="640080" cy="256032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3218688"/>
            <a:ext cx="585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170432" y="3218688"/>
            <a:ext cx="1097280" cy="256032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97864" y="3218688"/>
            <a:ext cx="1042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2100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295144" y="3218688"/>
            <a:ext cx="1005840" cy="256032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22576" y="3218688"/>
            <a:ext cx="950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328416" y="3218688"/>
            <a:ext cx="2103120" cy="256032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55848" y="3218688"/>
            <a:ext cx="204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|2200−2100| = 100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458968" y="3218688"/>
            <a:ext cx="731520" cy="256032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0" y="3218688"/>
            <a:ext cx="676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02920" y="3474720"/>
            <a:ext cx="640080" cy="256032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0352" y="3474720"/>
            <a:ext cx="585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170432" y="3474720"/>
            <a:ext cx="1097280" cy="256032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97864" y="3474720"/>
            <a:ext cx="1042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2400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295144" y="3474720"/>
            <a:ext cx="1005840" cy="256032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322576" y="3474720"/>
            <a:ext cx="950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328416" y="3474720"/>
            <a:ext cx="2103120" cy="256032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55848" y="3474720"/>
            <a:ext cx="204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|2200−2400| = 200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458968" y="3474720"/>
            <a:ext cx="731520" cy="256032"/>
          </a:xfrm>
          <a:prstGeom prst="rect">
            <a:avLst/>
          </a:prstGeom>
          <a:solidFill>
            <a:srgbClr val="FFF8E1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86400" y="3474720"/>
            <a:ext cx="676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502920" y="3730752"/>
            <a:ext cx="64008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30352" y="3730752"/>
            <a:ext cx="585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1170432" y="3730752"/>
            <a:ext cx="109728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197864" y="3730752"/>
            <a:ext cx="1042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2800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2295144" y="3730752"/>
            <a:ext cx="100584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22576" y="3730752"/>
            <a:ext cx="950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3328416" y="3730752"/>
            <a:ext cx="210312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55848" y="3730752"/>
            <a:ext cx="204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|2200−2800| = 600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458968" y="3730752"/>
            <a:ext cx="73152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486400" y="3730752"/>
            <a:ext cx="676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502920" y="3986784"/>
            <a:ext cx="6400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30352" y="3986784"/>
            <a:ext cx="585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1170432" y="3986784"/>
            <a:ext cx="10972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197864" y="3986784"/>
            <a:ext cx="1042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3200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2295144" y="3986784"/>
            <a:ext cx="1005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322576" y="3986784"/>
            <a:ext cx="950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3328416" y="3986784"/>
            <a:ext cx="21031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355848" y="3986784"/>
            <a:ext cx="204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|2200−3200| = 1000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5458968" y="3986784"/>
            <a:ext cx="7315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486400" y="3986784"/>
            <a:ext cx="676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6th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6291072" y="2395728"/>
            <a:ext cx="2468880" cy="2084832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6291072" y="2395728"/>
            <a:ext cx="2468880" cy="82296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428232" y="250545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Nearest Houses: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6428232" y="2798064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2100 → $270K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2000 → $260K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2400 → $310K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6428232" y="3566160"/>
            <a:ext cx="2148840" cy="438912"/>
          </a:xfrm>
          <a:prstGeom prst="rect">
            <a:avLst/>
          </a:prstGeom>
          <a:solidFill>
            <a:srgbClr val="FFF8E1"/>
          </a:solidFill>
          <a:ln w="12700">
            <a:solidFill>
              <a:srgbClr val="F5A800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6473952" y="3584448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Avg = (270+260+310)/3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6473952" y="3785616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$280K</a:t>
            </a:r>
            <a:endParaRPr lang="en-US" sz="1300" dirty="0"/>
          </a:p>
        </p:txBody>
      </p:sp>
      <p:sp>
        <p:nvSpPr>
          <p:cNvPr id="91" name="Shape 89"/>
          <p:cNvSpPr/>
          <p:nvPr/>
        </p:nvSpPr>
        <p:spPr>
          <a:xfrm>
            <a:off x="502920" y="4315968"/>
            <a:ext cx="8229600" cy="566928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658368" y="4370832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K neighbors VOTE → majority class wins.        Regression: K neighbors' values are AVERAGED → mean value is the prediction.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4" name="Shape 2"/>
          <p:cNvSpPr/>
          <p:nvPr/>
        </p:nvSpPr>
        <p:spPr>
          <a:xfrm>
            <a:off x="155448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5" name="Shape 3"/>
          <p:cNvSpPr/>
          <p:nvPr/>
        </p:nvSpPr>
        <p:spPr>
          <a:xfrm>
            <a:off x="310896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50800">
            <a:solidFill>
              <a:srgbClr val="F5A8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"/>
            <a:ext cx="845820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KNN — How Do We Measure Distance?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METRICS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536192"/>
            <a:ext cx="4069080" cy="1572768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536192"/>
            <a:ext cx="4069080" cy="91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6642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Distance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1975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 = √ Σ(xᵢ − yᵢ)²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2677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"As the crow flies" — shortest straight-line path between two points.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Default choice. Best for continuous numeric features.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18888" y="1536192"/>
            <a:ext cx="4069080" cy="1572768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18888" y="1536192"/>
            <a:ext cx="406908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6642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Distance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56048" y="1975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 = Σ |xᵢ − yᵢ|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56048" y="22677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"Like a taxi on a grid" — sum of absolute differences along each axis.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56048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Good when features are on different scales or grid-like data.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3255264"/>
            <a:ext cx="4069080" cy="1572768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3255264"/>
            <a:ext cx="4069080" cy="914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Minkowski Distance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36941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 = (Σ|xᵢ − yᵢ|ᵖ)^(1/p)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39867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"A generalisation" — p=1 is Manhattan, p=2 is Euclidean.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" y="43708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When you want to tune between Manhattan and Euclidean.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18888" y="3255264"/>
            <a:ext cx="4069080" cy="1572768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18888" y="3255264"/>
            <a:ext cx="406908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 Distance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56048" y="36941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 = count of positions that differ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56048" y="39867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"How many bits are different" — counts mismatches.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56048" y="43708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Categorical or binary features (e.g. Yes/No surveys).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4" name="Shape 2"/>
          <p:cNvSpPr/>
          <p:nvPr/>
        </p:nvSpPr>
        <p:spPr>
          <a:xfrm>
            <a:off x="155448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5" name="Shape 3"/>
          <p:cNvSpPr/>
          <p:nvPr/>
        </p:nvSpPr>
        <p:spPr>
          <a:xfrm>
            <a:off x="310896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50800">
            <a:solidFill>
              <a:srgbClr val="F5A8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"/>
            <a:ext cx="845820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KNN — Why Feature Scaling is Critical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536192"/>
            <a:ext cx="3977640" cy="1828800"/>
          </a:xfrm>
          <a:prstGeom prst="rect">
            <a:avLst/>
          </a:prstGeom>
          <a:solidFill>
            <a:srgbClr val="FFF5F5"/>
          </a:solidFill>
          <a:ln w="12700">
            <a:solidFill>
              <a:srgbClr val="F1A9A0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536192"/>
            <a:ext cx="397764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53619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Scaling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2011680"/>
            <a:ext cx="36576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Salary: 50,000 vs 80,000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25 vs 30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= √[(80000−50000)² + (30−25)²]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√[900,000,000 + 25]  ≈  30,000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(25 vs 30) is completely ignored!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dominates the distance calculation.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536192"/>
            <a:ext cx="3977640" cy="1828800"/>
          </a:xfrm>
          <a:prstGeom prst="rect">
            <a:avLst/>
          </a:prstGeom>
          <a:solidFill>
            <a:srgbClr val="F0FFF4"/>
          </a:solidFill>
          <a:ln w="12700">
            <a:solidFill>
              <a:srgbClr val="A9DFBF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536192"/>
            <a:ext cx="3977640" cy="38404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53619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Scaling (0-1)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10328" y="2011680"/>
            <a:ext cx="36576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Salary: 0.33 vs 0.67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0.50 vs 0.60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= √[(0.67−0.33)² + (0.60−0.50)²]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√[0.1156 + 0.01]  ≈  0.35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features contribute fairly!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difference now matters in the result.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493008"/>
            <a:ext cx="8229600" cy="1389888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493008"/>
            <a:ext cx="8229600" cy="82296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6027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Common Scaling Methods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" y="3931920"/>
            <a:ext cx="3657600" cy="91440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9808" y="398678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Normalisation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424281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x' = (x − min) / (max − min)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" y="449884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all values to 0–1 range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81728" y="3931920"/>
            <a:ext cx="3657600" cy="91440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73168" y="398678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 (Z-score)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73168" y="424281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 = (x − μ) / σ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73168" y="449884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Centres at 0, standard deviation = 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4" name="Shape 2"/>
          <p:cNvSpPr/>
          <p:nvPr/>
        </p:nvSpPr>
        <p:spPr>
          <a:xfrm>
            <a:off x="155448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5" name="Shape 3"/>
          <p:cNvSpPr/>
          <p:nvPr/>
        </p:nvSpPr>
        <p:spPr>
          <a:xfrm>
            <a:off x="310896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50800">
            <a:solidFill>
              <a:srgbClr val="F5A8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"/>
            <a:ext cx="845820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Choosing K — The Bias-Variance Tradeoff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536192"/>
            <a:ext cx="2743200" cy="338328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536192"/>
            <a:ext cx="2743200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53619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K=1)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2128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Captures local patterns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272491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Very flexible, jagged boundary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323697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Sensitive to noise/outliers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3749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 bias, HIGH variance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426110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Tends to OVERFIT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83280" y="1536192"/>
            <a:ext cx="2743200" cy="338328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83280" y="1536192"/>
            <a:ext cx="2743200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53619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K=20)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20440" y="22128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Smoother decision boundary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20440" y="272491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More robust to noise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520440" y="323697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May miss local clusters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520440" y="3749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bias, LOW variance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520440" y="426110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Tends to UNDERFIT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63640" y="1536192"/>
            <a:ext cx="2743200" cy="338328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63640" y="1536192"/>
            <a:ext cx="2743200" cy="56692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153619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(found via CV)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0" y="22128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Balance bias and variance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0" y="272491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Start with K = √n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0" y="323697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cross-validation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0" y="3749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Try odd K for binary class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0800" y="426110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Plot error vs K to find best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4" name="Shape 2"/>
          <p:cNvSpPr/>
          <p:nvPr/>
        </p:nvSpPr>
        <p:spPr>
          <a:xfrm>
            <a:off x="155448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5" name="Shape 3"/>
          <p:cNvSpPr/>
          <p:nvPr/>
        </p:nvSpPr>
        <p:spPr>
          <a:xfrm>
            <a:off x="310896" y="0"/>
            <a:ext cx="100584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74336"/>
            <a:ext cx="9144000" cy="0"/>
          </a:xfrm>
          <a:prstGeom prst="line">
            <a:avLst/>
          </a:prstGeom>
          <a:noFill/>
          <a:ln w="50800">
            <a:solidFill>
              <a:srgbClr val="F5A8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"/>
            <a:ext cx="845820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KNN — Summary &amp; When to Use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338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536192"/>
            <a:ext cx="3977640" cy="2057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536192"/>
            <a:ext cx="3977640" cy="38404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53619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Strengths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19933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 to understand &amp; implement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" y="23134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training phase needed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" y="26334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Naturally handles multi-class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8368" y="29535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Non-parametric (no assumptions)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" y="32735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Works for classification &amp; regression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1536192"/>
            <a:ext cx="3977640" cy="2057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5D9DE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536192"/>
            <a:ext cx="397764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53619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Weaknesses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10328" y="19933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Slow prediction (scans all data)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10328" y="23134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Curse of dimensionality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10328" y="26334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Sensitive to irrelevant features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10328" y="29535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MUST scale features first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10328" y="32735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model to interpret (black-box)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3730752"/>
            <a:ext cx="8229600" cy="1170432"/>
          </a:xfrm>
          <a:prstGeom prst="rect">
            <a:avLst/>
          </a:prstGeom>
          <a:solidFill>
            <a:srgbClr val="FFF8E1"/>
          </a:solidFill>
          <a:ln w="12700">
            <a:solidFill>
              <a:srgbClr val="F5A800"/>
            </a:solidFill>
            <a:prstDash val="solid"/>
          </a:ln>
          <a:effectLst>
            <a:outerShdw sx="100000" sy="100000" kx="0" ky="0" algn="bl" rotWithShape="0" blurRad="38100" dist="12700" dir="2700000">
              <a:srgbClr val="CCCCCC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8368" y="38039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When to Use KNN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8368" y="4096512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to medium datasets  •  Quick baseline model  •  Recommender systems ("users who liked this also liked…")  •  Anomaly detection  •  When you need non-linear decision boundaries without complex tuning  •  Data exploration before trying advanced models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2026-08-09T10:31:07Z</dcterms:created>
  <dcterms:modified xsi:type="dcterms:W3CDTF">2026-08-09T10:31:07Z</dcterms:modified>
</cp:coreProperties>
</file>